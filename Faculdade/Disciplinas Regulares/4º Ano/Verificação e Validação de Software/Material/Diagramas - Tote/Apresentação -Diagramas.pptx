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79" r:id="rId5"/>
    <p:sldId id="261" r:id="rId6"/>
    <p:sldId id="284" r:id="rId7"/>
    <p:sldId id="263" r:id="rId8"/>
    <p:sldId id="264" r:id="rId9"/>
    <p:sldId id="278" r:id="rId10"/>
    <p:sldId id="265" r:id="rId11"/>
    <p:sldId id="266" r:id="rId12"/>
    <p:sldId id="267" r:id="rId13"/>
    <p:sldId id="280" r:id="rId14"/>
    <p:sldId id="281" r:id="rId15"/>
    <p:sldId id="268" r:id="rId16"/>
    <p:sldId id="269" r:id="rId17"/>
    <p:sldId id="270" r:id="rId18"/>
    <p:sldId id="282" r:id="rId19"/>
    <p:sldId id="273" r:id="rId20"/>
    <p:sldId id="283" r:id="rId21"/>
    <p:sldId id="276" r:id="rId22"/>
    <p:sldId id="285" r:id="rId2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pt-B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 no ícone para adicionar uma imagem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54E1928-3472-4E25-92D0-B468D26A392D}" type="datetimeFigureOut">
              <a:rPr lang="pt-BR" smtClean="0"/>
              <a:pPr/>
              <a:t>23/02/2021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4007E29-963B-467E-8BFA-8490CE59A12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ScreenShot02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88640"/>
            <a:ext cx="8712968" cy="6408712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0" y="2924944"/>
            <a:ext cx="586814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pt-BR" sz="6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“</a:t>
            </a:r>
            <a:r>
              <a:rPr lang="pt-BR" sz="48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Diagramas</a:t>
            </a:r>
            <a:r>
              <a:rPr lang="pt-BR" sz="6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”</a:t>
            </a:r>
            <a:endParaRPr lang="pt-BR" sz="60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748424" y="0"/>
            <a:ext cx="364715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Introdução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556792"/>
            <a:ext cx="896448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Caso de Uso;</a:t>
            </a:r>
          </a:p>
          <a:p>
            <a:pPr>
              <a:buFont typeface="Arial" charset="0"/>
              <a:buChar char="•"/>
            </a:pP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Classes;</a:t>
            </a:r>
          </a:p>
          <a:p>
            <a:pPr>
              <a:buFont typeface="Arial" charset="0"/>
              <a:buChar char="•"/>
            </a:pP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Atividades (Geral e especifico);</a:t>
            </a:r>
          </a:p>
          <a:p>
            <a:pPr>
              <a:buFont typeface="Arial" charset="0"/>
              <a:buChar char="•"/>
            </a:pP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Sequências;</a:t>
            </a:r>
          </a:p>
          <a:p>
            <a:pPr>
              <a:buFont typeface="Arial" charset="0"/>
              <a:buChar char="•"/>
            </a:pP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Estados;</a:t>
            </a:r>
          </a:p>
          <a:p>
            <a:pPr>
              <a:buFont typeface="Arial" charset="0"/>
              <a:buChar char="•"/>
            </a:pP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Componentes;</a:t>
            </a:r>
          </a:p>
          <a:p>
            <a:pPr>
              <a:buFont typeface="Arial" charset="0"/>
              <a:buChar char="•"/>
            </a:pP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Implantação;</a:t>
            </a:r>
          </a:p>
          <a:p>
            <a:pPr>
              <a:buFont typeface="Arial" charset="0"/>
              <a:buChar char="•"/>
            </a:pPr>
            <a:endParaRPr lang="pt-BR" sz="32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Aplicado no “Projeto Integrador “do grupo </a:t>
            </a:r>
            <a:r>
              <a:rPr lang="pt-BR" sz="3200" dirty="0" err="1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Tóte</a:t>
            </a: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Desenvolvimento de Software.</a:t>
            </a:r>
            <a:r>
              <a:rPr lang="pt-BR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  </a:t>
            </a:r>
            <a:endParaRPr lang="pt-BR" dirty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34301" y="0"/>
            <a:ext cx="84753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Caso de Uso.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51520" y="1268760"/>
            <a:ext cx="842493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Este diagrama tem o objetivo de auxiliar a comunicação entre os analistas e o cliente descrevendo um cenário que mostra as funcionalidades do sistema de uma forma com que o cliente consiga ver no diagrama de Casos de Uso as principais funcionalidades de seu sistema.</a:t>
            </a:r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endParaRPr lang="pt-PT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endParaRPr lang="pt-PT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PT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O diagrama de Caso de Uso é representado por:</a:t>
            </a:r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charset="0"/>
              <a:buChar char="•"/>
            </a:pPr>
            <a:r>
              <a:rPr lang="pt-PT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Atores;</a:t>
            </a:r>
          </a:p>
          <a:p>
            <a:pPr>
              <a:buFont typeface="Arial" charset="0"/>
              <a:buChar char="•"/>
            </a:pPr>
            <a:r>
              <a:rPr lang="pt-PT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Caso de uso;</a:t>
            </a:r>
          </a:p>
          <a:p>
            <a:pPr>
              <a:buFont typeface="Arial" charset="0"/>
              <a:buChar char="•"/>
            </a:pPr>
            <a:r>
              <a:rPr lang="pt-PT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Relacionamentos entre estes elementos.</a:t>
            </a:r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34301" y="0"/>
            <a:ext cx="84753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Caso de Uso.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Imagem 5" descr="Diagrama de Caso de Us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124744"/>
            <a:ext cx="8640960" cy="547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103743" y="0"/>
            <a:ext cx="693651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Classes.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95536" y="1844824"/>
            <a:ext cx="83529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É um dos diagramas mais importantes para um sistema, pois é ele quem define o nome, atributos, tipos de dados e métodos que uma classe vai possuir dentro de um sistema. É ele quem define a arquitetura do sistema.</a:t>
            </a:r>
            <a:endParaRPr lang="pt-BR" sz="2800" dirty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103743" y="0"/>
            <a:ext cx="693651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Classes.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Imagem 5" descr="diagrama de class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836712"/>
            <a:ext cx="8784976" cy="576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632460" y="0"/>
            <a:ext cx="78790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Atividades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052737"/>
            <a:ext cx="82089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É usado para representar as atividades do sistema como um fluxo de trabalho por meio de uma série de ações,onde pessoas, computadores ou componentes de software podem executar essas ações.</a:t>
            </a:r>
            <a:endParaRPr lang="pt-BR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24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Envolve a modelagem das etapas sequenciais em um processo computacional e é essencialmente um gráfico que mostra o fluxo de controle de uma atividade para outra onde podemos documentar os métodos que iremos escrever nas instância de um objeto. </a:t>
            </a:r>
          </a:p>
          <a:p>
            <a:endParaRPr lang="pt-BR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24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O objetivo do diagrama de atividade é focar no fluxo do sistema e  descrever o processamento interno e paralelo das ações realizadas.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632460" y="0"/>
            <a:ext cx="78790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Atividades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683568" y="1268760"/>
            <a:ext cx="784887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Pode ser usado para:</a:t>
            </a:r>
          </a:p>
          <a:p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charset="0"/>
              <a:buChar char="•"/>
            </a:pPr>
            <a:r>
              <a:rPr lang="pt-BR" sz="28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Esclarecer graficamente casos de uso complexos;</a:t>
            </a:r>
          </a:p>
          <a:p>
            <a:pPr>
              <a:buFont typeface="Arial" charset="0"/>
              <a:buChar char="•"/>
            </a:pPr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charset="0"/>
              <a:buChar char="•"/>
            </a:pPr>
            <a:r>
              <a:rPr lang="pt-BR" sz="28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Descrever a interação do fluxo de trabalho entre vários casos de uso;</a:t>
            </a:r>
          </a:p>
          <a:p>
            <a:pPr>
              <a:buFont typeface="Arial" charset="0"/>
              <a:buChar char="•"/>
            </a:pPr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charset="0"/>
              <a:buChar char="•"/>
            </a:pPr>
            <a:r>
              <a:rPr lang="pt-BR" sz="28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Especificar o funcionamento dos métodos;</a:t>
            </a:r>
          </a:p>
          <a:p>
            <a:pPr>
              <a:buFont typeface="Arial" charset="0"/>
              <a:buChar char="•"/>
            </a:pPr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2800" b="1" dirty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•</a:t>
            </a:r>
            <a:r>
              <a:rPr lang="pt-BR" sz="28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Mostrar a navegação entre telas.</a:t>
            </a:r>
            <a:endParaRPr lang="pt-BR" sz="28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7505" y="0"/>
            <a:ext cx="626469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Atividades - </a:t>
            </a:r>
            <a:endParaRPr lang="pt-BR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6012160" y="0"/>
            <a:ext cx="183569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Geral:</a:t>
            </a:r>
            <a:endParaRPr lang="pt-BR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7" name="Imagem 6" descr="Diagrama de Atividades - ger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5616" y="646331"/>
            <a:ext cx="7014984" cy="60950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40722" y="15388"/>
            <a:ext cx="787908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Atividades</a:t>
            </a:r>
            <a:endParaRPr lang="pt-BR" sz="4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72359" y="622428"/>
            <a:ext cx="370790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Especifico:</a:t>
            </a:r>
            <a:endParaRPr lang="pt-BR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22" y="1268759"/>
            <a:ext cx="7289286" cy="5400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88189" y="0"/>
            <a:ext cx="81676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Sequências.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51520" y="1628800"/>
            <a:ext cx="8892480" cy="5653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Este diagrama é construído a partir do  Diagrama de caso de uso. Primeiro, define-se qual o papel do sistema (Use Cases), depois, é definido como o software realizará seu papel (Sequência de operações).</a:t>
            </a:r>
          </a:p>
          <a:p>
            <a:endParaRPr lang="pt-BR" sz="32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Usado para representar a interações entre objetos de um cenário  através de mensagens (serviços solicitados de um objeto a outro e as respostas), de forma simples e lógica. </a:t>
            </a:r>
          </a:p>
          <a:p>
            <a:endParaRPr lang="pt-BR" sz="32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88189" y="0"/>
            <a:ext cx="81676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Sequências.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5" name="Imagem 4" descr="Processo Seletivo 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980728"/>
            <a:ext cx="8640960" cy="5616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88189" y="0"/>
            <a:ext cx="81676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Sequências.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5" name="Imagem 4" descr="Processo Seletivo 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980728"/>
            <a:ext cx="8568952" cy="5616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88189" y="0"/>
            <a:ext cx="81676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Sequências.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5" name="Imagem 4" descr="Processo Seletivo 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980728"/>
            <a:ext cx="8640960" cy="5616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219163" y="0"/>
            <a:ext cx="670568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Estado.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39552" y="1916832"/>
            <a:ext cx="799288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pt-BR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 </a:t>
            </a:r>
            <a:r>
              <a:rPr lang="pt-BR" sz="2800" b="1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diagrama de transição de estados</a:t>
            </a:r>
            <a:r>
              <a:rPr lang="pt-BR" sz="28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 é uma representação do estado ou situação em que um objeto pode se encontrar no decorrer da execução de processos de um sistema. Com isso, o objeto pode passar de um estado inicial para um estado final através de uma transição.</a:t>
            </a:r>
          </a:p>
          <a:p>
            <a:endParaRPr lang="pt-BR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219163" y="0"/>
            <a:ext cx="670568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Estado.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4" name="Imagem 3" descr="Classe Seleçã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957262"/>
            <a:ext cx="8640960" cy="5640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84236" y="0"/>
            <a:ext cx="89755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Componentes.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67544" y="2276872"/>
            <a:ext cx="84249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Mostra um conjunto de componentes e seus relacionamentos, fazendo a modelagem dos aspectos físicos de um sistema, mostrando a organização e as dependências existentes.</a:t>
            </a:r>
          </a:p>
          <a:p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</a:br>
            <a:r>
              <a:rPr lang="pt-BR" sz="32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Empregado para a modelagem da visão estática de implementação de um sistema.</a:t>
            </a:r>
            <a:endParaRPr lang="pt-BR" sz="3200" dirty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84236" y="0"/>
            <a:ext cx="89755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Componentes.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Imagem 5" descr="Diagrama de Component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908720"/>
            <a:ext cx="8640960" cy="5688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15069" y="0"/>
            <a:ext cx="85138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Implantação.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51520" y="1484784"/>
            <a:ext cx="856895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Representa a configuração e a arquitetura do sistema em que estarão ligados os respectivos componentes, podemos representar toda a estrutura de hardware e requisitos mínimos onde o sistema será executado.</a:t>
            </a:r>
          </a:p>
          <a:p>
            <a:endParaRPr lang="pt-BR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 lvl="0">
              <a:buFont typeface="Arial" charset="0"/>
              <a:buChar char="•"/>
            </a:pPr>
            <a:r>
              <a:rPr lang="pt-PT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Pode representar a estrutura da plataforma em que será utilizado;</a:t>
            </a:r>
          </a:p>
          <a:p>
            <a:pPr lvl="0">
              <a:buFont typeface="Arial" charset="0"/>
              <a:buChar char="•"/>
            </a:pPr>
            <a:endParaRPr lang="pt-PT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 lvl="0">
              <a:buFont typeface="Arial" charset="0"/>
              <a:buChar char="•"/>
            </a:pPr>
            <a:r>
              <a:rPr lang="pt-PT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Pode representar bancos de dados, Componentes de Terceiros;</a:t>
            </a:r>
          </a:p>
          <a:p>
            <a:pPr lvl="0">
              <a:buFont typeface="Arial" charset="0"/>
              <a:buChar char="•"/>
            </a:pPr>
            <a:endParaRPr lang="pt-PT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 lvl="0">
              <a:buFont typeface="Arial" charset="0"/>
              <a:buChar char="•"/>
            </a:pPr>
            <a:r>
              <a:rPr lang="pt-PT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Pode representar os servidores, a rede;</a:t>
            </a:r>
          </a:p>
          <a:p>
            <a:pPr lvl="0">
              <a:buFont typeface="Arial" charset="0"/>
              <a:buChar char="•"/>
            </a:pPr>
            <a:endParaRPr lang="pt-PT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pPr lvl="0">
              <a:buFont typeface="Arial" charset="0"/>
              <a:buChar char="•"/>
            </a:pPr>
            <a:r>
              <a:rPr lang="pt-PT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 Pode representar a configuração dos equipamentos;</a:t>
            </a:r>
            <a:endParaRPr lang="pt-BR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15069" y="0"/>
            <a:ext cx="85138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Diagrama de Implantação.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Imagem 5" descr="Diagrama de Implantaçã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980728"/>
            <a:ext cx="8640960" cy="5616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738808" y="0"/>
            <a:ext cx="36663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Conclusão.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51520" y="1124744"/>
            <a:ext cx="8424936" cy="5611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Concluímos que um diagrama é uma representação visual estruturada de uma ideia ou conceito. E dentro da área de informática possui diversos tipos, modelos para representar um projeto de software, seja ele como um todo ou mesmo suas partes( as relações entre elas, estados e funcionalidades,</a:t>
            </a:r>
            <a:r>
              <a:rPr lang="pt-BR" sz="2400" dirty="0" err="1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etc</a:t>
            </a:r>
            <a:r>
              <a:rPr lang="pt-BR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) se utilizando de diagramas como o de classes, de objetos, estados, atividades, entre outros. </a:t>
            </a:r>
          </a:p>
          <a:p>
            <a:endParaRPr lang="pt-BR" sz="2400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2400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Dessa forma, os diagramas permitem criar  uma visão única pra que todos entendam a ideia, a abstração do projeto a ser desenvolvido, facilitando a comunicação entre clientes e desenvolvedores, bem como toda a equipe envolvida no projeto, refletindo diretamente no tempo, manutenção e qualidade do software.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421413" y="0"/>
            <a:ext cx="430117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Bibliografias</a:t>
            </a:r>
            <a:endParaRPr lang="pt-BR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3" name="Imagem 2" descr="librosii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8934" y="3717032"/>
            <a:ext cx="4223518" cy="296532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115616" y="1340768"/>
            <a:ext cx="61926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http://pt.wikipedia.org/wiki/Diagrama de Estados</a:t>
            </a:r>
          </a:p>
          <a:p>
            <a:endParaRPr lang="pt-BR" u="sng" dirty="0" smtClean="0">
              <a:solidFill>
                <a:srgbClr val="F8F8F8"/>
              </a:solidFill>
            </a:endParaRPr>
          </a:p>
          <a:p>
            <a:r>
              <a:rPr lang="pt-BR" u="sng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www.les.inf.puc-rio.br/wiki/images/e/ef/Aula02-diagrama_sequencia.pdf</a:t>
            </a:r>
          </a:p>
          <a:p>
            <a:endParaRPr lang="pt-BR" u="sng" dirty="0" smtClean="0">
              <a:solidFill>
                <a:srgbClr val="F8F8F8"/>
              </a:solidFill>
            </a:endParaRPr>
          </a:p>
          <a:p>
            <a:r>
              <a:rPr lang="pt-BR" u="sng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http://pt.wikipedia.org/wiki/Diagrama_de_instala%c3%A7%C3%A3o</a:t>
            </a:r>
            <a:endParaRPr lang="pt-BR" dirty="0" smtClean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  <a:p>
            <a:endParaRPr lang="pt-BR" u="sng" dirty="0" smtClean="0">
              <a:solidFill>
                <a:srgbClr val="F8F8F8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115616" y="3645024"/>
            <a:ext cx="3312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http://www.dsc.ufcg.edu.br/~sampaio/cursos/2007.1/Graduação/SI-II/</a:t>
            </a:r>
            <a:r>
              <a:rPr lang="pt-BR" u="sng" dirty="0" err="1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Uml</a:t>
            </a:r>
            <a:r>
              <a:rPr lang="pt-BR" u="sng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/diagramas/</a:t>
            </a:r>
            <a:r>
              <a:rPr lang="pt-BR" u="sng" dirty="0" err="1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usecases</a:t>
            </a:r>
            <a:r>
              <a:rPr lang="pt-BR" u="sng" dirty="0" smtClean="0">
                <a:solidFill>
                  <a:srgbClr val="F8F8F8"/>
                </a:solidFill>
                <a:latin typeface="Arial" pitchFamily="34" charset="0"/>
                <a:cs typeface="Arial" pitchFamily="34" charset="0"/>
              </a:rPr>
              <a:t>/usecases.htm</a:t>
            </a:r>
            <a:endParaRPr lang="pt-BR" u="sng" dirty="0">
              <a:solidFill>
                <a:srgbClr val="F8F8F8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pice">
  <a:themeElements>
    <a:clrScheme name="Personalizada 2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Áp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Áp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332</TotalTime>
  <Words>522</Words>
  <Application>Microsoft Office PowerPoint</Application>
  <PresentationFormat>Apresentação na tela (4:3)</PresentationFormat>
  <Paragraphs>78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Book Antiqua</vt:lpstr>
      <vt:lpstr>Lucida Sans</vt:lpstr>
      <vt:lpstr>Wingdings</vt:lpstr>
      <vt:lpstr>Wingdings 2</vt:lpstr>
      <vt:lpstr>Wingdings 3</vt:lpstr>
      <vt:lpstr>Ápice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karina</dc:creator>
  <cp:lastModifiedBy>Lucas Diniz Tavares</cp:lastModifiedBy>
  <cp:revision>51</cp:revision>
  <dcterms:created xsi:type="dcterms:W3CDTF">2013-05-31T07:06:23Z</dcterms:created>
  <dcterms:modified xsi:type="dcterms:W3CDTF">2021-02-23T21:34:39Z</dcterms:modified>
</cp:coreProperties>
</file>