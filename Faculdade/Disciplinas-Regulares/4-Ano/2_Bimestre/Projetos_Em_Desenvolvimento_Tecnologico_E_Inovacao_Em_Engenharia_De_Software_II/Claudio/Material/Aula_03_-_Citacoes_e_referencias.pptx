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5" r:id="rId1"/>
    <p:sldMasterId id="2147484182" r:id="rId2"/>
    <p:sldMasterId id="2147484194" r:id="rId3"/>
  </p:sldMasterIdLst>
  <p:notesMasterIdLst>
    <p:notesMasterId r:id="rId12"/>
  </p:notesMasterIdLst>
  <p:sldIdLst>
    <p:sldId id="364" r:id="rId4"/>
    <p:sldId id="361" r:id="rId5"/>
    <p:sldId id="368" r:id="rId6"/>
    <p:sldId id="363" r:id="rId7"/>
    <p:sldId id="365" r:id="rId8"/>
    <p:sldId id="366" r:id="rId9"/>
    <p:sldId id="367" r:id="rId10"/>
    <p:sldId id="369" r:id="rId11"/>
  </p:sldIdLst>
  <p:sldSz cx="12192000" cy="6858000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  <a:srgbClr val="FFF2BD"/>
    <a:srgbClr val="F8EFCC"/>
    <a:srgbClr val="004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171" autoAdjust="0"/>
  </p:normalViewPr>
  <p:slideViewPr>
    <p:cSldViewPr>
      <p:cViewPr varScale="1">
        <p:scale>
          <a:sx n="69" d="100"/>
          <a:sy n="69" d="100"/>
        </p:scale>
        <p:origin x="1128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FF836678-D8D3-4855-A2B2-8561AAC37F91}" type="datetimeFigureOut">
              <a:rPr lang="pt-BR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 smtClean="0"/>
            </a:lvl1pPr>
          </a:lstStyle>
          <a:p>
            <a:pPr>
              <a:defRPr/>
            </a:pPr>
            <a:fld id="{EF5A2965-88DA-4CD3-864B-B9BDFB27E2D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983549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D63F0-6B88-406E-AF39-619C9CFF7C46}" type="datetime1">
              <a:rPr lang="pt-BR" smtClean="0"/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7B765-A477-40E3-B935-B143FD77454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9389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68538-EDF4-40FE-9940-944A47753831}" type="datetime1">
              <a:rPr lang="pt-BR" smtClean="0"/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1415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1" cap="all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7A850-4B93-4C0D-B3C7-4C676D41A994}" type="datetime1">
              <a:rPr lang="pt-BR" smtClean="0"/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6469B-0D42-4C76-8AD7-CDF9EABE8CE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192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EDFAF-1DB0-4406-83B8-B2A42DC75021}" type="datetime1">
              <a:rPr lang="pt-BR" smtClean="0"/>
              <a:t>19/08/2021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1FA29-2A45-4C49-8A79-70D162FD84E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200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D16DA-D629-4C30-A1E0-D1C9C36B8ADD}" type="datetime1">
              <a:rPr lang="pt-BR" smtClean="0"/>
              <a:t>19/08/2021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E8B46-582B-4D04-892F-A8732625471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7427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C1BD0-5A09-4E72-8302-E7D137FB92A1}" type="datetime1">
              <a:rPr lang="pt-BR" smtClean="0"/>
              <a:t>19/08/2021</a:t>
            </a:fld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DFCDC-A310-4EAC-9930-8E31C88CF54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6122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9480F-EACE-4934-9157-841177B856C8}" type="datetime1">
              <a:rPr lang="pt-BR" smtClean="0"/>
              <a:t>19/08/2021</a:t>
            </a:fld>
            <a:endParaRPr 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1E119-3741-4970-B98B-01C442AFAEB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9853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E3A33-BB9E-47FA-9CB3-862F212EC3E4}" type="datetime1">
              <a:rPr lang="pt-BR" smtClean="0"/>
              <a:t>19/08/2021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E8167-31BE-4A0D-AE45-B2BF29BEFC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7491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FD3A8-C580-47B3-A2A9-9461A9DA82C4}" type="datetime1">
              <a:rPr lang="pt-BR" smtClean="0"/>
              <a:t>19/08/2021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DF000-1826-407E-AFA0-4ED2BD93449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2597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D00C4-F0B2-4FF7-AC34-A0CE6601DCD8}" type="datetime1">
              <a:rPr lang="pt-BR" smtClean="0"/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648A1-6298-45C2-BFDA-CD51793CFC1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7733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458C4-AD79-4EEF-88C4-1D0D1188ED96}" type="datetime1">
              <a:rPr lang="pt-BR" smtClean="0"/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22010-B302-4625-BD1C-07FAAD478B8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01723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r">
              <a:defRPr sz="6000">
                <a:solidFill>
                  <a:srgbClr val="282F3C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747810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82F3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3216964" y="3589475"/>
            <a:ext cx="7490791" cy="0"/>
          </a:xfrm>
          <a:prstGeom prst="line">
            <a:avLst/>
          </a:prstGeom>
          <a:ln w="76200">
            <a:solidFill>
              <a:srgbClr val="282F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820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lvl="0"/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514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623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062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10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189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429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07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162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308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900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rgbClr val="FCD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r">
              <a:defRPr sz="6000">
                <a:solidFill>
                  <a:srgbClr val="282F3C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747810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82F3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3216964" y="3589475"/>
            <a:ext cx="7490791" cy="0"/>
          </a:xfrm>
          <a:prstGeom prst="line">
            <a:avLst/>
          </a:prstGeom>
          <a:ln w="76200">
            <a:solidFill>
              <a:srgbClr val="282F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221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>
              <a:defRPr lang="pt-BR" dirty="0"/>
            </a:lvl1pPr>
          </a:lstStyle>
          <a:p>
            <a:pPr lvl="0"/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4308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rgbClr val="FCD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023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6659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1078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956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4582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49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0225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961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27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95000"/>
              </a:schemeClr>
            </a:gs>
            <a:gs pos="89000">
              <a:srgbClr val="FBFBFB"/>
            </a:gs>
            <a:gs pos="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 estilo do título mestre</a:t>
            </a:r>
          </a:p>
        </p:txBody>
      </p:sp>
      <p:sp>
        <p:nvSpPr>
          <p:cNvPr id="2051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451FC300-8611-49E9-84CA-192848937630}" type="datetime1">
              <a:rPr lang="pt-BR" smtClean="0"/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7755AC6D-C7CD-4016-9623-ACB9E55ECA32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>
              <a:lumMod val="75000"/>
            </a:schemeClr>
          </a:solidFill>
          <a:latin typeface="Trebuchet MS" panose="020B060302020202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E8E8E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10413"/>
            <a:ext cx="12192000" cy="1731301"/>
          </a:xfrm>
          <a:prstGeom prst="rect">
            <a:avLst/>
          </a:prstGeom>
          <a:solidFill>
            <a:srgbClr val="FCD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19/08/2021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19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82F3C"/>
          </a:solidFill>
          <a:latin typeface="Gadugi" panose="020B0502040204020203" pitchFamily="34" charset="0"/>
          <a:ea typeface="Gadugi" panose="020B05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82F3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82F3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82F3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10413"/>
            <a:ext cx="12192000" cy="1731301"/>
          </a:xfrm>
          <a:prstGeom prst="rect">
            <a:avLst/>
          </a:prstGeom>
          <a:solidFill>
            <a:srgbClr val="FCD4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8984D-E0B5-427D-9F90-6D565029FEE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19/08/2021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85C75-42E2-4A95-BAB6-F53D9CAAA685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86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82F3C"/>
          </a:solidFill>
          <a:latin typeface="Gadugi" panose="020B0502040204020203" pitchFamily="34" charset="0"/>
          <a:ea typeface="Gadugi" panose="020B05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82F3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82F3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82F3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82F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referenciabibliografica.net/a/pt-br/ref/abn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957828" y="4503572"/>
            <a:ext cx="1800000" cy="1800000"/>
          </a:xfrm>
          <a:prstGeom prst="rect">
            <a:avLst/>
          </a:prstGeom>
          <a:solidFill>
            <a:srgbClr val="FCD417"/>
          </a:solidFill>
          <a:ln>
            <a:noFill/>
          </a:ln>
          <a:effectLst>
            <a:outerShdw blurRad="508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+mn-cs"/>
              </a:rPr>
              <a:t>ES</a:t>
            </a:r>
          </a:p>
        </p:txBody>
      </p:sp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r>
              <a:rPr lang="pt-BR" sz="4400" dirty="0">
                <a:solidFill>
                  <a:schemeClr val="bg2">
                    <a:lumMod val="25000"/>
                  </a:schemeClr>
                </a:solidFill>
              </a:rPr>
              <a:t>PROJETOS EM DESENVOLVIMENTO TECNOLÓGICO E INOVAÇÃO EM ENGENHARIA DE SOFTWARE II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2">
                    <a:lumMod val="25000"/>
                  </a:schemeClr>
                </a:solidFill>
              </a:rPr>
              <a:t>Prof. Me. Claudio Paiva</a:t>
            </a:r>
          </a:p>
          <a:p>
            <a:endParaRPr lang="pt-BR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04D3622-5A91-43C5-8077-D72FDBAA5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575" y="4195509"/>
            <a:ext cx="162242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10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CITAÇÕES E REFERÊNCIAS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6469B-0D42-4C76-8AD7-CDF9EABE8CEB}" type="slidenum">
              <a:rPr lang="pt-BR" altLang="pt-BR" smtClean="0"/>
              <a:pPr>
                <a:defRPr/>
              </a:pPr>
              <a:t>2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124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são citações em um trabalho acadêmico?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600201"/>
            <a:ext cx="6206480" cy="4525963"/>
          </a:xfrm>
        </p:spPr>
        <p:txBody>
          <a:bodyPr/>
          <a:lstStyle/>
          <a:p>
            <a:pPr algn="just"/>
            <a:r>
              <a:rPr lang="pt-BR" sz="2400"/>
              <a:t>Definições</a:t>
            </a:r>
          </a:p>
          <a:p>
            <a:pPr lvl="1" algn="just"/>
            <a:r>
              <a:rPr lang="pt-BR" sz="2200"/>
              <a:t>Citar é fazer referência às informações extraídas de livros, filmes, periódicos, sites e outras fontes, a fim de esclarecer ou sustentar o assunto tratado no seu TCC.</a:t>
            </a:r>
          </a:p>
          <a:p>
            <a:pPr algn="just"/>
            <a:r>
              <a:rPr lang="pt-BR" sz="2400"/>
              <a:t>Importância</a:t>
            </a:r>
          </a:p>
          <a:p>
            <a:pPr lvl="1" algn="just"/>
            <a:r>
              <a:rPr lang="pt-BR" sz="2200"/>
              <a:t>Situar o leitor no contexto teórico do seu trabalho. Esclarecer, dar sustentação ou ilustração ao assunto.</a:t>
            </a:r>
          </a:p>
          <a:p>
            <a:pPr algn="just"/>
            <a:r>
              <a:rPr lang="pt-BR" sz="2400"/>
              <a:t>Regras (Normas)</a:t>
            </a:r>
          </a:p>
          <a:p>
            <a:pPr lvl="1" algn="just"/>
            <a:r>
              <a:rPr lang="pt-BR" sz="2200"/>
              <a:t>É preciso fazer da forma certa!</a:t>
            </a:r>
            <a:endParaRPr lang="pt-BR" sz="22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3</a:t>
            </a:fld>
            <a:endParaRPr lang="pt-BR" altLang="pt-BR"/>
          </a:p>
        </p:txBody>
      </p:sp>
      <p:pic>
        <p:nvPicPr>
          <p:cNvPr id="2052" name="Picture 4" descr="Citação direta e indireta: como citar segundo a ABNT - Notícias Concursos">
            <a:extLst>
              <a:ext uri="{FF2B5EF4-FFF2-40B4-BE49-F238E27FC236}">
                <a16:creationId xmlns:a16="http://schemas.microsoft.com/office/drawing/2014/main" id="{DC59B248-A38B-4B10-8A56-06DB25126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975" y="2348881"/>
            <a:ext cx="4796499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62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Referencial Teórico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600201"/>
            <a:ext cx="6206480" cy="4525963"/>
          </a:xfrm>
        </p:spPr>
        <p:txBody>
          <a:bodyPr/>
          <a:lstStyle/>
          <a:p>
            <a:pPr algn="just"/>
            <a:r>
              <a:rPr lang="pt-BR" sz="1600" dirty="0"/>
              <a:t>Permite verificar o estado do problema a ser pesquisado, sob o aspecto teórico e de outros estudos e pesquisas já realizados (LAKATOS; MARCONI, 2003).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Segundo Marion, Dias e </a:t>
            </a:r>
            <a:r>
              <a:rPr lang="pt-BR" sz="1600" dirty="0" err="1"/>
              <a:t>Traldi</a:t>
            </a:r>
            <a:r>
              <a:rPr lang="pt-BR" sz="1600" dirty="0"/>
              <a:t> (2002, p.38), “O referencial teórico deve conter um apanhado do que existe, de mais atual na abordagem do tema escolhido, mesmo que as teorias atuais não façam parte de suas escolhas.”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O referencial teórico é que possibilita fundamentar, dar consistência a todo o estudo. Tem a função de nortear a pesquisa, apresentando um embasamento da literatura já publicada sobre o mesmo tema, demonstrando que o(a) pesquisador(a) tem conhecimento suficiente em relação a pesquisas relacionadas e a tradições teóricas que apoiam e cercam o estudo.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4</a:t>
            </a:fld>
            <a:endParaRPr lang="pt-BR" altLang="pt-BR"/>
          </a:p>
        </p:txBody>
      </p:sp>
      <p:pic>
        <p:nvPicPr>
          <p:cNvPr id="2052" name="Picture 4" descr="Citação direta e indireta: como citar segundo a ABNT - Notícias Concursos">
            <a:extLst>
              <a:ext uri="{FF2B5EF4-FFF2-40B4-BE49-F238E27FC236}">
                <a16:creationId xmlns:a16="http://schemas.microsoft.com/office/drawing/2014/main" id="{DC59B248-A38B-4B10-8A56-06DB25126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975" y="2348881"/>
            <a:ext cx="4796499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3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pt-BR" b="1" dirty="0"/>
              <a:t>Citações em TCC</a:t>
            </a:r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872C66-E8EE-4AAD-A496-CAF68F695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09847" y="1600201"/>
            <a:ext cx="2984306" cy="45259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Espaço Reservado para Conteúdo 2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r>
              <a:rPr lang="pt-BR" b="0" i="0" u="none" strike="noStrike" baseline="0"/>
              <a:t>Citação Direta</a:t>
            </a:r>
          </a:p>
          <a:p>
            <a:pPr lvl="1"/>
            <a:r>
              <a:rPr lang="pt-BR" sz="2800"/>
              <a:t>Curta - até 3 linhas</a:t>
            </a:r>
          </a:p>
          <a:p>
            <a:pPr lvl="1"/>
            <a:r>
              <a:rPr lang="pt-BR" sz="2800"/>
              <a:t>Longa – 4 ou mais linhas</a:t>
            </a:r>
          </a:p>
          <a:p>
            <a:pPr lvl="1"/>
            <a:endParaRPr lang="pt-BR" sz="2800"/>
          </a:p>
          <a:p>
            <a:r>
              <a:rPr lang="pt-BR"/>
              <a:t>Citação Indireta</a:t>
            </a:r>
          </a:p>
          <a:p>
            <a:pPr lvl="1"/>
            <a:r>
              <a:rPr lang="pt-BR" sz="2800" b="0" i="0" u="none" strike="noStrike" baseline="0"/>
              <a:t>Paráfrase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71D28246-C510-4A2C-99FF-928D55DE8892}" type="slidenum">
              <a:rPr lang="pt-BR" altLang="pt-BR" smtClean="0"/>
              <a:pPr>
                <a:spcAft>
                  <a:spcPts val="600"/>
                </a:spcAft>
                <a:defRPr/>
              </a:pPr>
              <a:t>5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3144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5702424" cy="1143000"/>
          </a:xfrm>
        </p:spPr>
        <p:txBody>
          <a:bodyPr/>
          <a:lstStyle/>
          <a:p>
            <a:r>
              <a:rPr lang="pt-BR" b="1" dirty="0"/>
              <a:t>Formas de identificação de Citações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3351" y="1916832"/>
            <a:ext cx="5760641" cy="4602155"/>
          </a:xfrm>
        </p:spPr>
        <p:txBody>
          <a:bodyPr/>
          <a:lstStyle/>
          <a:p>
            <a:pPr algn="just"/>
            <a:endParaRPr lang="pt-BR" sz="2400" b="0" i="0" u="none" strike="noStrike" baseline="0" dirty="0">
              <a:latin typeface="Arial" panose="020B0604020202020204" pitchFamily="34" charset="0"/>
            </a:endParaRPr>
          </a:p>
          <a:p>
            <a:pPr algn="just"/>
            <a:r>
              <a:rPr lang="pt-BR" sz="2400" b="0" i="0" u="none" strike="noStrike" baseline="0" dirty="0">
                <a:latin typeface="Arial" panose="020B0604020202020204" pitchFamily="34" charset="0"/>
              </a:rPr>
              <a:t>Sistema Numérico</a:t>
            </a:r>
          </a:p>
          <a:p>
            <a:pPr algn="just"/>
            <a:endParaRPr lang="pt-BR" sz="2400" b="0" i="0" u="none" strike="noStrike" baseline="0" dirty="0">
              <a:latin typeface="Arial" panose="020B0604020202020204" pitchFamily="34" charset="0"/>
            </a:endParaRPr>
          </a:p>
          <a:p>
            <a:pPr algn="just"/>
            <a:r>
              <a:rPr lang="pt-BR" sz="2400" b="0" i="0" u="none" strike="noStrike" baseline="0" dirty="0">
                <a:latin typeface="Arial" panose="020B0604020202020204" pitchFamily="34" charset="0"/>
              </a:rPr>
              <a:t>Sistema autor-data</a:t>
            </a:r>
            <a:endParaRPr lang="pt-BR" sz="2000" b="0" i="0" u="none" strike="noStrike" baseline="0" dirty="0">
              <a:latin typeface="Arial" panose="020B060402020202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6</a:t>
            </a:fld>
            <a:endParaRPr lang="pt-BR" altLang="pt-B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F1F2A4-00BA-45AE-8F47-095DFD44B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72"/>
          <a:stretch/>
        </p:blipFill>
        <p:spPr bwMode="auto">
          <a:xfrm>
            <a:off x="6312024" y="-99392"/>
            <a:ext cx="6215384" cy="7592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41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3351" y="1484784"/>
            <a:ext cx="5760641" cy="5034203"/>
          </a:xfrm>
        </p:spPr>
        <p:txBody>
          <a:bodyPr/>
          <a:lstStyle/>
          <a:p>
            <a:pPr algn="just"/>
            <a:r>
              <a:rPr lang="pt-BR" sz="2400" b="0" i="0" u="none" strike="noStrike" baseline="0" dirty="0">
                <a:latin typeface="Arial" panose="020B0604020202020204" pitchFamily="34" charset="0"/>
              </a:rPr>
              <a:t>Como criar corretamente</a:t>
            </a:r>
            <a:endParaRPr lang="pt-BR" sz="2400" dirty="0"/>
          </a:p>
          <a:p>
            <a:pPr algn="just"/>
            <a:r>
              <a:rPr lang="pt-BR" sz="2400" dirty="0"/>
              <a:t>Facilitadores:</a:t>
            </a:r>
          </a:p>
          <a:p>
            <a:pPr lvl="1" algn="just"/>
            <a:r>
              <a:rPr lang="pt-BR" sz="2200" dirty="0"/>
              <a:t>Google Acadêmico</a:t>
            </a:r>
          </a:p>
          <a:p>
            <a:pPr lvl="1" algn="just"/>
            <a:r>
              <a:rPr lang="pt-BR" sz="1800" b="0" i="0" u="none" strike="noStrike" baseline="0" dirty="0">
                <a:latin typeface="Arial" panose="020B0604020202020204" pitchFamily="34" charset="0"/>
                <a:hlinkClick r:id="rId2"/>
              </a:rPr>
              <a:t>https://referenciabibliografica.net/a/pt-br/ref/abnt</a:t>
            </a:r>
            <a:r>
              <a:rPr lang="pt-BR" sz="2200" b="0" i="0" u="none" strike="noStrike" baseline="0" dirty="0">
                <a:latin typeface="Arial" panose="020B0604020202020204" pitchFamily="34" charset="0"/>
              </a:rPr>
              <a:t> </a:t>
            </a:r>
            <a:endParaRPr lang="pt-BR" sz="1800" b="0" i="0" u="none" strike="noStrike" baseline="0" dirty="0">
              <a:latin typeface="Arial" panose="020B060402020202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7</a:t>
            </a:fld>
            <a:endParaRPr lang="pt-BR" alt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2FF5FF-BBE6-4F80-A52D-5A0AB228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2348880"/>
            <a:ext cx="45434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BNT se abre às reuniões digitais para normas técnicas | Cimento Itambé">
            <a:extLst>
              <a:ext uri="{FF2B5EF4-FFF2-40B4-BE49-F238E27FC236}">
                <a16:creationId xmlns:a16="http://schemas.microsoft.com/office/drawing/2014/main" id="{9EFA238E-A9E4-4C10-80E3-23D4D8B82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764" y="3548358"/>
            <a:ext cx="4876836" cy="2534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895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MARCONI, Marina de Andrade; LAKATOS, Eva Maria. </a:t>
            </a:r>
            <a:r>
              <a:rPr lang="pt-BR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Fundamentos de metodologia científica</a:t>
            </a:r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5. ed.-São Paulo: Atlas, 2003.</a:t>
            </a:r>
          </a:p>
          <a:p>
            <a:pPr algn="just"/>
            <a:endParaRPr lang="pt-BR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MARION, José Carlos. DIAS, Reinaldo; TRALDI, Maria Cristina. </a:t>
            </a:r>
            <a:r>
              <a:rPr lang="pt-BR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Monografia para os cursos de administração, contabilidade e economia. São Paulo: Atlas</a:t>
            </a:r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2002.</a:t>
            </a:r>
            <a:endParaRPr lang="pt-BR" sz="2000" b="0" i="0" u="none" strike="noStrike" baseline="0" dirty="0">
              <a:latin typeface="Arial" panose="020B060402020202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28246-C510-4A2C-99FF-928D55DE8892}" type="slidenum">
              <a:rPr lang="pt-BR" altLang="pt-BR" smtClean="0"/>
              <a:pPr>
                <a:defRPr/>
              </a:pPr>
              <a:t>8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4551355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4305</TotalTime>
  <Words>352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Calibri</vt:lpstr>
      <vt:lpstr>Gadugi</vt:lpstr>
      <vt:lpstr>Trebuchet MS</vt:lpstr>
      <vt:lpstr>1_Tema do Office</vt:lpstr>
      <vt:lpstr>Tema do Office</vt:lpstr>
      <vt:lpstr>2_Tema do Office</vt:lpstr>
      <vt:lpstr>PROJETOS EM DESENVOLVIMENTO TECNOLÓGICO E INOVAÇÃO EM ENGENHARIA DE SOFTWARE II</vt:lpstr>
      <vt:lpstr>CITAÇÕES E REFERÊNCIAS</vt:lpstr>
      <vt:lpstr>O que são citações em um trabalho acadêmico?</vt:lpstr>
      <vt:lpstr>O Referencial Teórico</vt:lpstr>
      <vt:lpstr>Citações em TCC</vt:lpstr>
      <vt:lpstr>Formas de identificação de Citações</vt:lpstr>
      <vt:lpstr>Referências</vt:lpstr>
      <vt:lpstr>Referências</vt:lpstr>
    </vt:vector>
  </TitlesOfParts>
  <Company>Senac São 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GCR</dc:creator>
  <cp:lastModifiedBy>CLAUDIO EDUARDO PAIVA</cp:lastModifiedBy>
  <cp:revision>286</cp:revision>
  <dcterms:created xsi:type="dcterms:W3CDTF">2012-03-14T19:46:11Z</dcterms:created>
  <dcterms:modified xsi:type="dcterms:W3CDTF">2021-08-19T21:15:05Z</dcterms:modified>
</cp:coreProperties>
</file>