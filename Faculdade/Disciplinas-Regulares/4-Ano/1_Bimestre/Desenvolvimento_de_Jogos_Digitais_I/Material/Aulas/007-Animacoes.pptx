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mover o slide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88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90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99E6B162-CFB4-4E13-B688-462F7D0909C0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/>
          <p:nvPr/>
        </p:nvPicPr>
        <p:blipFill>
          <a:blip r:embed="rId14"/>
          <a:srcRect l="38638"/>
          <a:stretch/>
        </p:blipFill>
        <p:spPr>
          <a:xfrm>
            <a:off x="11299680" y="1434960"/>
            <a:ext cx="795600" cy="470520"/>
          </a:xfrm>
          <a:prstGeom prst="rect">
            <a:avLst/>
          </a:prstGeom>
          <a:ln>
            <a:noFill/>
          </a:ln>
        </p:spPr>
      </p:pic>
      <p:pic>
        <p:nvPicPr>
          <p:cNvPr id="9" name="Picture 2"/>
          <p:cNvPicPr/>
          <p:nvPr/>
        </p:nvPicPr>
        <p:blipFill>
          <a:blip r:embed="rId15"/>
          <a:srcRect r="63537"/>
          <a:stretch/>
        </p:blipFill>
        <p:spPr>
          <a:xfrm>
            <a:off x="11307600" y="644760"/>
            <a:ext cx="759240" cy="756720"/>
          </a:xfrm>
          <a:prstGeom prst="rect">
            <a:avLst/>
          </a:prstGeom>
          <a:ln>
            <a:noFill/>
          </a:ln>
        </p:spPr>
      </p:pic>
      <p:sp>
        <p:nvSpPr>
          <p:cNvPr id="2" name="Line 1"/>
          <p:cNvSpPr/>
          <p:nvPr/>
        </p:nvSpPr>
        <p:spPr>
          <a:xfrm flipV="1">
            <a:off x="11200680" y="516600"/>
            <a:ext cx="360" cy="5724000"/>
          </a:xfrm>
          <a:prstGeom prst="line">
            <a:avLst/>
          </a:prstGeom>
          <a:ln w="19080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 dirty="0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 dirty="0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 dirty="0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 dirty="0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 dirty="0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 dirty="0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 dirty="0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xamo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457200" y="4511520"/>
            <a:ext cx="7771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80000"/>
              </a:lnSpc>
            </a:pPr>
            <a:r>
              <a:rPr lang="pt-BR" sz="5000" b="0" strike="noStrike" cap="all" spc="194" dirty="0">
                <a:solidFill>
                  <a:srgbClr val="0D0D0D"/>
                </a:solidFill>
                <a:latin typeface="Tw Cen MT Condensed"/>
                <a:ea typeface="DejaVu Sans"/>
              </a:rPr>
              <a:t>Desenvolvimento de Jogos com Unity</a:t>
            </a:r>
            <a:endParaRPr lang="pt-BR" sz="5000" b="0" strike="noStrike" spc="-1" dirty="0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8610480" y="4511520"/>
            <a:ext cx="3199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pt-BR" sz="2400" b="0" strike="noStrike" spc="-1">
                <a:solidFill>
                  <a:srgbClr val="0D0D0D"/>
                </a:solidFill>
                <a:latin typeface="Tw Cen MT"/>
                <a:ea typeface="DejaVu Sans"/>
              </a:rPr>
              <a:t>Prof. Me. Ely Prado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00BD257-FD18-45E8-93A9-A6BF354FD30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346920" y="1694880"/>
            <a:ext cx="4834440" cy="1755720"/>
          </a:xfrm>
          <a:prstGeom prst="rect">
            <a:avLst/>
          </a:prstGeom>
          <a:ln>
            <a:noFill/>
          </a:ln>
        </p:spPr>
      </p:pic>
      <p:sp>
        <p:nvSpPr>
          <p:cNvPr id="5" name="Line 3">
            <a:extLst>
              <a:ext uri="{FF2B5EF4-FFF2-40B4-BE49-F238E27FC236}">
                <a16:creationId xmlns:a16="http://schemas.microsoft.com/office/drawing/2014/main" id="{8FC12EFA-7C5A-471A-A78C-2807C8D21F76}"/>
              </a:ext>
            </a:extLst>
          </p:cNvPr>
          <p:cNvSpPr/>
          <p:nvPr/>
        </p:nvSpPr>
        <p:spPr>
          <a:xfrm flipV="1">
            <a:off x="8386560" y="4815360"/>
            <a:ext cx="360" cy="914400"/>
          </a:xfrm>
          <a:prstGeom prst="line">
            <a:avLst/>
          </a:prstGeom>
          <a:ln w="19080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6FB82-6817-4B89-859F-3BF3FE7CB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Animações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64AA19-3B6B-4453-B41B-7B513ACD480D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 anchor="t"/>
          <a:lstStyle/>
          <a:p>
            <a:r>
              <a:rPr lang="pt-BR" dirty="0"/>
              <a:t>Animação de personagens 3d envolve diferentes técnicas, como </a:t>
            </a:r>
            <a:r>
              <a:rPr lang="pt-BR" dirty="0" err="1"/>
              <a:t>rigging</a:t>
            </a:r>
            <a:r>
              <a:rPr lang="pt-BR" dirty="0"/>
              <a:t> (Animação esquelética) e até mesmo captura de movimento.</a:t>
            </a:r>
          </a:p>
        </p:txBody>
      </p:sp>
      <p:pic>
        <p:nvPicPr>
          <p:cNvPr id="1026" name="Picture 2" descr="UE4 Locomotion Anim System - Stop Transitions | Video game development, Game  design, Game development">
            <a:extLst>
              <a:ext uri="{FF2B5EF4-FFF2-40B4-BE49-F238E27FC236}">
                <a16:creationId xmlns:a16="http://schemas.microsoft.com/office/drawing/2014/main" id="{D8A4C87B-0CAB-4E8B-8226-480B21CF2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90667"/>
            <a:ext cx="4886227" cy="274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Last of Us 2">
            <a:extLst>
              <a:ext uri="{FF2B5EF4-FFF2-40B4-BE49-F238E27FC236}">
                <a16:creationId xmlns:a16="http://schemas.microsoft.com/office/drawing/2014/main" id="{C8DEB5E6-3F8F-4520-93AB-A3283E346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608" y="4147154"/>
            <a:ext cx="4943792" cy="271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2730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4C089-EBF7-4D0B-9508-671E4D99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Mixamo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93D4E4-2308-4BC1-8BC6-AD9A2B81B1FC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41414A"/>
                </a:solidFill>
                <a:effectLst/>
                <a:latin typeface="Poppins"/>
              </a:rPr>
              <a:t>A </a:t>
            </a:r>
            <a:r>
              <a:rPr lang="pt-BR" b="0" i="0" dirty="0" err="1">
                <a:solidFill>
                  <a:srgbClr val="41414A"/>
                </a:solidFill>
                <a:effectLst/>
                <a:latin typeface="Poppins"/>
              </a:rPr>
              <a:t>Mixamo</a:t>
            </a:r>
            <a:r>
              <a:rPr lang="pt-BR" b="0" i="0" dirty="0">
                <a:solidFill>
                  <a:srgbClr val="41414A"/>
                </a:solidFill>
                <a:effectLst/>
                <a:latin typeface="Poppins"/>
              </a:rPr>
              <a:t> é uma ferramenta online gratuita de propriedade da Adobe que disponibiliza mais de 3.000 animações rastreadas por movimentos que você pode usar em seus projetos 3D. </a:t>
            </a:r>
          </a:p>
          <a:p>
            <a:r>
              <a:rPr lang="pt-BR" b="0" i="0" dirty="0">
                <a:solidFill>
                  <a:srgbClr val="41414A"/>
                </a:solidFill>
                <a:effectLst/>
                <a:latin typeface="Poppins"/>
              </a:rPr>
              <a:t>Esses dados podem ser facilmente aplicados em personagens bípedes para animar de forma mais rápida.</a:t>
            </a:r>
          </a:p>
          <a:p>
            <a:pPr marL="0" indent="0">
              <a:buNone/>
            </a:pPr>
            <a:endParaRPr lang="pt-BR" b="0" i="0" dirty="0">
              <a:solidFill>
                <a:srgbClr val="41414A"/>
              </a:solidFill>
              <a:effectLst/>
              <a:latin typeface="Poppins"/>
            </a:endParaRPr>
          </a:p>
          <a:p>
            <a:pPr marL="0" indent="0">
              <a:buNone/>
            </a:pPr>
            <a:r>
              <a:rPr lang="pt-BR" dirty="0">
                <a:hlinkClick r:id="rId2"/>
              </a:rPr>
              <a:t>https://www.mixamo.com/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939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3D24F-56B9-4AB6-980A-2EF8A5391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Mixamo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AC5A47-44A6-4542-A8ED-61A8C0F10191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45C996-E098-437C-B287-0E9A8C4EA7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22" r="1340" b="5979"/>
          <a:stretch/>
        </p:blipFill>
        <p:spPr>
          <a:xfrm>
            <a:off x="0" y="1276200"/>
            <a:ext cx="12028602" cy="563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0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DD4E0E5-9E4E-477C-BEFF-B244752448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458" b="7672"/>
          <a:stretch/>
        </p:blipFill>
        <p:spPr>
          <a:xfrm>
            <a:off x="0" y="1604520"/>
            <a:ext cx="12192000" cy="52695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CA2847A-5E83-4D4C-824B-66D7D7CE2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928317"/>
          </a:xfrm>
        </p:spPr>
        <p:txBody>
          <a:bodyPr/>
          <a:lstStyle/>
          <a:p>
            <a:r>
              <a:rPr lang="pt-BR" dirty="0"/>
              <a:t>Download da animação</a:t>
            </a:r>
          </a:p>
        </p:txBody>
      </p:sp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6F2404FC-CD89-4777-B4EB-ED69B56E8708}"/>
              </a:ext>
            </a:extLst>
          </p:cNvPr>
          <p:cNvSpPr/>
          <p:nvPr/>
        </p:nvSpPr>
        <p:spPr>
          <a:xfrm>
            <a:off x="2432116" y="2009873"/>
            <a:ext cx="2639505" cy="612743"/>
          </a:xfrm>
          <a:prstGeom prst="wedgeRectCallout">
            <a:avLst>
              <a:gd name="adj1" fmla="val 28706"/>
              <a:gd name="adj2" fmla="val 1482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FBX for Unity</a:t>
            </a:r>
          </a:p>
        </p:txBody>
      </p:sp>
      <p:sp>
        <p:nvSpPr>
          <p:cNvPr id="10" name="Balão de Fala: Retângulo 9">
            <a:extLst>
              <a:ext uri="{FF2B5EF4-FFF2-40B4-BE49-F238E27FC236}">
                <a16:creationId xmlns:a16="http://schemas.microsoft.com/office/drawing/2014/main" id="{E531E29A-9A6D-4598-92EA-6660743A7CF1}"/>
              </a:ext>
            </a:extLst>
          </p:cNvPr>
          <p:cNvSpPr/>
          <p:nvPr/>
        </p:nvSpPr>
        <p:spPr>
          <a:xfrm>
            <a:off x="7627856" y="5829299"/>
            <a:ext cx="2639505" cy="612743"/>
          </a:xfrm>
          <a:prstGeom prst="wedgeRectCallout">
            <a:avLst>
              <a:gd name="adj1" fmla="val 50135"/>
              <a:gd name="adj2" fmla="val -1240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Marque a opção In </a:t>
            </a:r>
            <a:r>
              <a:rPr lang="pt-BR" dirty="0" err="1"/>
              <a:t>Place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5998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6645A-5A1E-4103-8F25-00E25A408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Animações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5B8BFE-50CF-4F83-B6D0-588B99B42014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Idle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parado</a:t>
            </a:r>
          </a:p>
          <a:p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Happy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Walk: andando</a:t>
            </a:r>
          </a:p>
          <a:p>
            <a:r>
              <a:rPr lang="pt-B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Happy</a:t>
            </a: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Walk </a:t>
            </a:r>
            <a:r>
              <a:rPr lang="pt-B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Backward</a:t>
            </a: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andando para trás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Running: correndo</a:t>
            </a:r>
          </a:p>
          <a:p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Jumping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pulando</a:t>
            </a:r>
          </a:p>
          <a:p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Walk </a:t>
            </a:r>
            <a:r>
              <a:rPr lang="pt-B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Strafe</a:t>
            </a: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andando para direita</a:t>
            </a:r>
          </a:p>
          <a:p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Walk </a:t>
            </a:r>
            <a:r>
              <a:rPr lang="pt-B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Strafe</a:t>
            </a: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andando para esquerda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Dancing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Twerk</a:t>
            </a:r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dança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0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5D1FF763-0E80-45FF-A84A-E587CC17E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175"/>
            <a:ext cx="12192000" cy="6597650"/>
          </a:xfrm>
          <a:prstGeom prst="rect">
            <a:avLst/>
          </a:prstGeom>
        </p:spPr>
      </p:pic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03655DD2-27D6-40DE-B8F6-D17F1C1203A0}"/>
              </a:ext>
            </a:extLst>
          </p:cNvPr>
          <p:cNvSpPr/>
          <p:nvPr/>
        </p:nvSpPr>
        <p:spPr>
          <a:xfrm>
            <a:off x="7824248" y="4404281"/>
            <a:ext cx="3195686" cy="1363639"/>
          </a:xfrm>
          <a:prstGeom prst="wedgeRectCallout">
            <a:avLst>
              <a:gd name="adj1" fmla="val -79104"/>
              <a:gd name="adj2" fmla="val -108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Copie todas suas animações para uma nova pasta.</a:t>
            </a:r>
          </a:p>
          <a:p>
            <a:pPr algn="ctr"/>
            <a:r>
              <a:rPr lang="pt-BR" dirty="0"/>
              <a:t>Copie também a textura disponibilizada no AVA.</a:t>
            </a:r>
          </a:p>
        </p:txBody>
      </p:sp>
      <p:sp>
        <p:nvSpPr>
          <p:cNvPr id="7" name="Balão de Fala: Retângulo 6">
            <a:extLst>
              <a:ext uri="{FF2B5EF4-FFF2-40B4-BE49-F238E27FC236}">
                <a16:creationId xmlns:a16="http://schemas.microsoft.com/office/drawing/2014/main" id="{F84C079F-5F18-417D-BA60-CB387C35C195}"/>
              </a:ext>
            </a:extLst>
          </p:cNvPr>
          <p:cNvSpPr/>
          <p:nvPr/>
        </p:nvSpPr>
        <p:spPr>
          <a:xfrm>
            <a:off x="897118" y="1172458"/>
            <a:ext cx="3195686" cy="1363639"/>
          </a:xfrm>
          <a:prstGeom prst="wedgeRectCallout">
            <a:avLst>
              <a:gd name="adj1" fmla="val -26302"/>
              <a:gd name="adj2" fmla="val 997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Substitua o objeto </a:t>
            </a:r>
            <a:r>
              <a:rPr lang="pt-BR" dirty="0" err="1"/>
              <a:t>Cylinder</a:t>
            </a:r>
            <a:r>
              <a:rPr lang="pt-BR" dirty="0"/>
              <a:t> pelo personagem.</a:t>
            </a:r>
          </a:p>
        </p:txBody>
      </p:sp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F58B2023-7257-4FAC-850F-2A8E6E3462CE}"/>
              </a:ext>
            </a:extLst>
          </p:cNvPr>
          <p:cNvSpPr/>
          <p:nvPr/>
        </p:nvSpPr>
        <p:spPr>
          <a:xfrm>
            <a:off x="8996314" y="2605128"/>
            <a:ext cx="3195686" cy="1363639"/>
          </a:xfrm>
          <a:prstGeom prst="wedgeRectCallout">
            <a:avLst>
              <a:gd name="adj1" fmla="val 24141"/>
              <a:gd name="adj2" fmla="val -931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Altere a altura do personagem para -1 e rotação Y para 180</a:t>
            </a:r>
          </a:p>
        </p:txBody>
      </p:sp>
    </p:spTree>
    <p:extLst>
      <p:ext uri="{BB962C8B-B14F-4D97-AF65-F5344CB8AC3E}">
        <p14:creationId xmlns:p14="http://schemas.microsoft.com/office/powerpoint/2010/main" val="4237175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42E32-90E0-44DC-8EF0-873436BB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F5EB01-F3E8-493E-BB78-2C7CF484C138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92BFC2-A495-426F-A9F3-9B5ED76E7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47B0BB15-B321-4514-89F6-B68B516E15DA}"/>
              </a:ext>
            </a:extLst>
          </p:cNvPr>
          <p:cNvSpPr/>
          <p:nvPr/>
        </p:nvSpPr>
        <p:spPr>
          <a:xfrm>
            <a:off x="8851770" y="4008355"/>
            <a:ext cx="3195686" cy="1363639"/>
          </a:xfrm>
          <a:prstGeom prst="wedgeRectCallout">
            <a:avLst>
              <a:gd name="adj1" fmla="val -79104"/>
              <a:gd name="adj2" fmla="val -108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Crie um novo </a:t>
            </a:r>
            <a:r>
              <a:rPr lang="pt-BR" dirty="0" err="1"/>
              <a:t>Animator</a:t>
            </a:r>
            <a:r>
              <a:rPr lang="pt-BR" dirty="0"/>
              <a:t> </a:t>
            </a:r>
            <a:r>
              <a:rPr lang="pt-BR" dirty="0" err="1"/>
              <a:t>Controller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962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8566A-77A5-440F-B858-B00847C8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6CDBCA-F33B-4B8C-BF64-FC994F4D1CF6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E8888B4-2D7C-4BA1-8BCA-C9E3833BF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AA239312-E3E8-404E-B606-E7A861B2084E}"/>
              </a:ext>
            </a:extLst>
          </p:cNvPr>
          <p:cNvSpPr/>
          <p:nvPr/>
        </p:nvSpPr>
        <p:spPr>
          <a:xfrm>
            <a:off x="4242062" y="5365814"/>
            <a:ext cx="3195686" cy="1363639"/>
          </a:xfrm>
          <a:prstGeom prst="wedgeRectCallout">
            <a:avLst>
              <a:gd name="adj1" fmla="val -71139"/>
              <a:gd name="adj2" fmla="val -474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Arraste o </a:t>
            </a:r>
            <a:r>
              <a:rPr lang="pt-BR" dirty="0" err="1"/>
              <a:t>Animator</a:t>
            </a:r>
            <a:r>
              <a:rPr lang="pt-BR" dirty="0"/>
              <a:t> </a:t>
            </a:r>
            <a:r>
              <a:rPr lang="pt-BR" dirty="0" err="1"/>
              <a:t>Controller</a:t>
            </a:r>
            <a:r>
              <a:rPr lang="pt-BR" dirty="0"/>
              <a:t> para o objeto do personagem</a:t>
            </a:r>
          </a:p>
        </p:txBody>
      </p:sp>
    </p:spTree>
    <p:extLst>
      <p:ext uri="{BB962C8B-B14F-4D97-AF65-F5344CB8AC3E}">
        <p14:creationId xmlns:p14="http://schemas.microsoft.com/office/powerpoint/2010/main" val="186626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635DF-CB14-431C-8509-2580A7645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EAED96-2BE9-4700-90FB-A8B10A892C2E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7D77DD-2A5D-4C77-8080-A9ABB2F72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823D82C7-BEA0-42E5-AD5B-3706DDC10F71}"/>
              </a:ext>
            </a:extLst>
          </p:cNvPr>
          <p:cNvSpPr/>
          <p:nvPr/>
        </p:nvSpPr>
        <p:spPr>
          <a:xfrm>
            <a:off x="6815579" y="1374681"/>
            <a:ext cx="3195686" cy="1363639"/>
          </a:xfrm>
          <a:prstGeom prst="wedgeRectCallout">
            <a:avLst>
              <a:gd name="adj1" fmla="val 65439"/>
              <a:gd name="adj2" fmla="val 700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Marque a opção Loop Time e clicar em “</a:t>
            </a:r>
            <a:r>
              <a:rPr lang="pt-BR" dirty="0" err="1"/>
              <a:t>Apply</a:t>
            </a:r>
            <a:r>
              <a:rPr lang="pt-BR" dirty="0"/>
              <a:t>”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438EC742-E09A-469A-8AEA-5BD420A7B5B4}"/>
              </a:ext>
            </a:extLst>
          </p:cNvPr>
          <p:cNvCxnSpPr/>
          <p:nvPr/>
        </p:nvCxnSpPr>
        <p:spPr>
          <a:xfrm>
            <a:off x="11660957" y="4110087"/>
            <a:ext cx="141402" cy="5750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46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8DAE8-B44E-4955-96D5-44F9D5B27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00F7BE-8F1F-4DA6-8EBC-50EB87530559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CF7A4D-C718-4448-A952-678EB18DE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B810840D-79CD-4F26-BD55-8E8C4A8E848B}"/>
              </a:ext>
            </a:extLst>
          </p:cNvPr>
          <p:cNvSpPr/>
          <p:nvPr/>
        </p:nvSpPr>
        <p:spPr>
          <a:xfrm>
            <a:off x="801278" y="1604520"/>
            <a:ext cx="3195686" cy="1363639"/>
          </a:xfrm>
          <a:prstGeom prst="wedgeRectCallout">
            <a:avLst>
              <a:gd name="adj1" fmla="val 39775"/>
              <a:gd name="adj2" fmla="val -682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Crie uma variável booleana chamada “andando”</a:t>
            </a:r>
          </a:p>
        </p:txBody>
      </p:sp>
      <p:sp>
        <p:nvSpPr>
          <p:cNvPr id="7" name="Balão de Fala: Retângulo 6">
            <a:extLst>
              <a:ext uri="{FF2B5EF4-FFF2-40B4-BE49-F238E27FC236}">
                <a16:creationId xmlns:a16="http://schemas.microsoft.com/office/drawing/2014/main" id="{241A3FA2-B3C0-4035-8EF5-8DA2F2F77384}"/>
              </a:ext>
            </a:extLst>
          </p:cNvPr>
          <p:cNvSpPr/>
          <p:nvPr/>
        </p:nvSpPr>
        <p:spPr>
          <a:xfrm>
            <a:off x="2198016" y="3593160"/>
            <a:ext cx="3195686" cy="1363639"/>
          </a:xfrm>
          <a:prstGeom prst="wedgeRectCallout">
            <a:avLst>
              <a:gd name="adj1" fmla="val 63079"/>
              <a:gd name="adj2" fmla="val -765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Crie transições indo e vindo</a:t>
            </a:r>
          </a:p>
        </p:txBody>
      </p:sp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7AE24413-4847-42B6-BB14-74868FD191D7}"/>
              </a:ext>
            </a:extLst>
          </p:cNvPr>
          <p:cNvSpPr/>
          <p:nvPr/>
        </p:nvSpPr>
        <p:spPr>
          <a:xfrm>
            <a:off x="6095700" y="1010180"/>
            <a:ext cx="3195686" cy="1363639"/>
          </a:xfrm>
          <a:prstGeom prst="wedgeRectCallout">
            <a:avLst>
              <a:gd name="adj1" fmla="val 82548"/>
              <a:gd name="adj2" fmla="val 437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Na transição desmarque a opção “</a:t>
            </a:r>
            <a:r>
              <a:rPr lang="pt-BR" dirty="0" err="1"/>
              <a:t>Has</a:t>
            </a:r>
            <a:r>
              <a:rPr lang="pt-BR" dirty="0"/>
              <a:t> </a:t>
            </a:r>
            <a:r>
              <a:rPr lang="pt-BR" dirty="0" err="1"/>
              <a:t>Exit</a:t>
            </a:r>
            <a:r>
              <a:rPr lang="pt-BR" dirty="0"/>
              <a:t> Time”, para mudar a transição a qualquer momento</a:t>
            </a:r>
          </a:p>
        </p:txBody>
      </p:sp>
      <p:sp>
        <p:nvSpPr>
          <p:cNvPr id="9" name="Balão de Fala: Retângulo 8">
            <a:extLst>
              <a:ext uri="{FF2B5EF4-FFF2-40B4-BE49-F238E27FC236}">
                <a16:creationId xmlns:a16="http://schemas.microsoft.com/office/drawing/2014/main" id="{EF398565-D15B-48F0-BC74-445B55B578B1}"/>
              </a:ext>
            </a:extLst>
          </p:cNvPr>
          <p:cNvSpPr/>
          <p:nvPr/>
        </p:nvSpPr>
        <p:spPr>
          <a:xfrm>
            <a:off x="6483770" y="4571660"/>
            <a:ext cx="3195686" cy="1363639"/>
          </a:xfrm>
          <a:prstGeom prst="wedgeRectCallout">
            <a:avLst>
              <a:gd name="adj1" fmla="val 45380"/>
              <a:gd name="adj2" fmla="val -792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Crie a condição para iniciar a transição e para finalizar.</a:t>
            </a:r>
          </a:p>
        </p:txBody>
      </p:sp>
    </p:spTree>
    <p:extLst>
      <p:ext uri="{BB962C8B-B14F-4D97-AF65-F5344CB8AC3E}">
        <p14:creationId xmlns:p14="http://schemas.microsoft.com/office/powerpoint/2010/main" val="4030281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981C3-944C-4D5E-90D3-09839BEEF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Jogador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98DCCD-AA81-49BA-8CB9-96D67DE8243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585666"/>
            <a:ext cx="10972440" cy="397728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dirty="0"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private</a:t>
            </a:r>
            <a:r>
              <a:rPr lang="pt-BR" b="0" dirty="0">
                <a:effectLst/>
                <a:latin typeface="Consolas" panose="020B0609020204030204" pitchFamily="49" charset="0"/>
              </a:rPr>
              <a:t> 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Animator</a:t>
            </a:r>
            <a:r>
              <a:rPr lang="pt-BR" b="0" dirty="0">
                <a:effectLst/>
                <a:latin typeface="Consolas" panose="020B0609020204030204" pitchFamily="49" charset="0"/>
              </a:rPr>
              <a:t> 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animator</a:t>
            </a:r>
            <a:r>
              <a:rPr lang="pt-BR" b="0" dirty="0">
                <a:effectLst/>
                <a:latin typeface="Consolas" panose="020B0609020204030204" pitchFamily="49" charset="0"/>
              </a:rPr>
              <a:t>;</a:t>
            </a:r>
            <a:br>
              <a:rPr lang="pt-BR" b="0" dirty="0">
                <a:effectLst/>
                <a:latin typeface="Consolas" panose="020B0609020204030204" pitchFamily="49" charset="0"/>
              </a:rPr>
            </a:br>
            <a:r>
              <a:rPr lang="pt-BR" b="0" dirty="0" err="1"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effectLst/>
                <a:latin typeface="Consolas" panose="020B0609020204030204" pitchFamily="49" charset="0"/>
              </a:rPr>
              <a:t> Start() {</a:t>
            </a:r>
          </a:p>
          <a:p>
            <a:pPr marL="0" indent="0"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   ...</a:t>
            </a:r>
          </a:p>
          <a:p>
            <a:pPr marL="0" indent="0"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   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animator</a:t>
            </a:r>
            <a:r>
              <a:rPr lang="pt-BR" b="0" dirty="0">
                <a:effectLst/>
                <a:latin typeface="Consolas" panose="020B0609020204030204" pitchFamily="49" charset="0"/>
              </a:rPr>
              <a:t> = 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gameObject.transform.GetChild</a:t>
            </a:r>
            <a:r>
              <a:rPr lang="pt-BR" b="0" dirty="0">
                <a:effectLst/>
                <a:latin typeface="Consolas" panose="020B0609020204030204" pitchFamily="49" charset="0"/>
              </a:rPr>
              <a:t> (1).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gameObject.GetComponent</a:t>
            </a:r>
            <a:r>
              <a:rPr lang="pt-BR" b="0" dirty="0"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Animator</a:t>
            </a:r>
            <a:r>
              <a:rPr lang="pt-BR" b="0" dirty="0">
                <a:effectLst/>
                <a:latin typeface="Consolas" panose="020B0609020204030204" pitchFamily="49" charset="0"/>
              </a:rPr>
              <a:t>&gt; ();</a:t>
            </a:r>
          </a:p>
          <a:p>
            <a:pPr marL="0" indent="0"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pt-BR" b="0" dirty="0" err="1">
                <a:effectLst/>
                <a:latin typeface="Consolas" panose="020B0609020204030204" pitchFamily="49" charset="0"/>
              </a:rPr>
              <a:t>void</a:t>
            </a:r>
            <a:r>
              <a:rPr lang="pt-BR" b="0" dirty="0">
                <a:effectLst/>
                <a:latin typeface="Consolas" panose="020B0609020204030204" pitchFamily="49" charset="0"/>
              </a:rPr>
              <a:t> Update() {</a:t>
            </a:r>
          </a:p>
          <a:p>
            <a:pPr marL="0" indent="0"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   ...</a:t>
            </a:r>
          </a:p>
          <a:p>
            <a:pPr marL="0" indent="0"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   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if</a:t>
            </a:r>
            <a:r>
              <a:rPr lang="pt-BR" b="0" dirty="0">
                <a:effectLst/>
                <a:latin typeface="Consolas" panose="020B0609020204030204" pitchFamily="49" charset="0"/>
              </a:rPr>
              <a:t> (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curSpeedX</a:t>
            </a:r>
            <a:r>
              <a:rPr lang="pt-BR" b="0" dirty="0">
                <a:effectLst/>
                <a:latin typeface="Consolas" panose="020B0609020204030204" pitchFamily="49" charset="0"/>
              </a:rPr>
              <a:t>&gt;0) {</a:t>
            </a:r>
          </a:p>
          <a:p>
            <a:pPr marL="0" indent="0"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      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animator.SetBool</a:t>
            </a:r>
            <a:r>
              <a:rPr lang="pt-BR" b="0" dirty="0">
                <a:effectLst/>
                <a:latin typeface="Consolas" panose="020B0609020204030204" pitchFamily="49" charset="0"/>
              </a:rPr>
              <a:t> ("andando", 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true</a:t>
            </a:r>
            <a:r>
              <a:rPr lang="pt-BR" b="0" dirty="0"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  } 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else</a:t>
            </a:r>
            <a:r>
              <a:rPr lang="pt-BR" b="0" dirty="0"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      </a:t>
            </a:r>
            <a:r>
              <a:rPr lang="pt-BR" b="0" dirty="0" err="1">
                <a:effectLst/>
                <a:latin typeface="Consolas" panose="020B0609020204030204" pitchFamily="49" charset="0"/>
              </a:rPr>
              <a:t>animator.SetBool</a:t>
            </a:r>
            <a:r>
              <a:rPr lang="pt-BR" b="0" dirty="0">
                <a:effectLst/>
                <a:latin typeface="Consolas" panose="020B0609020204030204" pitchFamily="49" charset="0"/>
              </a:rPr>
              <a:t> ("andando", false);</a:t>
            </a:r>
          </a:p>
          <a:p>
            <a:pPr marL="0" indent="0"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   }</a:t>
            </a:r>
          </a:p>
          <a:p>
            <a:pPr marL="0" indent="0">
              <a:buNone/>
            </a:pPr>
            <a:r>
              <a:rPr lang="pt-BR" b="0" dirty="0">
                <a:effectLst/>
                <a:latin typeface="Consolas" panose="020B0609020204030204" pitchFamily="49" charset="0"/>
              </a:rPr>
              <a:t>   ...</a:t>
            </a:r>
          </a:p>
        </p:txBody>
      </p:sp>
    </p:spTree>
    <p:extLst>
      <p:ext uri="{BB962C8B-B14F-4D97-AF65-F5344CB8AC3E}">
        <p14:creationId xmlns:p14="http://schemas.microsoft.com/office/powerpoint/2010/main" val="3034210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590</TotalTime>
  <Words>337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Arial</vt:lpstr>
      <vt:lpstr>Consolas</vt:lpstr>
      <vt:lpstr>Poppins</vt:lpstr>
      <vt:lpstr>Symbol</vt:lpstr>
      <vt:lpstr>Times New Roman</vt:lpstr>
      <vt:lpstr>Tw Cen MT</vt:lpstr>
      <vt:lpstr>Tw Cen MT Condensed</vt:lpstr>
      <vt:lpstr>Wingdings</vt:lpstr>
      <vt:lpstr>Office Theme</vt:lpstr>
      <vt:lpstr>Apresentação do PowerPoint</vt:lpstr>
      <vt:lpstr>Animações</vt:lpstr>
      <vt:lpstr>Mixamo</vt:lpstr>
      <vt:lpstr>Mixamo</vt:lpstr>
      <vt:lpstr>Download da animação</vt:lpstr>
      <vt:lpstr>Principais Animações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Controle Jogador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Ely Prado</dc:creator>
  <dc:description/>
  <cp:lastModifiedBy>Ely Prado</cp:lastModifiedBy>
  <cp:revision>131</cp:revision>
  <dcterms:created xsi:type="dcterms:W3CDTF">2017-05-25T02:03:48Z</dcterms:created>
  <dcterms:modified xsi:type="dcterms:W3CDTF">2021-04-27T20:54:55Z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91</vt:i4>
  </property>
</Properties>
</file>