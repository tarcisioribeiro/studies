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_rels/presentation.xml.rels" ContentType="application/vnd.openxmlformats-package.relationships+xml"/>
  <Override PartName="/ppt/media/image7.png" ContentType="image/png"/>
  <Override PartName="/ppt/media/image2.png" ContentType="image/png"/>
  <Override PartName="/ppt/media/image1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_rels/slideLayout3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280" cy="4384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280" cy="5850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504000" y="405900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5152320" y="405900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504000" y="4059000"/>
            <a:ext cx="90712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504000" y="4059000"/>
            <a:ext cx="90712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504000" y="405900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5152320" y="405900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29206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571200" y="1769040"/>
            <a:ext cx="29206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638040" y="1769040"/>
            <a:ext cx="29206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504000" y="4059000"/>
            <a:ext cx="29206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3571200" y="4059000"/>
            <a:ext cx="29206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6638040" y="4059000"/>
            <a:ext cx="29206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280" cy="4384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280" cy="5850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504000" y="405900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5152320" y="405900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504000" y="4059000"/>
            <a:ext cx="90712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04000" y="4059000"/>
            <a:ext cx="90712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504000" y="405900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5152320" y="405900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29206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3571200" y="1769040"/>
            <a:ext cx="29206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638040" y="1769040"/>
            <a:ext cx="29206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504000" y="4059000"/>
            <a:ext cx="29206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3571200" y="4059000"/>
            <a:ext cx="29206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638040" y="4059000"/>
            <a:ext cx="29206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280" cy="4384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280" cy="5850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504000" y="405900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5152320" y="405900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504000" y="4059000"/>
            <a:ext cx="90712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504000" y="4059000"/>
            <a:ext cx="90712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504000" y="405900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5152320" y="4059000"/>
            <a:ext cx="442656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29206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3571200" y="1769040"/>
            <a:ext cx="29206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6638040" y="1769040"/>
            <a:ext cx="29206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body"/>
          </p:nvPr>
        </p:nvSpPr>
        <p:spPr>
          <a:xfrm>
            <a:off x="504000" y="4059000"/>
            <a:ext cx="29206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 type="body"/>
          </p:nvPr>
        </p:nvSpPr>
        <p:spPr>
          <a:xfrm>
            <a:off x="3571200" y="4059000"/>
            <a:ext cx="29206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8" name="PlaceHolder 7"/>
          <p:cNvSpPr>
            <a:spLocks noGrp="1"/>
          </p:cNvSpPr>
          <p:nvPr>
            <p:ph type="body"/>
          </p:nvPr>
        </p:nvSpPr>
        <p:spPr>
          <a:xfrm>
            <a:off x="6638040" y="4059000"/>
            <a:ext cx="292068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6016680"/>
            <a:ext cx="10076400" cy="1542240"/>
          </a:xfrm>
          <a:prstGeom prst="rect">
            <a:avLst/>
          </a:prstGeom>
          <a:ln>
            <a:noFill/>
          </a:ln>
        </p:spPr>
      </p:pic>
      <p:pic>
        <p:nvPicPr>
          <p:cNvPr id="1" name="" descr=""/>
          <p:cNvPicPr/>
          <p:nvPr/>
        </p:nvPicPr>
        <p:blipFill>
          <a:blip r:embed="rId3"/>
          <a:stretch/>
        </p:blipFill>
        <p:spPr>
          <a:xfrm>
            <a:off x="0" y="0"/>
            <a:ext cx="10076760" cy="1694880"/>
          </a:xfrm>
          <a:prstGeom prst="rect">
            <a:avLst/>
          </a:prstGeom>
          <a:ln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pt-BR" sz="1800" spc="-1" strike="noStrike">
                <a:latin typeface="Arial"/>
              </a:rPr>
              <a:t>Clique para editar o formato do texto do título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" descr=""/>
          <p:cNvPicPr/>
          <p:nvPr/>
        </p:nvPicPr>
        <p:blipFill>
          <a:blip r:embed="rId2"/>
          <a:stretch/>
        </p:blipFill>
        <p:spPr>
          <a:xfrm>
            <a:off x="0" y="6108480"/>
            <a:ext cx="10076400" cy="1450800"/>
          </a:xfrm>
          <a:prstGeom prst="rect">
            <a:avLst/>
          </a:prstGeom>
          <a:ln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pt-BR" sz="1800" spc="-1" strike="noStrike">
                <a:latin typeface="Arial"/>
              </a:rPr>
              <a:t>Clique para editar o formato do texto do título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Clique para editar o formato do texto da estrutura de tópicos</a:t>
            </a:r>
            <a:endParaRPr b="0" lang="pt-BR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Arial"/>
              </a:rPr>
              <a:t>2.º nível da estrutura de tópicos</a:t>
            </a:r>
            <a:endParaRPr b="0" lang="pt-BR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3.º nível da estrutura de tópicos</a:t>
            </a:r>
            <a:endParaRPr b="0" lang="pt-BR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Arial"/>
              </a:rPr>
              <a:t>4.º nível da estrutura de tópicos</a:t>
            </a:r>
            <a:endParaRPr b="0" lang="pt-BR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5.º nível da estrutura de tópicos</a:t>
            </a:r>
            <a:endParaRPr b="0" lang="pt-BR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6.º nível da estrutura de tópicos</a:t>
            </a:r>
            <a:endParaRPr b="0" lang="pt-BR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7.º nível da estrutura de tópicos</a:t>
            </a:r>
            <a:endParaRPr b="0" lang="pt-BR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" descr=""/>
          <p:cNvPicPr/>
          <p:nvPr/>
        </p:nvPicPr>
        <p:blipFill>
          <a:blip r:embed="rId2"/>
          <a:stretch/>
        </p:blipFill>
        <p:spPr>
          <a:xfrm>
            <a:off x="0" y="6108480"/>
            <a:ext cx="10076400" cy="1450800"/>
          </a:xfrm>
          <a:prstGeom prst="rect">
            <a:avLst/>
          </a:prstGeom>
          <a:ln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pt-BR" sz="1800" spc="-1" strike="noStrike">
                <a:latin typeface="Arial"/>
              </a:rPr>
              <a:t>Clique para editar o formato do texto do título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Clique para editar o formato do texto da estrutura de tópicos</a:t>
            </a:r>
            <a:endParaRPr b="0" lang="pt-BR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Arial"/>
              </a:rPr>
              <a:t>2.º nível da estrutura de tópicos</a:t>
            </a:r>
            <a:endParaRPr b="0" lang="pt-BR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3.º nível da estrutura de tópicos</a:t>
            </a:r>
            <a:endParaRPr b="0" lang="pt-BR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Arial"/>
              </a:rPr>
              <a:t>4.º nível da estrutura de tópicos</a:t>
            </a:r>
            <a:endParaRPr b="0" lang="pt-BR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5.º nível da estrutura de tópicos</a:t>
            </a:r>
            <a:endParaRPr b="0" lang="pt-BR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6.º nível da estrutura de tópicos</a:t>
            </a:r>
            <a:endParaRPr b="0" lang="pt-BR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7.º nível da estrutura de tópicos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56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Clique para editar o formato do texto da estrutura de tópicos</a:t>
            </a:r>
            <a:endParaRPr b="0" lang="pt-BR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Arial"/>
              </a:rPr>
              <a:t>2.º nível da estrutura de tópicos</a:t>
            </a:r>
            <a:endParaRPr b="0" lang="pt-BR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3.º nível da estrutura de tópicos</a:t>
            </a:r>
            <a:endParaRPr b="0" lang="pt-BR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Arial"/>
              </a:rPr>
              <a:t>4.º nível da estrutura de tópicos</a:t>
            </a:r>
            <a:endParaRPr b="0" lang="pt-BR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5.º nível da estrutura de tópicos</a:t>
            </a:r>
            <a:endParaRPr b="0" lang="pt-BR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6.º nível da estrutura de tópicos</a:t>
            </a:r>
            <a:endParaRPr b="0" lang="pt-BR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7.º nível da estrutura de tópicos</a:t>
            </a:r>
            <a:endParaRPr b="0" lang="pt-BR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ustomShape 1"/>
          <p:cNvSpPr/>
          <p:nvPr/>
        </p:nvSpPr>
        <p:spPr>
          <a:xfrm>
            <a:off x="504360" y="2553840"/>
            <a:ext cx="9071280" cy="162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pt-BR" sz="4400" spc="-1" strike="noStrike">
                <a:latin typeface="Arial"/>
              </a:rPr>
              <a:t>Desenvolvimento de Jogos Digitais I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20" name="CustomShape 2"/>
          <p:cNvSpPr/>
          <p:nvPr/>
        </p:nvSpPr>
        <p:spPr>
          <a:xfrm>
            <a:off x="504000" y="4536000"/>
            <a:ext cx="9071280" cy="1151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pt-BR" sz="3200" spc="-1" strike="noStrike">
                <a:latin typeface="Arial"/>
              </a:rPr>
              <a:t>Ely Prado</a:t>
            </a:r>
            <a:endParaRPr b="0" lang="pt-BR" sz="32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pt-BR" sz="4400" spc="-1" strike="noStrike">
                <a:latin typeface="Arial"/>
              </a:rPr>
              <a:t>Game Designer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22" name="CustomShape 2"/>
          <p:cNvSpPr/>
          <p:nvPr/>
        </p:nvSpPr>
        <p:spPr>
          <a:xfrm>
            <a:off x="504000" y="1769040"/>
            <a:ext cx="9071280" cy="4384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É um dos profissionais fundamentais no desenvolvimento de um jogo digital. Ele que vai criar o planejamento, que vai dar o direcionamento necessário para aquele jogo ser produzido naquele formato.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É um trabalho criativo, porém técnico e analítico. 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endParaRPr b="0" lang="pt-BR" sz="3200" spc="-1" strike="noStrike"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pt-BR" sz="4400" spc="-1" strike="noStrike">
                <a:latin typeface="Arial"/>
              </a:rPr>
              <a:t>Game Designer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504000" y="1769040"/>
            <a:ext cx="9071280" cy="4384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Projetista de jogos, Designer de jogos.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Cuida do planejamento, e da concepção. Cria protótipos, mas não produz o jogo em si.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Pode ocorrer de um profissional acumular funções a mais no desenvolvimento de um jogo, principalmente em equipes menores. Por isso existem game designers que fazem ilustrações ou programam também.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endParaRPr b="0" lang="pt-BR" sz="320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pt-BR" sz="4400" spc="-1" strike="noStrike">
                <a:latin typeface="Arial"/>
              </a:rPr>
              <a:t>Design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26" name="CustomShape 2"/>
          <p:cNvSpPr/>
          <p:nvPr/>
        </p:nvSpPr>
        <p:spPr>
          <a:xfrm>
            <a:off x="504000" y="1769040"/>
            <a:ext cx="9071280" cy="4384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É um processo, ou seja, segue uma sequência a ser realizada e não é feita de maneira aleatória. O designer é o agente que realiza o design, criando um contexto para um participante. Ao final desse contexto do participante interagindo com o contexto, tem-se um significado.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endParaRPr b="0" lang="pt-BR" sz="3200" spc="-1" strike="noStrike"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pt-BR" sz="4400" spc="-1" strike="noStrike">
                <a:latin typeface="Arial"/>
              </a:rPr>
              <a:t>Elementos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28" name="CustomShape 2"/>
          <p:cNvSpPr/>
          <p:nvPr/>
        </p:nvSpPr>
        <p:spPr>
          <a:xfrm>
            <a:off x="504000" y="1769040"/>
            <a:ext cx="9071280" cy="4384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Principais Elementos que um Game Designer deve se preocupar: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2800" spc="-1" strike="noStrike">
                <a:latin typeface="Arial"/>
              </a:rPr>
              <a:t>- Mecânica: espaço, ações no jogo, sistemas de regras...</a:t>
            </a:r>
            <a:endParaRPr b="0" lang="pt-BR" sz="2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2800" spc="-1" strike="noStrike">
                <a:latin typeface="Arial"/>
              </a:rPr>
              <a:t>- Narrativa: história, diálogos, personagens...</a:t>
            </a:r>
            <a:endParaRPr b="0" lang="pt-BR" sz="2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2800" spc="-1" strike="noStrike">
                <a:latin typeface="Arial"/>
              </a:rPr>
              <a:t>- Estética: ilustrações, animações, trilhas sonoras, sons de efeitos...</a:t>
            </a:r>
            <a:endParaRPr b="0" lang="pt-BR" sz="2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2800" spc="-1" strike="noStrike">
                <a:latin typeface="Arial"/>
              </a:rPr>
              <a:t>- Tecnologia: console, plataforma, web, joystick, teclado, tabuleiro, dados...</a:t>
            </a:r>
            <a:endParaRPr b="0" lang="pt-BR" sz="2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endParaRPr b="0" lang="pt-BR" sz="2800" spc="-1" strike="noStrike"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pt-BR" sz="4400" spc="-1" strike="noStrike">
                <a:latin typeface="Arial"/>
              </a:rPr>
              <a:t>Conhecimentos de um game designer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30" name="CustomShape 2"/>
          <p:cNvSpPr/>
          <p:nvPr/>
        </p:nvSpPr>
        <p:spPr>
          <a:xfrm>
            <a:off x="504000" y="1769040"/>
            <a:ext cx="9071280" cy="4384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Negócios: aspectos econômicos, gerencimento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Estética: animação, cinematografia, artes visuais, design de áudio, arquitetura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Comunicação e criatividade comunicação, redação criativa, redação técnica, falar em público, brainstorming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Exatas: matemática, engenharia moderna.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Público alvo: antropologia, psicologia, história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endParaRPr b="0" lang="pt-BR" sz="3200" spc="-1" strike="noStrike"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pt-BR" sz="4400" spc="-1" strike="noStrike">
                <a:latin typeface="Arial"/>
              </a:rPr>
              <a:t>Habilidades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32" name="CustomShape 2"/>
          <p:cNvSpPr/>
          <p:nvPr/>
        </p:nvSpPr>
        <p:spPr>
          <a:xfrm>
            <a:off x="504000" y="1769040"/>
            <a:ext cx="9071280" cy="4384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Escrever, ouvir, ser líder de torcida, responsabilizar-se pelas ideias, criar novas ideias, visualizar, criar protótipos, criar scripts.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endParaRPr b="0" lang="pt-BR" sz="320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pt-BR" sz="4400" spc="-1" strike="noStrike">
                <a:latin typeface="Arial"/>
              </a:rPr>
              <a:t>Levantamento de requisitos no desenvolvimento de jogos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34" name="CustomShape 2"/>
          <p:cNvSpPr/>
          <p:nvPr/>
        </p:nvSpPr>
        <p:spPr>
          <a:xfrm>
            <a:off x="504000" y="1769040"/>
            <a:ext cx="9071280" cy="4384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No desenvolvimento de jogos digitais, principalmente na fase de pré-produção é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confeccionada a especificação de requisitos, documento cujo objetivo principal é elencar requisitos funcionais (funcionalidade do sistema) e requisitos não funcionais (comportamento do sistema, por exemplo: tempo de resposta, disponibilidade, entretenimento) e requisitos de domínio (comportamento do sistema relativo à área em que está relacionado, por exemplo, movimentos de um personagem dentro do jogo).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Além de conter requisitos, o documento deve ser estruturado de tal forma que os desenvolvedores do sistema possam simplesmente preocupar-se com a programação.</a:t>
            </a:r>
            <a:endParaRPr b="0" lang="pt-BR" sz="3200" spc="-1" strike="noStrike"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pt-BR" sz="4400" spc="-1" strike="noStrike">
                <a:latin typeface="Arial"/>
              </a:rPr>
              <a:t>Levantamento de requisitos no desenvolvimento de jogos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36" name="CustomShape 2"/>
          <p:cNvSpPr/>
          <p:nvPr/>
        </p:nvSpPr>
        <p:spPr>
          <a:xfrm>
            <a:off x="504000" y="1769040"/>
            <a:ext cx="9071280" cy="4384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A pré-produção é a fase onde se realiza a concepção de um jogo e de um dos ativos mais importantes, o game design document (GDD). O GDD é um trabalho criativo escrito pelo time de design do jogo e deve ser bem detalhado, mas não necessariamente formal, ou seja, sua estrutura não precisa obedecer a um esqueleto previamente estabelecido</a:t>
            </a:r>
            <a:endParaRPr b="0" lang="pt-BR" sz="3200" spc="-1" strike="noStrike"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pt-BR" sz="4400" spc="-1" strike="noStrike">
                <a:latin typeface="Arial"/>
              </a:rPr>
              <a:t>Game Design Document (GDD).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38" name="CustomShape 2"/>
          <p:cNvSpPr/>
          <p:nvPr/>
        </p:nvSpPr>
        <p:spPr>
          <a:xfrm>
            <a:off x="504000" y="1769040"/>
            <a:ext cx="9071280" cy="4384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Trata-se um documento de texto, em geral bem ilustrado, concebido por um game designer e que descreve diversos elementos de um jogo, como estética, narrativa, mecânicas, etc.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Tem a função de comunicar e guiar os diversos envolvidos no processo de desenvolvimento do jogo.</a:t>
            </a:r>
            <a:endParaRPr b="0" lang="pt-BR" sz="3200" spc="-1" strike="noStrike"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pt-BR" sz="4400" spc="-1" strike="noStrike">
                <a:latin typeface="Arial"/>
              </a:rPr>
              <a:t>Elementos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40" name="CustomShape 2"/>
          <p:cNvSpPr/>
          <p:nvPr/>
        </p:nvSpPr>
        <p:spPr>
          <a:xfrm>
            <a:off x="504000" y="1769040"/>
            <a:ext cx="9071280" cy="4384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documentos de design apresentam uma estrutura encadeada de diversos elementos do jogo: 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- conceito do jogo; 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- mecânicas de jogo; 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- interfaces com usuário; 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- elementos gráficos estáticos, animados e de vídeo;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- descrição de personagens; 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- enredo e história; sons e música;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- detalhamento de levels (fases) entre outros elementos.</a:t>
            </a:r>
            <a:endParaRPr b="0" lang="pt-BR" sz="3200" spc="-1" strike="noStrike"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pt-BR" sz="4400" spc="-1" strike="noStrike">
                <a:latin typeface="Arial"/>
              </a:rPr>
              <a:t>Short Game Design Document (SGDD)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42" name="CustomShape 2"/>
          <p:cNvSpPr/>
          <p:nvPr/>
        </p:nvSpPr>
        <p:spPr>
          <a:xfrm>
            <a:off x="504000" y="1769040"/>
            <a:ext cx="9071280" cy="4384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1. Descrever de forma sintética o enredo do jogo;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2. Descrever todo o jogo, do início ao fim, num texto corrido;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3. Marcar no texto, com cores, negrito, etc, o conteúdo de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arte/interface/música e mecânicas;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4. Criar listas contendo os elementos de arte, interface, música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e programação;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5. Caso seja necessário, descrever na forma de desenhos o level design do jogo (gráfico de fluxo), que pode variar seu tamanho dependendo do design do jogo;</a:t>
            </a:r>
            <a:endParaRPr b="0" lang="pt-BR" sz="3200" spc="-1" strike="noStrike"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Shape 1"/>
          <p:cNvSpPr txBox="1"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14400" y="56880"/>
            <a:ext cx="7257600" cy="5343120"/>
          </a:xfrm>
          <a:prstGeom prst="rect">
            <a:avLst/>
          </a:prstGeom>
          <a:ln>
            <a:noFill/>
          </a:ln>
        </p:spPr>
      </p:pic>
      <p:pic>
        <p:nvPicPr>
          <p:cNvPr id="145" name="" descr=""/>
          <p:cNvPicPr/>
          <p:nvPr/>
        </p:nvPicPr>
        <p:blipFill>
          <a:blip r:embed="rId2"/>
          <a:stretch/>
        </p:blipFill>
        <p:spPr>
          <a:xfrm>
            <a:off x="14400" y="56880"/>
            <a:ext cx="10190880" cy="75027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5" dur="indefinite" restart="never" nodeType="tmRoot">
          <p:childTnLst>
            <p:seq>
              <p:cTn id="2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Shape 1"/>
          <p:cNvSpPr txBox="1"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pic>
        <p:nvPicPr>
          <p:cNvPr id="147" name="" descr=""/>
          <p:cNvPicPr/>
          <p:nvPr/>
        </p:nvPicPr>
        <p:blipFill>
          <a:blip r:embed="rId1"/>
          <a:stretch/>
        </p:blipFill>
        <p:spPr>
          <a:xfrm>
            <a:off x="0" y="726480"/>
            <a:ext cx="10074600" cy="68335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7" dur="indefinite" restart="never" nodeType="tmRoot">
          <p:childTnLst>
            <p:seq>
              <p:cTn id="2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pt-BR" sz="4400" spc="-1" strike="noStrike">
                <a:latin typeface="Arial"/>
              </a:rPr>
              <a:t>Principais Requisitos de um Jogo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49" name="CustomShape 2"/>
          <p:cNvSpPr/>
          <p:nvPr/>
        </p:nvSpPr>
        <p:spPr>
          <a:xfrm>
            <a:off x="504000" y="1769040"/>
            <a:ext cx="9071280" cy="4384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Jogador;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Adversário;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Interatividade;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Deve existir regras;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Deve existir objetivo;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Condições de vitória, empate e derrota;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417"/>
              </a:spcAft>
            </a:pPr>
            <a:r>
              <a:rPr b="0" lang="pt-BR" sz="3200" spc="-1" strike="noStrike">
                <a:latin typeface="Arial"/>
              </a:rPr>
              <a:t>Ser uma forma de entretenimento.</a:t>
            </a:r>
            <a:endParaRPr b="0" lang="pt-BR" sz="3200" spc="-1" strike="noStrike">
              <a:latin typeface="Arial"/>
            </a:endParaRPr>
          </a:p>
        </p:txBody>
      </p:sp>
    </p:spTree>
  </p:cSld>
  <p:timing>
    <p:tnLst>
      <p:par>
        <p:cTn id="29" dur="indefinite" restart="never" nodeType="tmRoot">
          <p:childTnLst>
            <p:seq>
              <p:cTn id="3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425</TotalTime>
  <Application>LibreOffice/6.0.7.3$Linux_X86_64 LibreOffice_project/00m0$Build-3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2020-02-09T10:43:56Z</dcterms:created>
  <dc:creator/>
  <dc:description/>
  <dc:language>pt-BR</dc:language>
  <cp:lastModifiedBy/>
  <dcterms:modified xsi:type="dcterms:W3CDTF">2020-03-01T20:56:21Z</dcterms:modified>
  <cp:revision>53</cp:revision>
  <dc:subject/>
  <dc:title>Beehive</dc:title>
</cp:coreProperties>
</file>