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3" r:id="rId3"/>
    <p:sldId id="285" r:id="rId4"/>
    <p:sldId id="286" r:id="rId5"/>
    <p:sldId id="287" r:id="rId6"/>
    <p:sldId id="258" r:id="rId7"/>
    <p:sldId id="288" r:id="rId8"/>
    <p:sldId id="262" r:id="rId9"/>
    <p:sldId id="263" r:id="rId10"/>
    <p:sldId id="264" r:id="rId11"/>
    <p:sldId id="265" r:id="rId12"/>
    <p:sldId id="266" r:id="rId13"/>
    <p:sldId id="267" r:id="rId14"/>
    <p:sldId id="268" r:id="rId15"/>
    <p:sldId id="269" r:id="rId16"/>
    <p:sldId id="273" r:id="rId17"/>
    <p:sldId id="277" r:id="rId18"/>
    <p:sldId id="278" r:id="rId19"/>
    <p:sldId id="279" r:id="rId20"/>
    <p:sldId id="280" r:id="rId21"/>
    <p:sldId id="281" r:id="rId22"/>
    <p:sldId id="282" r:id="rId23"/>
    <p:sldId id="270" r:id="rId24"/>
    <p:sldId id="28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B8E7D1-E636-204E-B6E0-E9E88C54142A}" v="3" dt="2021-09-08T23:52:57.8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8" autoAdjust="0"/>
    <p:restoredTop sz="96197"/>
  </p:normalViewPr>
  <p:slideViewPr>
    <p:cSldViewPr snapToGrid="0">
      <p:cViewPr varScale="1">
        <p:scale>
          <a:sx n="119" d="100"/>
          <a:sy n="119" d="100"/>
        </p:scale>
        <p:origin x="28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aldo de Assis Borges" userId="0e808647e4aca9b0" providerId="LiveId" clId="{7FB8E7D1-E636-204E-B6E0-E9E88C54142A}"/>
    <pc:docChg chg="custSel modSld">
      <pc:chgData name="Donaldo de Assis Borges" userId="0e808647e4aca9b0" providerId="LiveId" clId="{7FB8E7D1-E636-204E-B6E0-E9E88C54142A}" dt="2021-09-08T23:53:45.994" v="135" actId="20577"/>
      <pc:docMkLst>
        <pc:docMk/>
      </pc:docMkLst>
      <pc:sldChg chg="modSp mod">
        <pc:chgData name="Donaldo de Assis Borges" userId="0e808647e4aca9b0" providerId="LiveId" clId="{7FB8E7D1-E636-204E-B6E0-E9E88C54142A}" dt="2021-09-08T23:53:45.994" v="135" actId="20577"/>
        <pc:sldMkLst>
          <pc:docMk/>
          <pc:sldMk cId="3371034141" sldId="258"/>
        </pc:sldMkLst>
        <pc:spChg chg="mod">
          <ac:chgData name="Donaldo de Assis Borges" userId="0e808647e4aca9b0" providerId="LiveId" clId="{7FB8E7D1-E636-204E-B6E0-E9E88C54142A}" dt="2021-09-08T23:53:45.994" v="135" actId="20577"/>
          <ac:spMkLst>
            <pc:docMk/>
            <pc:sldMk cId="3371034141" sldId="258"/>
            <ac:spMk id="3" creationId="{187F7088-467D-4D6E-82EF-B6DCFDE3C722}"/>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pt-BR"/>
              <a:t>Clique para editar o título Mestre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397E0307-B85C-446A-8EF0-0407D435D787}" type="datetimeFigureOut">
              <a:rPr lang="en-US" dirty="0"/>
              <a:t>9/8/21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AA39ACE-9343-4EBE-B5CA-AEA240A1DC53}" type="datetimeFigureOut">
              <a:rPr lang="en-US" dirty="0"/>
              <a:t>9/8/21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pt-BR"/>
              <a:t>Clique para editar o título Mestre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C9A00F7B-89C5-4DF7-A309-6263220147D4}" type="datetimeFigureOut">
              <a:rPr lang="en-US" dirty="0"/>
              <a:t>9/8/21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49C95DE-FD64-4606-AE61-EC1136867CC6}" type="datetimeFigureOut">
              <a:rPr lang="en-US" dirty="0"/>
              <a:t>9/8/21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680322" y="3030008"/>
            <a:ext cx="4698355" cy="2906179"/>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5594123" y="3030008"/>
            <a:ext cx="4700059" cy="2906179"/>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5DEB0BBD-30FE-4CF1-900A-0C45149F8AF8}" type="datetimeFigureOut">
              <a:rPr lang="en-US" dirty="0"/>
              <a:t>9/8/21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B91A5F7F-3E81-4C65-A4D1-CB62D5B9DB91}" type="datetimeFigureOut">
              <a:rPr lang="en-US" dirty="0"/>
              <a:t>9/8/21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77ECC86-1672-4627-AEFE-EC5485C73905}" type="datetimeFigureOut">
              <a:rPr lang="en-US" dirty="0"/>
              <a:t>9/8/21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pt-BR"/>
              <a:t>Clique para editar o título Mestre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p:txBody>
          <a:bodyPr/>
          <a:lstStyle/>
          <a:p>
            <a:fld id="{3CDCB01F-D966-4C62-B900-0BE008A90C98}" type="datetimeFigureOut">
              <a:rPr lang="en-US" dirty="0"/>
              <a:t>9/8/21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p:txBody>
          <a:bodyPr/>
          <a:lstStyle/>
          <a:p>
            <a:fld id="{5E73A0EA-7DC7-4964-BB97-B173EF3B859A}" type="datetimeFigureOut">
              <a:rPr lang="en-US" dirty="0"/>
              <a:t>9/8/21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p:txBody>
          <a:bodyPr/>
          <a:lstStyle/>
          <a:p>
            <a:fld id="{8BD862E7-95FA-4FC4-9EC5-DDBFA8DC7417}" type="datetimeFigureOut">
              <a:rPr lang="en-US" dirty="0"/>
              <a:t>9/8/21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pt-BR"/>
              <a:t>Clique para editar o título Mestre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p:txBody>
          <a:bodyPr/>
          <a:lstStyle/>
          <a:p>
            <a:fld id="{8DB987F2-A784-4F72-BB57-0E9EACDE722E}" type="datetimeFigureOut">
              <a:rPr lang="en-US" dirty="0"/>
              <a:t>9/8/21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pt-BR"/>
              <a:t>Clique para editar o título Mestre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p:txBody>
          <a:bodyPr/>
          <a:lstStyle/>
          <a:p>
            <a:fld id="{40BBD51E-4B19-444E-85C0-DBD7EB6263F4}" type="datetimeFigureOut">
              <a:rPr lang="en-US" dirty="0"/>
              <a:t>9/8/21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pt-BR"/>
              <a:t>Clique para editar o título Mestre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p:txBody>
          <a:bodyPr/>
          <a:lstStyle/>
          <a:p>
            <a:fld id="{F0D7255A-4AD5-4D3E-9A0A-689DA3BA976C}" type="datetimeFigureOut">
              <a:rPr lang="en-US" dirty="0"/>
              <a:t>9/8/21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pt-BR"/>
              <a:t>Clique para editar o título Mestre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3" name="Date Placeholder 2"/>
          <p:cNvSpPr>
            <a:spLocks noGrp="1"/>
          </p:cNvSpPr>
          <p:nvPr>
            <p:ph type="dt" sz="half" idx="10"/>
          </p:nvPr>
        </p:nvSpPr>
        <p:spPr/>
        <p:txBody>
          <a:bodyPr/>
          <a:lstStyle/>
          <a:p>
            <a:fld id="{3EE0AD15-87AC-45B2-9EE5-8D165AF83CD7}" type="datetimeFigureOut">
              <a:rPr lang="en-US" dirty="0"/>
              <a:t>9/8/21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pt-BR"/>
              <a:t>Clique para editar o título Mestre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3" name="Date Placeholder 2"/>
          <p:cNvSpPr>
            <a:spLocks noGrp="1"/>
          </p:cNvSpPr>
          <p:nvPr>
            <p:ph type="dt" sz="half" idx="10"/>
          </p:nvPr>
        </p:nvSpPr>
        <p:spPr/>
        <p:txBody>
          <a:bodyPr/>
          <a:lstStyle/>
          <a:p>
            <a:fld id="{FCC40CCD-F0D6-4CC2-A4C8-2D7D0D875F02}" type="datetimeFigureOut">
              <a:rPr lang="en-US" dirty="0"/>
              <a:t>9/8/21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3CFE2CC-454D-4466-AC55-B86DA0A87BAE}" type="datetimeFigureOut">
              <a:rPr lang="en-US" dirty="0"/>
              <a:t>9/8/21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B647B1BF-4039-460D-A637-65428CBD720E}" type="datetimeFigureOut">
              <a:rPr lang="en-US" dirty="0"/>
              <a:t>9/8/21</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0EF52CC-F3D9-41D4-BCE4-C208E61A3F31}" type="datetimeFigureOut">
              <a:rPr lang="en-US" dirty="0"/>
              <a:t>9/8/21</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7BzCgytAumU&amp;t=3s" TargetMode="External"/><Relationship Id="rId2" Type="http://schemas.openxmlformats.org/officeDocument/2006/relationships/hyperlink" Target="https://www.youtube.com/watch?v=Cr4JsfCXFgQ"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5C89DD-3161-4D41-8A67-789321768119}"/>
              </a:ext>
            </a:extLst>
          </p:cNvPr>
          <p:cNvSpPr>
            <a:spLocks noGrp="1"/>
          </p:cNvSpPr>
          <p:nvPr>
            <p:ph type="ctrTitle"/>
          </p:nvPr>
        </p:nvSpPr>
        <p:spPr/>
        <p:txBody>
          <a:bodyPr/>
          <a:lstStyle/>
          <a:p>
            <a:r>
              <a:rPr lang="pt-BR" sz="4000" dirty="0"/>
              <a:t>Direito Aplicado a Computação</a:t>
            </a:r>
            <a:br>
              <a:rPr lang="pt-BR" sz="4000" dirty="0"/>
            </a:br>
            <a:r>
              <a:rPr lang="pt-BR" sz="2000" dirty="0"/>
              <a:t>Prof. Dr. Donaldo de Assis Borges</a:t>
            </a:r>
          </a:p>
        </p:txBody>
      </p:sp>
      <p:sp>
        <p:nvSpPr>
          <p:cNvPr id="3" name="Subtítulo 2">
            <a:extLst>
              <a:ext uri="{FF2B5EF4-FFF2-40B4-BE49-F238E27FC236}">
                <a16:creationId xmlns:a16="http://schemas.microsoft.com/office/drawing/2014/main" id="{26C56238-1010-47EA-97CE-F9D9FF8729B6}"/>
              </a:ext>
            </a:extLst>
          </p:cNvPr>
          <p:cNvSpPr>
            <a:spLocks noGrp="1"/>
          </p:cNvSpPr>
          <p:nvPr>
            <p:ph type="subTitle" idx="1"/>
          </p:nvPr>
        </p:nvSpPr>
        <p:spPr/>
        <p:txBody>
          <a:bodyPr>
            <a:normAutofit/>
          </a:bodyPr>
          <a:lstStyle/>
          <a:p>
            <a:r>
              <a:rPr lang="pt-BR" sz="2400" b="1" dirty="0">
                <a:solidFill>
                  <a:schemeClr val="bg1"/>
                </a:solidFill>
              </a:rPr>
              <a:t>Aula 6. O conceito de empregado na Consolidação das Leis Trabalhistas - CLT.</a:t>
            </a:r>
          </a:p>
          <a:p>
            <a:endParaRPr lang="pt-BR" sz="4400" dirty="0">
              <a:solidFill>
                <a:schemeClr val="bg2">
                  <a:lumMod val="50000"/>
                </a:schemeClr>
              </a:solidFill>
            </a:endParaRPr>
          </a:p>
        </p:txBody>
      </p:sp>
    </p:spTree>
    <p:extLst>
      <p:ext uri="{BB962C8B-B14F-4D97-AF65-F5344CB8AC3E}">
        <p14:creationId xmlns:p14="http://schemas.microsoft.com/office/powerpoint/2010/main" val="847501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B6D240-67D0-48F2-A837-23F0FFC18497}"/>
              </a:ext>
            </a:extLst>
          </p:cNvPr>
          <p:cNvSpPr>
            <a:spLocks noGrp="1"/>
          </p:cNvSpPr>
          <p:nvPr>
            <p:ph type="title"/>
          </p:nvPr>
        </p:nvSpPr>
        <p:spPr/>
        <p:txBody>
          <a:bodyPr>
            <a:normAutofit fontScale="90000"/>
          </a:bodyPr>
          <a:lstStyle/>
          <a:p>
            <a:r>
              <a:rPr lang="pt-BR" dirty="0"/>
              <a:t>O conceito de empregado na Consolidação das Leis Trabalhistas - CLT.</a:t>
            </a:r>
            <a:br>
              <a:rPr lang="pt-BR" dirty="0"/>
            </a:br>
            <a:endParaRPr lang="pt-BR" dirty="0"/>
          </a:p>
        </p:txBody>
      </p:sp>
      <p:sp>
        <p:nvSpPr>
          <p:cNvPr id="3" name="Espaço Reservado para Conteúdo 2">
            <a:extLst>
              <a:ext uri="{FF2B5EF4-FFF2-40B4-BE49-F238E27FC236}">
                <a16:creationId xmlns:a16="http://schemas.microsoft.com/office/drawing/2014/main" id="{79543299-F3BD-456E-9A89-F1246D35EF7E}"/>
              </a:ext>
            </a:extLst>
          </p:cNvPr>
          <p:cNvSpPr>
            <a:spLocks noGrp="1"/>
          </p:cNvSpPr>
          <p:nvPr>
            <p:ph idx="1"/>
          </p:nvPr>
        </p:nvSpPr>
        <p:spPr/>
        <p:txBody>
          <a:bodyPr/>
          <a:lstStyle/>
          <a:p>
            <a:r>
              <a:rPr lang="pt-BR" dirty="0">
                <a:solidFill>
                  <a:schemeClr val="bg1"/>
                </a:solidFill>
              </a:rPr>
              <a:t>1. CONCEITO • O artigo 3° da CLT assim define o empregado:</a:t>
            </a:r>
          </a:p>
          <a:p>
            <a:pPr marL="0" indent="0">
              <a:buNone/>
            </a:pPr>
            <a:endParaRPr lang="pt-BR" dirty="0">
              <a:solidFill>
                <a:schemeClr val="bg1"/>
              </a:solidFill>
            </a:endParaRPr>
          </a:p>
          <a:p>
            <a:pPr marL="0" indent="0">
              <a:buNone/>
            </a:pPr>
            <a:r>
              <a:rPr lang="pt-BR" sz="3200" dirty="0">
                <a:solidFill>
                  <a:schemeClr val="bg1"/>
                </a:solidFill>
              </a:rPr>
              <a:t>“Considera-se empregado toda pessoa física que prestar serviços de natureza não eventual a empregador, sob a dependência deste e mediante salário.” </a:t>
            </a:r>
          </a:p>
          <a:p>
            <a:endParaRPr lang="pt-BR" dirty="0"/>
          </a:p>
        </p:txBody>
      </p:sp>
    </p:spTree>
    <p:extLst>
      <p:ext uri="{BB962C8B-B14F-4D97-AF65-F5344CB8AC3E}">
        <p14:creationId xmlns:p14="http://schemas.microsoft.com/office/powerpoint/2010/main" val="1378747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B6D240-67D0-48F2-A837-23F0FFC18497}"/>
              </a:ext>
            </a:extLst>
          </p:cNvPr>
          <p:cNvSpPr>
            <a:spLocks noGrp="1"/>
          </p:cNvSpPr>
          <p:nvPr>
            <p:ph type="title"/>
          </p:nvPr>
        </p:nvSpPr>
        <p:spPr/>
        <p:txBody>
          <a:bodyPr>
            <a:normAutofit fontScale="90000"/>
          </a:bodyPr>
          <a:lstStyle/>
          <a:p>
            <a:r>
              <a:rPr lang="pt-BR" dirty="0"/>
              <a:t>O conceito de empregado na Consolidação das Leis Trabalhistas - CLT.</a:t>
            </a:r>
            <a:br>
              <a:rPr lang="pt-BR" dirty="0"/>
            </a:br>
            <a:endParaRPr lang="pt-BR" dirty="0"/>
          </a:p>
        </p:txBody>
      </p:sp>
      <p:sp>
        <p:nvSpPr>
          <p:cNvPr id="3" name="Espaço Reservado para Conteúdo 2">
            <a:extLst>
              <a:ext uri="{FF2B5EF4-FFF2-40B4-BE49-F238E27FC236}">
                <a16:creationId xmlns:a16="http://schemas.microsoft.com/office/drawing/2014/main" id="{79543299-F3BD-456E-9A89-F1246D35EF7E}"/>
              </a:ext>
            </a:extLst>
          </p:cNvPr>
          <p:cNvSpPr>
            <a:spLocks noGrp="1"/>
          </p:cNvSpPr>
          <p:nvPr>
            <p:ph idx="1"/>
          </p:nvPr>
        </p:nvSpPr>
        <p:spPr/>
        <p:txBody>
          <a:bodyPr/>
          <a:lstStyle/>
          <a:p>
            <a:r>
              <a:rPr lang="pt-BR" dirty="0">
                <a:solidFill>
                  <a:schemeClr val="bg1"/>
                </a:solidFill>
              </a:rPr>
              <a:t>Desse conceito do art. 3º da CLT emerge a diferenciação entre RELAÇÃO DE TRABALHO e RELAÇÃO DE EMPREGO. </a:t>
            </a:r>
          </a:p>
          <a:p>
            <a:pPr marL="0" indent="0">
              <a:buNone/>
            </a:pPr>
            <a:endParaRPr lang="pt-BR" dirty="0">
              <a:solidFill>
                <a:schemeClr val="bg1"/>
              </a:solidFill>
            </a:endParaRPr>
          </a:p>
          <a:p>
            <a:pPr marL="0" indent="0">
              <a:buNone/>
            </a:pPr>
            <a:r>
              <a:rPr lang="pt-BR" dirty="0">
                <a:solidFill>
                  <a:schemeClr val="bg1"/>
                </a:solidFill>
              </a:rPr>
              <a:t>• Em apertada síntese, podemos asseverar que </a:t>
            </a:r>
            <a:r>
              <a:rPr lang="pt-BR" b="1" dirty="0">
                <a:solidFill>
                  <a:schemeClr val="bg1"/>
                </a:solidFill>
              </a:rPr>
              <a:t>a relação de trabalho é o gênero</a:t>
            </a:r>
            <a:r>
              <a:rPr lang="pt-BR" dirty="0">
                <a:solidFill>
                  <a:schemeClr val="bg1"/>
                </a:solidFill>
              </a:rPr>
              <a:t> do qual a </a:t>
            </a:r>
            <a:r>
              <a:rPr lang="pt-BR" b="1" dirty="0">
                <a:solidFill>
                  <a:schemeClr val="bg1"/>
                </a:solidFill>
              </a:rPr>
              <a:t>relação de emprego é uma espécie</a:t>
            </a:r>
            <a:r>
              <a:rPr lang="pt-BR" dirty="0">
                <a:solidFill>
                  <a:schemeClr val="bg1"/>
                </a:solidFill>
              </a:rPr>
              <a:t>, vale dizer, toda relação de emprego é relação de trabalho, mas a contrario sensu, nem toda a relação de trabalho é relação de emprego. </a:t>
            </a:r>
          </a:p>
          <a:p>
            <a:endParaRPr lang="pt-BR" dirty="0"/>
          </a:p>
        </p:txBody>
      </p:sp>
    </p:spTree>
    <p:extLst>
      <p:ext uri="{BB962C8B-B14F-4D97-AF65-F5344CB8AC3E}">
        <p14:creationId xmlns:p14="http://schemas.microsoft.com/office/powerpoint/2010/main" val="587636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B6D240-67D0-48F2-A837-23F0FFC18497}"/>
              </a:ext>
            </a:extLst>
          </p:cNvPr>
          <p:cNvSpPr>
            <a:spLocks noGrp="1"/>
          </p:cNvSpPr>
          <p:nvPr>
            <p:ph type="title"/>
          </p:nvPr>
        </p:nvSpPr>
        <p:spPr/>
        <p:txBody>
          <a:bodyPr>
            <a:normAutofit fontScale="90000"/>
          </a:bodyPr>
          <a:lstStyle/>
          <a:p>
            <a:r>
              <a:rPr lang="pt-BR" dirty="0"/>
              <a:t>O conceito de empregado na Consolidação das Leis Trabalhistas - CLT.</a:t>
            </a:r>
            <a:br>
              <a:rPr lang="pt-BR" dirty="0"/>
            </a:br>
            <a:endParaRPr lang="pt-BR" dirty="0"/>
          </a:p>
        </p:txBody>
      </p:sp>
      <p:sp>
        <p:nvSpPr>
          <p:cNvPr id="3" name="Espaço Reservado para Conteúdo 2">
            <a:extLst>
              <a:ext uri="{FF2B5EF4-FFF2-40B4-BE49-F238E27FC236}">
                <a16:creationId xmlns:a16="http://schemas.microsoft.com/office/drawing/2014/main" id="{79543299-F3BD-456E-9A89-F1246D35EF7E}"/>
              </a:ext>
            </a:extLst>
          </p:cNvPr>
          <p:cNvSpPr>
            <a:spLocks noGrp="1"/>
          </p:cNvSpPr>
          <p:nvPr>
            <p:ph idx="1"/>
          </p:nvPr>
        </p:nvSpPr>
        <p:spPr/>
        <p:txBody>
          <a:bodyPr/>
          <a:lstStyle/>
          <a:p>
            <a:r>
              <a:rPr lang="pt-BR" dirty="0">
                <a:solidFill>
                  <a:schemeClr val="bg1"/>
                </a:solidFill>
              </a:rPr>
              <a:t>Nesse passo, são cinco as características da relação de emprego: </a:t>
            </a:r>
          </a:p>
          <a:p>
            <a:pPr marL="0" indent="0">
              <a:buNone/>
            </a:pPr>
            <a:endParaRPr lang="pt-BR" dirty="0">
              <a:solidFill>
                <a:schemeClr val="bg1"/>
              </a:solidFill>
            </a:endParaRPr>
          </a:p>
          <a:p>
            <a:pPr marL="0" indent="0">
              <a:buNone/>
            </a:pPr>
            <a:r>
              <a:rPr lang="pt-BR" dirty="0">
                <a:solidFill>
                  <a:schemeClr val="bg1"/>
                </a:solidFill>
              </a:rPr>
              <a:t>• Atividade desempenhada por pessoa física;  </a:t>
            </a:r>
          </a:p>
          <a:p>
            <a:pPr marL="0" indent="0">
              <a:buNone/>
            </a:pPr>
            <a:r>
              <a:rPr lang="pt-BR" dirty="0">
                <a:solidFill>
                  <a:schemeClr val="bg1"/>
                </a:solidFill>
              </a:rPr>
              <a:t>• Pessoalidade;</a:t>
            </a:r>
          </a:p>
          <a:p>
            <a:pPr marL="0" indent="0">
              <a:buNone/>
            </a:pPr>
            <a:r>
              <a:rPr lang="pt-BR" dirty="0">
                <a:solidFill>
                  <a:schemeClr val="bg1"/>
                </a:solidFill>
              </a:rPr>
              <a:t>• Não eventualidade da atividade;</a:t>
            </a:r>
          </a:p>
          <a:p>
            <a:pPr marL="0" indent="0">
              <a:buNone/>
            </a:pPr>
            <a:r>
              <a:rPr lang="pt-BR" dirty="0">
                <a:solidFill>
                  <a:schemeClr val="bg1"/>
                </a:solidFill>
              </a:rPr>
              <a:t>• Subordinação ao empregador;</a:t>
            </a:r>
          </a:p>
          <a:p>
            <a:pPr marL="0" indent="0">
              <a:buNone/>
            </a:pPr>
            <a:r>
              <a:rPr lang="pt-BR" dirty="0">
                <a:solidFill>
                  <a:schemeClr val="bg1"/>
                </a:solidFill>
              </a:rPr>
              <a:t>• Onerosidade ou atividade remunerada mediante salário. </a:t>
            </a:r>
          </a:p>
          <a:p>
            <a:endParaRPr lang="pt-BR" dirty="0"/>
          </a:p>
        </p:txBody>
      </p:sp>
    </p:spTree>
    <p:extLst>
      <p:ext uri="{BB962C8B-B14F-4D97-AF65-F5344CB8AC3E}">
        <p14:creationId xmlns:p14="http://schemas.microsoft.com/office/powerpoint/2010/main" val="690780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B6D240-67D0-48F2-A837-23F0FFC18497}"/>
              </a:ext>
            </a:extLst>
          </p:cNvPr>
          <p:cNvSpPr>
            <a:spLocks noGrp="1"/>
          </p:cNvSpPr>
          <p:nvPr>
            <p:ph type="title"/>
          </p:nvPr>
        </p:nvSpPr>
        <p:spPr/>
        <p:txBody>
          <a:bodyPr>
            <a:normAutofit fontScale="90000"/>
          </a:bodyPr>
          <a:lstStyle/>
          <a:p>
            <a:r>
              <a:rPr lang="pt-BR" dirty="0"/>
              <a:t>O conceito de empregado na Consolidação das Leis Trabalhistas - CLT.</a:t>
            </a:r>
            <a:br>
              <a:rPr lang="pt-BR" dirty="0"/>
            </a:br>
            <a:endParaRPr lang="pt-BR" dirty="0"/>
          </a:p>
        </p:txBody>
      </p:sp>
      <p:sp>
        <p:nvSpPr>
          <p:cNvPr id="3" name="Espaço Reservado para Conteúdo 2">
            <a:extLst>
              <a:ext uri="{FF2B5EF4-FFF2-40B4-BE49-F238E27FC236}">
                <a16:creationId xmlns:a16="http://schemas.microsoft.com/office/drawing/2014/main" id="{79543299-F3BD-456E-9A89-F1246D35EF7E}"/>
              </a:ext>
            </a:extLst>
          </p:cNvPr>
          <p:cNvSpPr>
            <a:spLocks noGrp="1"/>
          </p:cNvSpPr>
          <p:nvPr>
            <p:ph idx="1"/>
          </p:nvPr>
        </p:nvSpPr>
        <p:spPr/>
        <p:txBody>
          <a:bodyPr/>
          <a:lstStyle/>
          <a:p>
            <a:r>
              <a:rPr lang="pt-BR" dirty="0">
                <a:solidFill>
                  <a:schemeClr val="bg1"/>
                </a:solidFill>
              </a:rPr>
              <a:t>Nesse passo, são cinco as características da relação de emprego: </a:t>
            </a:r>
          </a:p>
          <a:p>
            <a:pPr marL="0" indent="0">
              <a:buNone/>
            </a:pPr>
            <a:endParaRPr lang="pt-BR" dirty="0">
              <a:solidFill>
                <a:schemeClr val="bg1"/>
              </a:solidFill>
            </a:endParaRPr>
          </a:p>
          <a:p>
            <a:pPr marL="0" indent="0">
              <a:buNone/>
            </a:pPr>
            <a:r>
              <a:rPr lang="pt-BR" dirty="0">
                <a:solidFill>
                  <a:schemeClr val="bg1"/>
                </a:solidFill>
              </a:rPr>
              <a:t>• Atividade desempenhada por pessoa física;  </a:t>
            </a:r>
          </a:p>
          <a:p>
            <a:pPr marL="0" indent="0">
              <a:buNone/>
            </a:pPr>
            <a:r>
              <a:rPr lang="pt-BR" dirty="0">
                <a:solidFill>
                  <a:schemeClr val="bg1"/>
                </a:solidFill>
              </a:rPr>
              <a:t>• Pessoalidade;</a:t>
            </a:r>
          </a:p>
          <a:p>
            <a:pPr marL="0" indent="0">
              <a:buNone/>
            </a:pPr>
            <a:r>
              <a:rPr lang="pt-BR" dirty="0">
                <a:solidFill>
                  <a:schemeClr val="bg1"/>
                </a:solidFill>
              </a:rPr>
              <a:t>• Não eventualidade da atividade;</a:t>
            </a:r>
          </a:p>
          <a:p>
            <a:pPr marL="0" indent="0">
              <a:buNone/>
            </a:pPr>
            <a:r>
              <a:rPr lang="pt-BR" dirty="0">
                <a:solidFill>
                  <a:schemeClr val="bg1"/>
                </a:solidFill>
              </a:rPr>
              <a:t>• Subordinação ao empregador;</a:t>
            </a:r>
          </a:p>
          <a:p>
            <a:pPr marL="0" indent="0">
              <a:buNone/>
            </a:pPr>
            <a:r>
              <a:rPr lang="pt-BR" dirty="0">
                <a:solidFill>
                  <a:schemeClr val="bg1"/>
                </a:solidFill>
              </a:rPr>
              <a:t>• Onerosidade ou atividade remunerada mediante salário. </a:t>
            </a:r>
          </a:p>
          <a:p>
            <a:endParaRPr lang="pt-BR" dirty="0"/>
          </a:p>
        </p:txBody>
      </p:sp>
    </p:spTree>
    <p:extLst>
      <p:ext uri="{BB962C8B-B14F-4D97-AF65-F5344CB8AC3E}">
        <p14:creationId xmlns:p14="http://schemas.microsoft.com/office/powerpoint/2010/main" val="2257214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407DB-5FC0-4990-9C9C-3BF0A7FA127D}"/>
              </a:ext>
            </a:extLst>
          </p:cNvPr>
          <p:cNvSpPr>
            <a:spLocks noGrp="1"/>
          </p:cNvSpPr>
          <p:nvPr>
            <p:ph type="title"/>
          </p:nvPr>
        </p:nvSpPr>
        <p:spPr/>
        <p:txBody>
          <a:bodyPr>
            <a:normAutofit fontScale="90000"/>
          </a:bodyPr>
          <a:lstStyle/>
          <a:p>
            <a:br>
              <a:rPr lang="pt-BR" sz="3200" dirty="0"/>
            </a:br>
            <a:br>
              <a:rPr lang="pt-BR" sz="3200" dirty="0"/>
            </a:br>
            <a:r>
              <a:rPr lang="pt-BR" sz="3200" dirty="0"/>
              <a:t>O conceito de empregado na Consolidação das Leis Trabalhistas - CLT.</a:t>
            </a:r>
            <a:br>
              <a:rPr lang="pt-BR" sz="3200" dirty="0"/>
            </a:br>
            <a:br>
              <a:rPr lang="pt-BR" sz="3200" dirty="0"/>
            </a:br>
            <a:endParaRPr lang="pt-BR" sz="3200" dirty="0"/>
          </a:p>
        </p:txBody>
      </p:sp>
      <p:sp>
        <p:nvSpPr>
          <p:cNvPr id="3" name="Espaço Reservado para Conteúdo 2">
            <a:extLst>
              <a:ext uri="{FF2B5EF4-FFF2-40B4-BE49-F238E27FC236}">
                <a16:creationId xmlns:a16="http://schemas.microsoft.com/office/drawing/2014/main" id="{187F7088-467D-4D6E-82EF-B6DCFDE3C722}"/>
              </a:ext>
            </a:extLst>
          </p:cNvPr>
          <p:cNvSpPr>
            <a:spLocks noGrp="1"/>
          </p:cNvSpPr>
          <p:nvPr>
            <p:ph idx="1"/>
          </p:nvPr>
        </p:nvSpPr>
        <p:spPr>
          <a:xfrm>
            <a:off x="680321" y="2336873"/>
            <a:ext cx="10227933" cy="3599316"/>
          </a:xfrm>
        </p:spPr>
        <p:txBody>
          <a:bodyPr>
            <a:normAutofit fontScale="92500" lnSpcReduction="20000"/>
          </a:bodyPr>
          <a:lstStyle/>
          <a:p>
            <a:r>
              <a:rPr lang="pt-BR" dirty="0">
                <a:solidFill>
                  <a:schemeClr val="bg1"/>
                </a:solidFill>
              </a:rPr>
              <a:t>Portanto, em suma, são requisitos da relação de emprego: </a:t>
            </a:r>
          </a:p>
          <a:p>
            <a:pPr marL="0" indent="0">
              <a:buNone/>
            </a:pPr>
            <a:r>
              <a:rPr lang="pt-BR" dirty="0">
                <a:solidFill>
                  <a:schemeClr val="bg1"/>
                </a:solidFill>
              </a:rPr>
              <a:t> </a:t>
            </a:r>
          </a:p>
          <a:p>
            <a:pPr marL="0" indent="0" algn="ctr">
              <a:buNone/>
            </a:pPr>
            <a:r>
              <a:rPr lang="pt-BR" sz="2800" dirty="0">
                <a:solidFill>
                  <a:schemeClr val="bg1"/>
                </a:solidFill>
              </a:rPr>
              <a:t>• Subordinação;</a:t>
            </a:r>
          </a:p>
          <a:p>
            <a:pPr marL="0" indent="0" algn="ctr">
              <a:buNone/>
            </a:pPr>
            <a:r>
              <a:rPr lang="pt-BR" sz="2800" dirty="0">
                <a:solidFill>
                  <a:schemeClr val="bg1"/>
                </a:solidFill>
              </a:rPr>
              <a:t>• Habitualidade;</a:t>
            </a:r>
          </a:p>
          <a:p>
            <a:pPr marL="0" indent="0" algn="ctr">
              <a:buNone/>
            </a:pPr>
            <a:r>
              <a:rPr lang="pt-BR" sz="2800" dirty="0">
                <a:solidFill>
                  <a:schemeClr val="bg1"/>
                </a:solidFill>
              </a:rPr>
              <a:t>• Onerosidade;</a:t>
            </a:r>
          </a:p>
          <a:p>
            <a:pPr marL="0" indent="0" algn="ctr">
              <a:buNone/>
            </a:pPr>
            <a:r>
              <a:rPr lang="pt-BR" sz="2800" dirty="0">
                <a:solidFill>
                  <a:schemeClr val="bg1"/>
                </a:solidFill>
              </a:rPr>
              <a:t>• Pessoalidade;</a:t>
            </a:r>
          </a:p>
          <a:p>
            <a:pPr marL="0" indent="0" algn="ctr">
              <a:buNone/>
            </a:pPr>
            <a:r>
              <a:rPr lang="pt-BR" sz="2800" dirty="0">
                <a:solidFill>
                  <a:schemeClr val="bg1"/>
                </a:solidFill>
              </a:rPr>
              <a:t>• Pessoa-física. </a:t>
            </a:r>
          </a:p>
          <a:p>
            <a:pPr marL="0" indent="0" algn="just">
              <a:buNone/>
            </a:pPr>
            <a:r>
              <a:rPr lang="pt-BR" sz="1900" dirty="0">
                <a:solidFill>
                  <a:schemeClr val="bg1"/>
                </a:solidFill>
              </a:rPr>
              <a:t>Conceito de empregado e espécies: </a:t>
            </a:r>
            <a:r>
              <a:rPr lang="pt-BR" sz="1900" dirty="0">
                <a:solidFill>
                  <a:schemeClr val="bg1"/>
                </a:solidFill>
                <a:hlinkClick r:id="rId2"/>
              </a:rPr>
              <a:t>https://www.youtube.com/watch?v=Cr4JsfCXFgQ</a:t>
            </a:r>
            <a:endParaRPr lang="pt-BR" sz="1900" dirty="0">
              <a:solidFill>
                <a:schemeClr val="bg1"/>
              </a:solidFill>
            </a:endParaRPr>
          </a:p>
          <a:p>
            <a:pPr marL="0" indent="0" algn="just">
              <a:buNone/>
            </a:pPr>
            <a:r>
              <a:rPr lang="pt-BR" sz="1900" dirty="0">
                <a:solidFill>
                  <a:schemeClr val="bg1"/>
                </a:solidFill>
              </a:rPr>
              <a:t>Rel. de emprego e rel. de trabalho: </a:t>
            </a:r>
            <a:r>
              <a:rPr lang="pt-BR" sz="1900" dirty="0">
                <a:solidFill>
                  <a:schemeClr val="bg1"/>
                </a:solidFill>
                <a:hlinkClick r:id="rId3"/>
              </a:rPr>
              <a:t>https://www.youtube.com/watch?v=7BzCgytAumU&amp;t=3s</a:t>
            </a:r>
            <a:endParaRPr lang="pt-BR" sz="1900" dirty="0">
              <a:solidFill>
                <a:schemeClr val="bg1"/>
              </a:solidFill>
            </a:endParaRPr>
          </a:p>
        </p:txBody>
      </p:sp>
    </p:spTree>
    <p:extLst>
      <p:ext uri="{BB962C8B-B14F-4D97-AF65-F5344CB8AC3E}">
        <p14:creationId xmlns:p14="http://schemas.microsoft.com/office/powerpoint/2010/main" val="3371034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407DB-5FC0-4990-9C9C-3BF0A7FA127D}"/>
              </a:ext>
            </a:extLst>
          </p:cNvPr>
          <p:cNvSpPr>
            <a:spLocks noGrp="1"/>
          </p:cNvSpPr>
          <p:nvPr>
            <p:ph type="title"/>
          </p:nvPr>
        </p:nvSpPr>
        <p:spPr/>
        <p:txBody>
          <a:bodyPr>
            <a:normAutofit fontScale="90000"/>
          </a:bodyPr>
          <a:lstStyle/>
          <a:p>
            <a:br>
              <a:rPr lang="pt-BR" sz="3200" dirty="0"/>
            </a:br>
            <a:br>
              <a:rPr lang="pt-BR" sz="3200" dirty="0"/>
            </a:br>
            <a:r>
              <a:rPr lang="pt-BR" sz="3200" dirty="0"/>
              <a:t>O conceito de empregado na Consolidação das Leis Trabalhistas - CLT.</a:t>
            </a:r>
            <a:br>
              <a:rPr lang="pt-BR" sz="3200" dirty="0"/>
            </a:br>
            <a:br>
              <a:rPr lang="pt-BR" sz="3200" dirty="0"/>
            </a:br>
            <a:endParaRPr lang="pt-BR" sz="3200" dirty="0"/>
          </a:p>
        </p:txBody>
      </p:sp>
      <p:sp>
        <p:nvSpPr>
          <p:cNvPr id="3" name="Espaço Reservado para Conteúdo 2">
            <a:extLst>
              <a:ext uri="{FF2B5EF4-FFF2-40B4-BE49-F238E27FC236}">
                <a16:creationId xmlns:a16="http://schemas.microsoft.com/office/drawing/2014/main" id="{187F7088-467D-4D6E-82EF-B6DCFDE3C722}"/>
              </a:ext>
            </a:extLst>
          </p:cNvPr>
          <p:cNvSpPr>
            <a:spLocks noGrp="1"/>
          </p:cNvSpPr>
          <p:nvPr>
            <p:ph idx="1"/>
          </p:nvPr>
        </p:nvSpPr>
        <p:spPr/>
        <p:txBody>
          <a:bodyPr>
            <a:normAutofit/>
          </a:bodyPr>
          <a:lstStyle/>
          <a:p>
            <a:r>
              <a:rPr lang="pt-BR" sz="2800" b="1" dirty="0">
                <a:solidFill>
                  <a:schemeClr val="bg1"/>
                </a:solidFill>
              </a:rPr>
              <a:t>2. Trabalhador Autônomo: </a:t>
            </a:r>
          </a:p>
          <a:p>
            <a:r>
              <a:rPr lang="pt-BR" sz="2800" b="1" dirty="0">
                <a:solidFill>
                  <a:schemeClr val="bg1"/>
                </a:solidFill>
              </a:rPr>
              <a:t>É a pessoa física que exerce, por conta própria, atividade econômica remunerada de natureza urbana, com fins lucrativos ou não. </a:t>
            </a:r>
          </a:p>
          <a:p>
            <a:r>
              <a:rPr lang="pt-BR" sz="2800" b="1" dirty="0">
                <a:solidFill>
                  <a:schemeClr val="bg1"/>
                </a:solidFill>
              </a:rPr>
              <a:t>(...) Trabalhador autônomo é a pessoa física que presta serviços habitualmente por conta própria a uma ou mais de uma pessoa, assumindo os riscos da sua atividade econômica. </a:t>
            </a:r>
          </a:p>
          <a:p>
            <a:endParaRPr lang="pt-BR" sz="2800" dirty="0">
              <a:solidFill>
                <a:schemeClr val="bg1"/>
              </a:solidFill>
            </a:endParaRPr>
          </a:p>
        </p:txBody>
      </p:sp>
    </p:spTree>
    <p:extLst>
      <p:ext uri="{BB962C8B-B14F-4D97-AF65-F5344CB8AC3E}">
        <p14:creationId xmlns:p14="http://schemas.microsoft.com/office/powerpoint/2010/main" val="2723875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407DB-5FC0-4990-9C9C-3BF0A7FA127D}"/>
              </a:ext>
            </a:extLst>
          </p:cNvPr>
          <p:cNvSpPr>
            <a:spLocks noGrp="1"/>
          </p:cNvSpPr>
          <p:nvPr>
            <p:ph type="title"/>
          </p:nvPr>
        </p:nvSpPr>
        <p:spPr/>
        <p:txBody>
          <a:bodyPr>
            <a:normAutofit fontScale="90000"/>
          </a:bodyPr>
          <a:lstStyle/>
          <a:p>
            <a:br>
              <a:rPr lang="pt-BR" sz="3200" dirty="0"/>
            </a:br>
            <a:br>
              <a:rPr lang="pt-BR" sz="3200" dirty="0"/>
            </a:br>
            <a:r>
              <a:rPr lang="pt-BR" sz="3200" dirty="0"/>
              <a:t>O conceito de empregado na Consolidação das Leis Trabalhistas - CLT.</a:t>
            </a:r>
            <a:br>
              <a:rPr lang="pt-BR" sz="3200" dirty="0"/>
            </a:br>
            <a:br>
              <a:rPr lang="pt-BR" sz="3200" dirty="0"/>
            </a:br>
            <a:endParaRPr lang="pt-BR" sz="3200" dirty="0"/>
          </a:p>
        </p:txBody>
      </p:sp>
      <p:sp>
        <p:nvSpPr>
          <p:cNvPr id="3" name="Espaço Reservado para Conteúdo 2">
            <a:extLst>
              <a:ext uri="{FF2B5EF4-FFF2-40B4-BE49-F238E27FC236}">
                <a16:creationId xmlns:a16="http://schemas.microsoft.com/office/drawing/2014/main" id="{187F7088-467D-4D6E-82EF-B6DCFDE3C722}"/>
              </a:ext>
            </a:extLst>
          </p:cNvPr>
          <p:cNvSpPr>
            <a:spLocks noGrp="1"/>
          </p:cNvSpPr>
          <p:nvPr>
            <p:ph idx="1"/>
          </p:nvPr>
        </p:nvSpPr>
        <p:spPr/>
        <p:txBody>
          <a:bodyPr>
            <a:normAutofit fontScale="92500" lnSpcReduction="10000"/>
          </a:bodyPr>
          <a:lstStyle/>
          <a:p>
            <a:r>
              <a:rPr lang="pt-BR" b="1" dirty="0">
                <a:solidFill>
                  <a:schemeClr val="bg1"/>
                </a:solidFill>
              </a:rPr>
              <a:t>3. Trabalhador Temporário:</a:t>
            </a:r>
          </a:p>
          <a:p>
            <a:pPr marL="0" indent="0">
              <a:buNone/>
            </a:pPr>
            <a:endParaRPr lang="pt-BR" b="1" dirty="0">
              <a:solidFill>
                <a:schemeClr val="bg1"/>
              </a:solidFill>
            </a:endParaRPr>
          </a:p>
          <a:p>
            <a:r>
              <a:rPr lang="pt-BR" dirty="0">
                <a:solidFill>
                  <a:schemeClr val="bg1"/>
                </a:solidFill>
              </a:rPr>
              <a:t>Criado pela Lei nº 6019, de 03 de janeiro de 1974, e regulamentado pelo Decreto 73841/74.</a:t>
            </a:r>
          </a:p>
          <a:p>
            <a:r>
              <a:rPr lang="pt-BR" b="1" dirty="0">
                <a:solidFill>
                  <a:schemeClr val="bg1"/>
                </a:solidFill>
              </a:rPr>
              <a:t>O trabalho temporário é aquele prestado por pessoa física a uma empresa, para atender à necessidade transitória de substituição de seu pessoal regular e permanente ou a acréscimo extraordinário de serviços</a:t>
            </a:r>
            <a:r>
              <a:rPr lang="pt-BR" dirty="0">
                <a:solidFill>
                  <a:schemeClr val="bg1"/>
                </a:solidFill>
              </a:rPr>
              <a:t>, consoante dispõe o art. 2º da Lei nº 6019/74.   </a:t>
            </a:r>
          </a:p>
          <a:p>
            <a:pPr marL="0" indent="0">
              <a:buNone/>
            </a:pPr>
            <a:endParaRPr lang="pt-BR" dirty="0">
              <a:solidFill>
                <a:schemeClr val="bg1"/>
              </a:solidFill>
            </a:endParaRPr>
          </a:p>
          <a:p>
            <a:pPr marL="0" indent="0">
              <a:buNone/>
            </a:pPr>
            <a:r>
              <a:rPr lang="pt-BR" dirty="0">
                <a:solidFill>
                  <a:schemeClr val="bg1"/>
                </a:solidFill>
              </a:rPr>
              <a:t> </a:t>
            </a:r>
          </a:p>
          <a:p>
            <a:endParaRPr lang="pt-BR" dirty="0">
              <a:solidFill>
                <a:schemeClr val="bg1"/>
              </a:solidFill>
            </a:endParaRPr>
          </a:p>
        </p:txBody>
      </p:sp>
    </p:spTree>
    <p:extLst>
      <p:ext uri="{BB962C8B-B14F-4D97-AF65-F5344CB8AC3E}">
        <p14:creationId xmlns:p14="http://schemas.microsoft.com/office/powerpoint/2010/main" val="874163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407DB-5FC0-4990-9C9C-3BF0A7FA127D}"/>
              </a:ext>
            </a:extLst>
          </p:cNvPr>
          <p:cNvSpPr>
            <a:spLocks noGrp="1"/>
          </p:cNvSpPr>
          <p:nvPr>
            <p:ph type="title"/>
          </p:nvPr>
        </p:nvSpPr>
        <p:spPr/>
        <p:txBody>
          <a:bodyPr>
            <a:normAutofit fontScale="90000"/>
          </a:bodyPr>
          <a:lstStyle/>
          <a:p>
            <a:br>
              <a:rPr lang="pt-BR" sz="3200" dirty="0"/>
            </a:br>
            <a:r>
              <a:rPr lang="pt-BR" sz="3200" dirty="0"/>
              <a:t>O conceito de empregado na Consolidação das Leis Trabalhistas - CLT.</a:t>
            </a:r>
            <a:br>
              <a:rPr lang="pt-BR" sz="3200" dirty="0"/>
            </a:br>
            <a:endParaRPr lang="pt-BR" sz="3200" dirty="0"/>
          </a:p>
        </p:txBody>
      </p:sp>
      <p:sp>
        <p:nvSpPr>
          <p:cNvPr id="3" name="Espaço Reservado para Conteúdo 2">
            <a:extLst>
              <a:ext uri="{FF2B5EF4-FFF2-40B4-BE49-F238E27FC236}">
                <a16:creationId xmlns:a16="http://schemas.microsoft.com/office/drawing/2014/main" id="{187F7088-467D-4D6E-82EF-B6DCFDE3C722}"/>
              </a:ext>
            </a:extLst>
          </p:cNvPr>
          <p:cNvSpPr>
            <a:spLocks noGrp="1"/>
          </p:cNvSpPr>
          <p:nvPr>
            <p:ph idx="1"/>
          </p:nvPr>
        </p:nvSpPr>
        <p:spPr/>
        <p:txBody>
          <a:bodyPr>
            <a:normAutofit fontScale="92500"/>
          </a:bodyPr>
          <a:lstStyle/>
          <a:p>
            <a:r>
              <a:rPr lang="pt-BR" b="1" dirty="0">
                <a:solidFill>
                  <a:schemeClr val="bg1"/>
                </a:solidFill>
              </a:rPr>
              <a:t>4. DEFINIÇÃO DE EMPRESA DE TRABALHO TEMPORÁRIO: </a:t>
            </a:r>
          </a:p>
          <a:p>
            <a:pPr marL="0" indent="0">
              <a:buNone/>
            </a:pPr>
            <a:endParaRPr lang="pt-BR" dirty="0">
              <a:solidFill>
                <a:schemeClr val="bg1"/>
              </a:solidFill>
            </a:endParaRPr>
          </a:p>
          <a:p>
            <a:r>
              <a:rPr lang="pt-BR" dirty="0">
                <a:solidFill>
                  <a:schemeClr val="bg1"/>
                </a:solidFill>
              </a:rPr>
              <a:t>Segundo o art. 4º da Lei n. 6019/74, empresa de trabalho temporário é a pessoa física ou jurídica urbana, cuja atividade consiste em colocar à disposição de outras empresas, temporariamente, trabalhadores, devidamente qualificados, por elas remunerados e assistidos. </a:t>
            </a:r>
          </a:p>
          <a:p>
            <a:r>
              <a:rPr lang="pt-BR" dirty="0">
                <a:solidFill>
                  <a:schemeClr val="bg1"/>
                </a:solidFill>
              </a:rPr>
              <a:t>O funcionamento da empresa de trabalho temporário dependerá de registro no Departamento Nacional de Mão-de-Obra do Ministério do Trabalho e Previdência Social, conforme disciplina o art. 4º do Decreto 73841/74. </a:t>
            </a:r>
          </a:p>
          <a:p>
            <a:endParaRPr lang="pt-BR" dirty="0">
              <a:solidFill>
                <a:schemeClr val="bg1"/>
              </a:solidFill>
            </a:endParaRPr>
          </a:p>
        </p:txBody>
      </p:sp>
    </p:spTree>
    <p:extLst>
      <p:ext uri="{BB962C8B-B14F-4D97-AF65-F5344CB8AC3E}">
        <p14:creationId xmlns:p14="http://schemas.microsoft.com/office/powerpoint/2010/main" val="4270693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407DB-5FC0-4990-9C9C-3BF0A7FA127D}"/>
              </a:ext>
            </a:extLst>
          </p:cNvPr>
          <p:cNvSpPr>
            <a:spLocks noGrp="1"/>
          </p:cNvSpPr>
          <p:nvPr>
            <p:ph type="title"/>
          </p:nvPr>
        </p:nvSpPr>
        <p:spPr/>
        <p:txBody>
          <a:bodyPr>
            <a:normAutofit fontScale="90000"/>
          </a:bodyPr>
          <a:lstStyle/>
          <a:p>
            <a:br>
              <a:rPr lang="pt-BR" sz="3200" dirty="0"/>
            </a:br>
            <a:br>
              <a:rPr lang="pt-BR" sz="3200" dirty="0"/>
            </a:br>
            <a:r>
              <a:rPr lang="pt-BR" sz="3200" dirty="0"/>
              <a:t>O conceito de empregado na Consolidação das Leis Trabalhistas - CLT.</a:t>
            </a:r>
            <a:br>
              <a:rPr lang="pt-BR" sz="3200" dirty="0"/>
            </a:br>
            <a:br>
              <a:rPr lang="pt-BR" sz="3200" dirty="0"/>
            </a:br>
            <a:endParaRPr lang="pt-BR" sz="3200" dirty="0"/>
          </a:p>
        </p:txBody>
      </p:sp>
      <p:sp>
        <p:nvSpPr>
          <p:cNvPr id="3" name="Espaço Reservado para Conteúdo 2">
            <a:extLst>
              <a:ext uri="{FF2B5EF4-FFF2-40B4-BE49-F238E27FC236}">
                <a16:creationId xmlns:a16="http://schemas.microsoft.com/office/drawing/2014/main" id="{187F7088-467D-4D6E-82EF-B6DCFDE3C722}"/>
              </a:ext>
            </a:extLst>
          </p:cNvPr>
          <p:cNvSpPr>
            <a:spLocks noGrp="1"/>
          </p:cNvSpPr>
          <p:nvPr>
            <p:ph idx="1"/>
          </p:nvPr>
        </p:nvSpPr>
        <p:spPr/>
        <p:txBody>
          <a:bodyPr>
            <a:normAutofit/>
          </a:bodyPr>
          <a:lstStyle/>
          <a:p>
            <a:r>
              <a:rPr lang="pt-BR" b="1" dirty="0">
                <a:solidFill>
                  <a:schemeClr val="bg1"/>
                </a:solidFill>
              </a:rPr>
              <a:t>5. DEFINIÇÃO DE EMPRESA TOMADORA DE SERVIÇO OU CLIENTE:</a:t>
            </a:r>
          </a:p>
          <a:p>
            <a:pPr marL="0" indent="0">
              <a:buNone/>
            </a:pPr>
            <a:r>
              <a:rPr lang="pt-BR" b="1" dirty="0">
                <a:solidFill>
                  <a:schemeClr val="bg1"/>
                </a:solidFill>
              </a:rPr>
              <a:t> </a:t>
            </a:r>
          </a:p>
          <a:p>
            <a:r>
              <a:rPr lang="pt-BR" dirty="0">
                <a:solidFill>
                  <a:schemeClr val="bg1"/>
                </a:solidFill>
              </a:rPr>
              <a:t>De acordo com a redação do art. 14 do Decreto 73841/74, considera-se empresa tomadora de serviço ou cliente, para os efeitos deste Decreto; </a:t>
            </a:r>
            <a:r>
              <a:rPr lang="pt-BR" b="1" dirty="0">
                <a:solidFill>
                  <a:schemeClr val="bg1"/>
                </a:solidFill>
              </a:rPr>
              <a:t>a pessoa física ou jurídica que, em virtude de necessidade transitória de substituição de seu pessoal regular e permanente ou de acréscimo extraordinário de tarefas, contrate locação de mão-de-obra com empresa de trabalho temporário</a:t>
            </a:r>
            <a:r>
              <a:rPr lang="pt-BR" dirty="0">
                <a:solidFill>
                  <a:schemeClr val="bg1"/>
                </a:solidFill>
              </a:rPr>
              <a:t>. </a:t>
            </a:r>
          </a:p>
          <a:p>
            <a:endParaRPr lang="pt-BR" dirty="0">
              <a:solidFill>
                <a:schemeClr val="bg1"/>
              </a:solidFill>
            </a:endParaRPr>
          </a:p>
        </p:txBody>
      </p:sp>
    </p:spTree>
    <p:extLst>
      <p:ext uri="{BB962C8B-B14F-4D97-AF65-F5344CB8AC3E}">
        <p14:creationId xmlns:p14="http://schemas.microsoft.com/office/powerpoint/2010/main" val="1303812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407DB-5FC0-4990-9C9C-3BF0A7FA127D}"/>
              </a:ext>
            </a:extLst>
          </p:cNvPr>
          <p:cNvSpPr>
            <a:spLocks noGrp="1"/>
          </p:cNvSpPr>
          <p:nvPr>
            <p:ph type="title"/>
          </p:nvPr>
        </p:nvSpPr>
        <p:spPr/>
        <p:txBody>
          <a:bodyPr>
            <a:normAutofit fontScale="90000"/>
          </a:bodyPr>
          <a:lstStyle/>
          <a:p>
            <a:br>
              <a:rPr lang="pt-BR" sz="3200" dirty="0"/>
            </a:br>
            <a:br>
              <a:rPr lang="pt-BR" sz="3200" dirty="0"/>
            </a:br>
            <a:r>
              <a:rPr lang="pt-BR" sz="3200" dirty="0"/>
              <a:t>O conceito de empregado na Consolidação das Leis Trabalhistas - CLT.</a:t>
            </a:r>
            <a:br>
              <a:rPr lang="pt-BR" sz="3200" dirty="0"/>
            </a:br>
            <a:br>
              <a:rPr lang="pt-BR" sz="3200" dirty="0"/>
            </a:br>
            <a:endParaRPr lang="pt-BR" sz="3200" dirty="0"/>
          </a:p>
        </p:txBody>
      </p:sp>
      <p:sp>
        <p:nvSpPr>
          <p:cNvPr id="3" name="Espaço Reservado para Conteúdo 2">
            <a:extLst>
              <a:ext uri="{FF2B5EF4-FFF2-40B4-BE49-F238E27FC236}">
                <a16:creationId xmlns:a16="http://schemas.microsoft.com/office/drawing/2014/main" id="{187F7088-467D-4D6E-82EF-B6DCFDE3C722}"/>
              </a:ext>
            </a:extLst>
          </p:cNvPr>
          <p:cNvSpPr>
            <a:spLocks noGrp="1"/>
          </p:cNvSpPr>
          <p:nvPr>
            <p:ph idx="1"/>
          </p:nvPr>
        </p:nvSpPr>
        <p:spPr/>
        <p:txBody>
          <a:bodyPr>
            <a:normAutofit/>
          </a:bodyPr>
          <a:lstStyle/>
          <a:p>
            <a:r>
              <a:rPr lang="pt-BR" dirty="0">
                <a:solidFill>
                  <a:schemeClr val="bg1"/>
                </a:solidFill>
              </a:rPr>
              <a:t>6. DEFINIÇÃO DE TRABALHADOR TEMPORÁRIO:</a:t>
            </a:r>
          </a:p>
          <a:p>
            <a:pPr marL="0" indent="0">
              <a:buNone/>
            </a:pPr>
            <a:r>
              <a:rPr lang="pt-BR" dirty="0">
                <a:solidFill>
                  <a:schemeClr val="bg1"/>
                </a:solidFill>
              </a:rPr>
              <a:t> </a:t>
            </a:r>
          </a:p>
          <a:p>
            <a:r>
              <a:rPr lang="pt-BR" dirty="0">
                <a:solidFill>
                  <a:schemeClr val="bg1"/>
                </a:solidFill>
              </a:rPr>
              <a:t>Dispõe o art. 16 do </a:t>
            </a:r>
            <a:r>
              <a:rPr lang="pt-BR" b="1" dirty="0">
                <a:solidFill>
                  <a:schemeClr val="bg1"/>
                </a:solidFill>
              </a:rPr>
              <a:t>Decreto 73841/74 que considera-se trabalhador temporário aquele contratado por empresa de trabalho temporário, para prestação de serviço destinado a atender necessidade transitória de substituição de pessoal regular e permanente ou a acréscimo extraordinário de tarefas de outra empresa</a:t>
            </a:r>
            <a:r>
              <a:rPr lang="pt-BR" dirty="0">
                <a:solidFill>
                  <a:schemeClr val="bg1"/>
                </a:solidFill>
              </a:rPr>
              <a:t>. </a:t>
            </a:r>
          </a:p>
          <a:p>
            <a:endParaRPr lang="pt-BR" dirty="0">
              <a:solidFill>
                <a:schemeClr val="bg1"/>
              </a:solidFill>
            </a:endParaRPr>
          </a:p>
        </p:txBody>
      </p:sp>
    </p:spTree>
    <p:extLst>
      <p:ext uri="{BB962C8B-B14F-4D97-AF65-F5344CB8AC3E}">
        <p14:creationId xmlns:p14="http://schemas.microsoft.com/office/powerpoint/2010/main" val="2492677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407DB-5FC0-4990-9C9C-3BF0A7FA127D}"/>
              </a:ext>
            </a:extLst>
          </p:cNvPr>
          <p:cNvSpPr>
            <a:spLocks noGrp="1"/>
          </p:cNvSpPr>
          <p:nvPr>
            <p:ph type="title"/>
          </p:nvPr>
        </p:nvSpPr>
        <p:spPr/>
        <p:txBody>
          <a:bodyPr>
            <a:normAutofit fontScale="90000"/>
          </a:bodyPr>
          <a:lstStyle/>
          <a:p>
            <a:br>
              <a:rPr lang="pt-BR" sz="3200" dirty="0"/>
            </a:br>
            <a:br>
              <a:rPr lang="pt-BR" sz="3200" dirty="0"/>
            </a:br>
            <a:r>
              <a:rPr lang="pt-BR" sz="3200" dirty="0"/>
              <a:t>O conceito de empregado na Consolidação das Leis Trabalhistas - CLT.</a:t>
            </a:r>
            <a:br>
              <a:rPr lang="pt-BR" sz="3200" dirty="0"/>
            </a:br>
            <a:br>
              <a:rPr lang="pt-BR" sz="3200" dirty="0"/>
            </a:br>
            <a:endParaRPr lang="pt-BR" sz="3200" dirty="0"/>
          </a:p>
        </p:txBody>
      </p:sp>
      <p:sp>
        <p:nvSpPr>
          <p:cNvPr id="3" name="Espaço Reservado para Conteúdo 2">
            <a:extLst>
              <a:ext uri="{FF2B5EF4-FFF2-40B4-BE49-F238E27FC236}">
                <a16:creationId xmlns:a16="http://schemas.microsoft.com/office/drawing/2014/main" id="{187F7088-467D-4D6E-82EF-B6DCFDE3C722}"/>
              </a:ext>
            </a:extLst>
          </p:cNvPr>
          <p:cNvSpPr>
            <a:spLocks noGrp="1"/>
          </p:cNvSpPr>
          <p:nvPr>
            <p:ph idx="1"/>
          </p:nvPr>
        </p:nvSpPr>
        <p:spPr>
          <a:xfrm>
            <a:off x="680321" y="2336873"/>
            <a:ext cx="10078167" cy="3599316"/>
          </a:xfrm>
        </p:spPr>
        <p:txBody>
          <a:bodyPr>
            <a:normAutofit/>
          </a:bodyPr>
          <a:lstStyle/>
          <a:p>
            <a:r>
              <a:rPr lang="pt-BR" dirty="0">
                <a:solidFill>
                  <a:schemeClr val="bg1"/>
                </a:solidFill>
              </a:rPr>
              <a:t>7. CONTRATO DE TRABALHO TEMPORÁRIO:</a:t>
            </a:r>
          </a:p>
          <a:p>
            <a:pPr marL="0" indent="0">
              <a:buNone/>
            </a:pPr>
            <a:r>
              <a:rPr lang="pt-BR" dirty="0">
                <a:solidFill>
                  <a:schemeClr val="bg1"/>
                </a:solidFill>
              </a:rPr>
              <a:t> </a:t>
            </a:r>
          </a:p>
          <a:p>
            <a:pPr marL="0" indent="0">
              <a:buNone/>
            </a:pPr>
            <a:r>
              <a:rPr lang="pt-BR" dirty="0">
                <a:solidFill>
                  <a:schemeClr val="bg1"/>
                </a:solidFill>
              </a:rPr>
              <a:t>• PRAZO - O contrato de trabalho temporário é por escrito e seu prazo não pode exceder a 3 meses, podendo ser prorrogado.  </a:t>
            </a:r>
          </a:p>
          <a:p>
            <a:pPr marL="0" indent="0">
              <a:buNone/>
            </a:pPr>
            <a:r>
              <a:rPr lang="pt-BR" dirty="0">
                <a:solidFill>
                  <a:schemeClr val="bg1"/>
                </a:solidFill>
              </a:rPr>
              <a:t>• Relativamente à prorrogação, entrou em vigor, em 15 de março de 2010, a portaria n. 550 do MTE. </a:t>
            </a:r>
          </a:p>
          <a:p>
            <a:pPr marL="0" indent="0">
              <a:buNone/>
            </a:pPr>
            <a:endParaRPr lang="pt-BR" dirty="0">
              <a:solidFill>
                <a:schemeClr val="bg1"/>
              </a:solidFill>
            </a:endParaRPr>
          </a:p>
        </p:txBody>
      </p:sp>
    </p:spTree>
    <p:extLst>
      <p:ext uri="{BB962C8B-B14F-4D97-AF65-F5344CB8AC3E}">
        <p14:creationId xmlns:p14="http://schemas.microsoft.com/office/powerpoint/2010/main" val="138102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407DB-5FC0-4990-9C9C-3BF0A7FA127D}"/>
              </a:ext>
            </a:extLst>
          </p:cNvPr>
          <p:cNvSpPr>
            <a:spLocks noGrp="1"/>
          </p:cNvSpPr>
          <p:nvPr>
            <p:ph type="title"/>
          </p:nvPr>
        </p:nvSpPr>
        <p:spPr/>
        <p:txBody>
          <a:bodyPr>
            <a:normAutofit fontScale="90000"/>
          </a:bodyPr>
          <a:lstStyle/>
          <a:p>
            <a:br>
              <a:rPr lang="pt-BR" sz="3200" dirty="0"/>
            </a:br>
            <a:br>
              <a:rPr lang="pt-BR" sz="3200" dirty="0"/>
            </a:br>
            <a:r>
              <a:rPr lang="pt-BR" sz="3200" dirty="0"/>
              <a:t>O conceito de empregado na Consolidação das Leis Trabalhistas - CLT.</a:t>
            </a:r>
            <a:br>
              <a:rPr lang="pt-BR" sz="3200" dirty="0"/>
            </a:br>
            <a:br>
              <a:rPr lang="pt-BR" sz="3200" dirty="0"/>
            </a:br>
            <a:endParaRPr lang="pt-BR" sz="3200" dirty="0"/>
          </a:p>
        </p:txBody>
      </p:sp>
      <p:sp>
        <p:nvSpPr>
          <p:cNvPr id="3" name="Espaço Reservado para Conteúdo 2">
            <a:extLst>
              <a:ext uri="{FF2B5EF4-FFF2-40B4-BE49-F238E27FC236}">
                <a16:creationId xmlns:a16="http://schemas.microsoft.com/office/drawing/2014/main" id="{187F7088-467D-4D6E-82EF-B6DCFDE3C722}"/>
              </a:ext>
            </a:extLst>
          </p:cNvPr>
          <p:cNvSpPr>
            <a:spLocks noGrp="1"/>
          </p:cNvSpPr>
          <p:nvPr>
            <p:ph idx="1"/>
          </p:nvPr>
        </p:nvSpPr>
        <p:spPr/>
        <p:txBody>
          <a:bodyPr>
            <a:normAutofit/>
          </a:bodyPr>
          <a:lstStyle/>
          <a:p>
            <a:r>
              <a:rPr lang="pt-BR" dirty="0">
                <a:solidFill>
                  <a:schemeClr val="bg1"/>
                </a:solidFill>
              </a:rPr>
              <a:t>Mediante autorização prévia do órgão regional do Ministério do Trabalho e Emprego - MTE, o prazo de vigência do contrato poderá ser ampliado para até seis meses, quando:  </a:t>
            </a:r>
          </a:p>
          <a:p>
            <a:pPr marL="0" indent="0">
              <a:buNone/>
            </a:pPr>
            <a:r>
              <a:rPr lang="pt-BR" dirty="0">
                <a:solidFill>
                  <a:schemeClr val="bg1"/>
                </a:solidFill>
              </a:rPr>
              <a:t>• I - houver prorrogação do contrato de trabalho temporário, limitada a uma única vez;  </a:t>
            </a:r>
          </a:p>
          <a:p>
            <a:pPr marL="0" indent="0">
              <a:buNone/>
            </a:pPr>
            <a:r>
              <a:rPr lang="pt-BR" dirty="0">
                <a:solidFill>
                  <a:schemeClr val="bg1"/>
                </a:solidFill>
              </a:rPr>
              <a:t>• II - ocorrerem circunstâncias que justifiquem a celebração do contrato de trabalho temporário por período superior a três meses.</a:t>
            </a:r>
          </a:p>
        </p:txBody>
      </p:sp>
    </p:spTree>
    <p:extLst>
      <p:ext uri="{BB962C8B-B14F-4D97-AF65-F5344CB8AC3E}">
        <p14:creationId xmlns:p14="http://schemas.microsoft.com/office/powerpoint/2010/main" val="2182554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407DB-5FC0-4990-9C9C-3BF0A7FA127D}"/>
              </a:ext>
            </a:extLst>
          </p:cNvPr>
          <p:cNvSpPr>
            <a:spLocks noGrp="1"/>
          </p:cNvSpPr>
          <p:nvPr>
            <p:ph type="title"/>
          </p:nvPr>
        </p:nvSpPr>
        <p:spPr/>
        <p:txBody>
          <a:bodyPr>
            <a:normAutofit fontScale="90000"/>
          </a:bodyPr>
          <a:lstStyle/>
          <a:p>
            <a:br>
              <a:rPr lang="pt-BR" sz="3200" dirty="0"/>
            </a:br>
            <a:br>
              <a:rPr lang="pt-BR" sz="3200" dirty="0"/>
            </a:br>
            <a:r>
              <a:rPr lang="pt-BR" sz="3200" dirty="0"/>
              <a:t>O conceito de empregado na Consolidação das Leis Trabalhistas - CLT.</a:t>
            </a:r>
            <a:br>
              <a:rPr lang="pt-BR" sz="3200" dirty="0"/>
            </a:br>
            <a:br>
              <a:rPr lang="pt-BR" sz="3200" dirty="0"/>
            </a:br>
            <a:endParaRPr lang="pt-BR" sz="3200" dirty="0"/>
          </a:p>
        </p:txBody>
      </p:sp>
      <p:sp>
        <p:nvSpPr>
          <p:cNvPr id="3" name="Espaço Reservado para Conteúdo 2">
            <a:extLst>
              <a:ext uri="{FF2B5EF4-FFF2-40B4-BE49-F238E27FC236}">
                <a16:creationId xmlns:a16="http://schemas.microsoft.com/office/drawing/2014/main" id="{187F7088-467D-4D6E-82EF-B6DCFDE3C722}"/>
              </a:ext>
            </a:extLst>
          </p:cNvPr>
          <p:cNvSpPr>
            <a:spLocks noGrp="1"/>
          </p:cNvSpPr>
          <p:nvPr>
            <p:ph idx="1"/>
          </p:nvPr>
        </p:nvSpPr>
        <p:spPr/>
        <p:txBody>
          <a:bodyPr>
            <a:normAutofit/>
          </a:bodyPr>
          <a:lstStyle/>
          <a:p>
            <a:r>
              <a:rPr lang="pt-BR" b="1" dirty="0">
                <a:solidFill>
                  <a:schemeClr val="bg1"/>
                </a:solidFill>
              </a:rPr>
              <a:t>7.1 ACIDENTE DE TRABALHO: </a:t>
            </a:r>
          </a:p>
          <a:p>
            <a:pPr marL="0" indent="0">
              <a:buNone/>
            </a:pPr>
            <a:endParaRPr lang="pt-BR" b="1" dirty="0">
              <a:solidFill>
                <a:schemeClr val="bg1"/>
              </a:solidFill>
            </a:endParaRPr>
          </a:p>
          <a:p>
            <a:r>
              <a:rPr lang="pt-BR" dirty="0">
                <a:solidFill>
                  <a:schemeClr val="bg1"/>
                </a:solidFill>
              </a:rPr>
              <a:t>A empresa tomadora ou cliente é obrigada a comunicar à empresa de trabalho temporário a ocorrência de todo acidente cuja vítima seja um assalariado posto à sua disposição, considerando-se local de trabalho, para efeito da legislação específica, tanto aquele onde se efetua a prestação do trabalho, quanto a sede da empresa de trabalho temporário. </a:t>
            </a:r>
          </a:p>
        </p:txBody>
      </p:sp>
    </p:spTree>
    <p:extLst>
      <p:ext uri="{BB962C8B-B14F-4D97-AF65-F5344CB8AC3E}">
        <p14:creationId xmlns:p14="http://schemas.microsoft.com/office/powerpoint/2010/main" val="1315296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407DB-5FC0-4990-9C9C-3BF0A7FA127D}"/>
              </a:ext>
            </a:extLst>
          </p:cNvPr>
          <p:cNvSpPr>
            <a:spLocks noGrp="1"/>
          </p:cNvSpPr>
          <p:nvPr>
            <p:ph type="title"/>
          </p:nvPr>
        </p:nvSpPr>
        <p:spPr/>
        <p:txBody>
          <a:bodyPr>
            <a:normAutofit fontScale="90000"/>
          </a:bodyPr>
          <a:lstStyle/>
          <a:p>
            <a:br>
              <a:rPr lang="pt-BR" sz="3200" dirty="0"/>
            </a:br>
            <a:br>
              <a:rPr lang="pt-BR" sz="3200" dirty="0"/>
            </a:br>
            <a:r>
              <a:rPr lang="pt-BR" sz="3200" dirty="0"/>
              <a:t>O conceito de empregado na Consolidação das Leis Trabalhistas - CLT.</a:t>
            </a:r>
            <a:br>
              <a:rPr lang="pt-BR" sz="3200" dirty="0"/>
            </a:br>
            <a:br>
              <a:rPr lang="pt-BR" sz="3200" dirty="0"/>
            </a:br>
            <a:endParaRPr lang="pt-BR" sz="3200" dirty="0"/>
          </a:p>
        </p:txBody>
      </p:sp>
      <p:sp>
        <p:nvSpPr>
          <p:cNvPr id="3" name="Espaço Reservado para Conteúdo 2">
            <a:extLst>
              <a:ext uri="{FF2B5EF4-FFF2-40B4-BE49-F238E27FC236}">
                <a16:creationId xmlns:a16="http://schemas.microsoft.com/office/drawing/2014/main" id="{187F7088-467D-4D6E-82EF-B6DCFDE3C722}"/>
              </a:ext>
            </a:extLst>
          </p:cNvPr>
          <p:cNvSpPr>
            <a:spLocks noGrp="1"/>
          </p:cNvSpPr>
          <p:nvPr>
            <p:ph idx="1"/>
          </p:nvPr>
        </p:nvSpPr>
        <p:spPr/>
        <p:txBody>
          <a:bodyPr>
            <a:normAutofit/>
          </a:bodyPr>
          <a:lstStyle/>
          <a:p>
            <a:r>
              <a:rPr lang="pt-BR" b="1" dirty="0">
                <a:solidFill>
                  <a:schemeClr val="bg1"/>
                </a:solidFill>
              </a:rPr>
              <a:t>7.2 FALÊNCIA DA EMPRESA DE TRABALHO TEMPORÁRIO:</a:t>
            </a:r>
          </a:p>
          <a:p>
            <a:pPr marL="0" indent="0">
              <a:buNone/>
            </a:pPr>
            <a:endParaRPr lang="pt-BR" dirty="0">
              <a:solidFill>
                <a:schemeClr val="bg1"/>
              </a:solidFill>
            </a:endParaRPr>
          </a:p>
          <a:p>
            <a:r>
              <a:rPr lang="pt-BR" dirty="0">
                <a:solidFill>
                  <a:schemeClr val="bg1"/>
                </a:solidFill>
              </a:rPr>
              <a:t>No caso de falência da empresa de trabalho temporário, a empresa tomadora ou cliente é solidariamente responsável pelo recolhimento das contribuições previdenciárias, no tocante ao tempo em que o trabalhador esteve sob suas ordens, assim como em referência ao mesmo período, pela remuneração e indenização, previstas na Lei 6019/74. </a:t>
            </a:r>
          </a:p>
        </p:txBody>
      </p:sp>
    </p:spTree>
    <p:extLst>
      <p:ext uri="{BB962C8B-B14F-4D97-AF65-F5344CB8AC3E}">
        <p14:creationId xmlns:p14="http://schemas.microsoft.com/office/powerpoint/2010/main" val="1322196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C72F5-7F44-4117-B9B2-BB67EB03BFED}"/>
              </a:ext>
            </a:extLst>
          </p:cNvPr>
          <p:cNvSpPr>
            <a:spLocks noGrp="1"/>
          </p:cNvSpPr>
          <p:nvPr>
            <p:ph type="title"/>
          </p:nvPr>
        </p:nvSpPr>
        <p:spPr/>
        <p:txBody>
          <a:bodyPr>
            <a:normAutofit fontScale="90000"/>
          </a:bodyPr>
          <a:lstStyle/>
          <a:p>
            <a:br>
              <a:rPr lang="pt-BR" dirty="0"/>
            </a:br>
            <a:br>
              <a:rPr lang="pt-BR" dirty="0"/>
            </a:br>
            <a:r>
              <a:rPr lang="pt-BR" dirty="0"/>
              <a:t>O conceito de empregado na Consolidação das Leis Trabalhistas - CLT.</a:t>
            </a:r>
            <a:br>
              <a:rPr lang="pt-BR" dirty="0"/>
            </a:br>
            <a:br>
              <a:rPr lang="pt-BR" dirty="0"/>
            </a:br>
            <a:endParaRPr lang="pt-BR" dirty="0"/>
          </a:p>
        </p:txBody>
      </p:sp>
      <p:sp>
        <p:nvSpPr>
          <p:cNvPr id="4" name="Espaço Reservado para Conteúdo 3">
            <a:extLst>
              <a:ext uri="{FF2B5EF4-FFF2-40B4-BE49-F238E27FC236}">
                <a16:creationId xmlns:a16="http://schemas.microsoft.com/office/drawing/2014/main" id="{7883AF94-229A-4680-9EAE-EA915BFC62D6}"/>
              </a:ext>
            </a:extLst>
          </p:cNvPr>
          <p:cNvSpPr>
            <a:spLocks noGrp="1"/>
          </p:cNvSpPr>
          <p:nvPr>
            <p:ph idx="1"/>
          </p:nvPr>
        </p:nvSpPr>
        <p:spPr/>
        <p:txBody>
          <a:bodyPr>
            <a:normAutofit fontScale="85000" lnSpcReduction="20000"/>
          </a:bodyPr>
          <a:lstStyle/>
          <a:p>
            <a:pPr marL="0" indent="0">
              <a:buNone/>
            </a:pPr>
            <a:r>
              <a:rPr lang="pt-BR" dirty="0">
                <a:solidFill>
                  <a:schemeClr val="bg1"/>
                </a:solidFill>
              </a:rPr>
              <a:t>• </a:t>
            </a:r>
            <a:r>
              <a:rPr lang="pt-BR" b="1" dirty="0">
                <a:solidFill>
                  <a:schemeClr val="bg1"/>
                </a:solidFill>
              </a:rPr>
              <a:t>7.3 REGISTRO DA EMPRESA DE TRABALHO TEMPORÁRIO NO MINISTÉRIO DO TRABALHO:</a:t>
            </a:r>
          </a:p>
          <a:p>
            <a:pPr marL="0" indent="0">
              <a:buNone/>
            </a:pPr>
            <a:endParaRPr lang="pt-BR" dirty="0">
              <a:solidFill>
                <a:schemeClr val="bg1"/>
              </a:solidFill>
            </a:endParaRPr>
          </a:p>
          <a:p>
            <a:pPr marL="0" indent="0">
              <a:buNone/>
            </a:pPr>
            <a:r>
              <a:rPr lang="pt-BR" sz="2600" dirty="0">
                <a:solidFill>
                  <a:schemeClr val="bg1"/>
                </a:solidFill>
              </a:rPr>
              <a:t>• O funcionamento da empresa de trabalho temporário dependerá de registro no Ministério do Trabalho (art. 5º da Lei nº 6019/1974).</a:t>
            </a:r>
          </a:p>
          <a:p>
            <a:pPr marL="0" indent="0">
              <a:buNone/>
            </a:pPr>
            <a:r>
              <a:rPr lang="pt-BR" sz="2600" dirty="0">
                <a:solidFill>
                  <a:schemeClr val="bg1"/>
                </a:solidFill>
              </a:rPr>
              <a:t> </a:t>
            </a:r>
          </a:p>
          <a:p>
            <a:r>
              <a:rPr lang="pt-BR" sz="2600" dirty="0">
                <a:solidFill>
                  <a:schemeClr val="bg1"/>
                </a:solidFill>
              </a:rPr>
              <a:t>Desde 1/12/2009, as solicitações de registro das empresas de trabalho temporário e de alterações contratuais, mudança de sede ou abertura de filiais, agências ou escritórios deverão ser realizadas por meio do Sistema de Registro de Empresas de Trabalho Temporário (SIRETT), conforme determinam, expressamente, os </a:t>
            </a:r>
            <a:r>
              <a:rPr lang="pt-BR" sz="2600" dirty="0" err="1">
                <a:solidFill>
                  <a:schemeClr val="bg1"/>
                </a:solidFill>
              </a:rPr>
              <a:t>arts</a:t>
            </a:r>
            <a:r>
              <a:rPr lang="pt-BR" sz="2600" dirty="0">
                <a:solidFill>
                  <a:schemeClr val="bg1"/>
                </a:solidFill>
              </a:rPr>
              <a:t>. 1º e 2º da Instrução Normativa SRT nº 14/2009.</a:t>
            </a:r>
          </a:p>
        </p:txBody>
      </p:sp>
    </p:spTree>
    <p:extLst>
      <p:ext uri="{BB962C8B-B14F-4D97-AF65-F5344CB8AC3E}">
        <p14:creationId xmlns:p14="http://schemas.microsoft.com/office/powerpoint/2010/main" val="1735373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5BA425-99F3-442B-8087-112DC3FC7F1F}"/>
              </a:ext>
            </a:extLst>
          </p:cNvPr>
          <p:cNvSpPr>
            <a:spLocks noGrp="1"/>
          </p:cNvSpPr>
          <p:nvPr>
            <p:ph type="title"/>
          </p:nvPr>
        </p:nvSpPr>
        <p:spPr/>
        <p:txBody>
          <a:bodyPr>
            <a:normAutofit fontScale="90000"/>
          </a:bodyPr>
          <a:lstStyle/>
          <a:p>
            <a:br>
              <a:rPr lang="pt-BR" dirty="0"/>
            </a:br>
            <a:r>
              <a:rPr lang="pt-BR" dirty="0"/>
              <a:t>O conceito de empregado na Consolidação das Leis Trabalhistas - CLT.</a:t>
            </a:r>
            <a:br>
              <a:rPr lang="pt-BR" dirty="0"/>
            </a:br>
            <a:endParaRPr lang="pt-BR" dirty="0"/>
          </a:p>
        </p:txBody>
      </p:sp>
      <p:sp>
        <p:nvSpPr>
          <p:cNvPr id="3" name="Espaço Reservado para Conteúdo 2">
            <a:extLst>
              <a:ext uri="{FF2B5EF4-FFF2-40B4-BE49-F238E27FC236}">
                <a16:creationId xmlns:a16="http://schemas.microsoft.com/office/drawing/2014/main" id="{E0A8B5AE-178A-43A0-8F0A-BC21225DB886}"/>
              </a:ext>
            </a:extLst>
          </p:cNvPr>
          <p:cNvSpPr>
            <a:spLocks noGrp="1"/>
          </p:cNvSpPr>
          <p:nvPr>
            <p:ph idx="1"/>
          </p:nvPr>
        </p:nvSpPr>
        <p:spPr/>
        <p:txBody>
          <a:bodyPr>
            <a:normAutofit fontScale="85000" lnSpcReduction="10000"/>
          </a:bodyPr>
          <a:lstStyle/>
          <a:p>
            <a:r>
              <a:rPr lang="pt-BR" b="1" dirty="0">
                <a:solidFill>
                  <a:schemeClr val="bg1"/>
                </a:solidFill>
              </a:rPr>
              <a:t>8. Trabalhador Rural: </a:t>
            </a:r>
            <a:r>
              <a:rPr lang="pt-BR" dirty="0">
                <a:solidFill>
                  <a:schemeClr val="bg1"/>
                </a:solidFill>
              </a:rPr>
              <a:t>O trabalho rural está regulado pela Lei nº 5.889/73, regulamentado pelo Decreto nº 73.626/74, e no artigo 7º da Constituição Federal/88. Mais recentemente, a Lei n. 11718/2008 alterou as regras relativas à contratação do trabalhador rural por pequeno prazo.</a:t>
            </a:r>
          </a:p>
          <a:p>
            <a:r>
              <a:rPr lang="pt-BR" b="1" dirty="0">
                <a:solidFill>
                  <a:schemeClr val="bg1"/>
                </a:solidFill>
              </a:rPr>
              <a:t>EMPREGADOR RURAL:</a:t>
            </a:r>
            <a:r>
              <a:rPr lang="pt-BR" dirty="0">
                <a:solidFill>
                  <a:schemeClr val="bg1"/>
                </a:solidFill>
              </a:rPr>
              <a:t> Considera-se empregador rural a pessoa física ou jurídica, proprietária ou não, que explore atividade </a:t>
            </a:r>
            <a:r>
              <a:rPr lang="pt-BR" dirty="0" err="1">
                <a:solidFill>
                  <a:schemeClr val="bg1"/>
                </a:solidFill>
              </a:rPr>
              <a:t>agroeconômica</a:t>
            </a:r>
            <a:r>
              <a:rPr lang="pt-BR" dirty="0">
                <a:solidFill>
                  <a:schemeClr val="bg1"/>
                </a:solidFill>
              </a:rPr>
              <a:t>, em caráter permanente ou temporário, diretamente ou através de prepostos e com auxílio de empregados. Equipara-se ao empregador rural, a pessoa física ou jurídica que, habitualmente, em caráter profissional e por conta de terceiros, execute serviços de natureza agrária, mediante utilização do trabalho de outrem. </a:t>
            </a:r>
          </a:p>
          <a:p>
            <a:r>
              <a:rPr lang="pt-BR" b="1" dirty="0">
                <a:solidFill>
                  <a:schemeClr val="bg1"/>
                </a:solidFill>
              </a:rPr>
              <a:t>EMPREGADO RURAL:</a:t>
            </a:r>
            <a:r>
              <a:rPr lang="pt-BR" dirty="0">
                <a:solidFill>
                  <a:schemeClr val="bg1"/>
                </a:solidFill>
              </a:rPr>
              <a:t> Empregado rural é toda a pessoa física que, em propriedade rural ou prédio rústico, presta serviços de natureza não eventual a empregador rural, sob a dependência deste e mediante salário.</a:t>
            </a:r>
          </a:p>
        </p:txBody>
      </p:sp>
    </p:spTree>
    <p:extLst>
      <p:ext uri="{BB962C8B-B14F-4D97-AF65-F5344CB8AC3E}">
        <p14:creationId xmlns:p14="http://schemas.microsoft.com/office/powerpoint/2010/main" val="4067995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E24C1-AC2F-4567-BCE5-B462CBBAA60D}"/>
              </a:ext>
            </a:extLst>
          </p:cNvPr>
          <p:cNvSpPr>
            <a:spLocks noGrp="1"/>
          </p:cNvSpPr>
          <p:nvPr>
            <p:ph type="title"/>
          </p:nvPr>
        </p:nvSpPr>
        <p:spPr/>
        <p:txBody>
          <a:bodyPr>
            <a:normAutofit fontScale="90000"/>
          </a:bodyPr>
          <a:lstStyle/>
          <a:p>
            <a:br>
              <a:rPr lang="pt-BR" dirty="0"/>
            </a:br>
            <a:r>
              <a:rPr lang="pt-BR" dirty="0"/>
              <a:t>O conceito de empregado na Consolidação das Leis Trabalhistas - CLT.</a:t>
            </a:r>
            <a:br>
              <a:rPr lang="pt-BR" dirty="0"/>
            </a:br>
            <a:endParaRPr lang="pt-BR" dirty="0"/>
          </a:p>
        </p:txBody>
      </p:sp>
      <p:sp>
        <p:nvSpPr>
          <p:cNvPr id="3" name="Espaço Reservado para Conteúdo 2">
            <a:extLst>
              <a:ext uri="{FF2B5EF4-FFF2-40B4-BE49-F238E27FC236}">
                <a16:creationId xmlns:a16="http://schemas.microsoft.com/office/drawing/2014/main" id="{CF924FF7-8054-422A-AE14-320E004956BA}"/>
              </a:ext>
            </a:extLst>
          </p:cNvPr>
          <p:cNvSpPr>
            <a:spLocks noGrp="1"/>
          </p:cNvSpPr>
          <p:nvPr>
            <p:ph idx="1"/>
          </p:nvPr>
        </p:nvSpPr>
        <p:spPr/>
        <p:txBody>
          <a:bodyPr/>
          <a:lstStyle/>
          <a:p>
            <a:r>
              <a:rPr lang="pt-BR" b="1" dirty="0">
                <a:solidFill>
                  <a:schemeClr val="bg1"/>
                </a:solidFill>
              </a:rPr>
              <a:t>9. JORNADA DE TRABALHO</a:t>
            </a:r>
            <a:r>
              <a:rPr lang="pt-BR" dirty="0">
                <a:solidFill>
                  <a:schemeClr val="bg1"/>
                </a:solidFill>
              </a:rPr>
              <a:t>: Em qualquer trabalho contínuo, de duração superior a seis horas, será obrigatória a concessão de um intervalo para repouso ou alimentação, observados os usos e costumes da região, não se computando este intervalo na duração do trabalho.</a:t>
            </a:r>
          </a:p>
          <a:p>
            <a:pPr marL="0" indent="0">
              <a:buNone/>
            </a:pPr>
            <a:r>
              <a:rPr lang="pt-BR" dirty="0">
                <a:solidFill>
                  <a:schemeClr val="bg1"/>
                </a:solidFill>
              </a:rPr>
              <a:t>• Nos serviços, caracteristicamente intermitentes, não serão computados, como de efetivo exercício, os intervalos entre uma e outra parte da execução da tarefa diária, desde que tal hipótese seja expressamente ressalvada na Carteira de Trabalho e Previdência Social.</a:t>
            </a:r>
          </a:p>
          <a:p>
            <a:endParaRPr lang="pt-BR" dirty="0"/>
          </a:p>
        </p:txBody>
      </p:sp>
    </p:spTree>
    <p:extLst>
      <p:ext uri="{BB962C8B-B14F-4D97-AF65-F5344CB8AC3E}">
        <p14:creationId xmlns:p14="http://schemas.microsoft.com/office/powerpoint/2010/main" val="797311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8446E2-AC46-41A6-B5D3-22EB3A51F36F}"/>
              </a:ext>
            </a:extLst>
          </p:cNvPr>
          <p:cNvSpPr>
            <a:spLocks noGrp="1"/>
          </p:cNvSpPr>
          <p:nvPr>
            <p:ph type="title"/>
          </p:nvPr>
        </p:nvSpPr>
        <p:spPr/>
        <p:txBody>
          <a:bodyPr>
            <a:normAutofit fontScale="90000"/>
          </a:bodyPr>
          <a:lstStyle/>
          <a:p>
            <a:br>
              <a:rPr lang="pt-BR" dirty="0"/>
            </a:br>
            <a:r>
              <a:rPr lang="pt-BR" dirty="0"/>
              <a:t>O conceito de empregado na Consolidação das Leis Trabalhistas - CLT.</a:t>
            </a:r>
            <a:br>
              <a:rPr lang="pt-BR" dirty="0"/>
            </a:br>
            <a:endParaRPr lang="pt-BR" dirty="0"/>
          </a:p>
        </p:txBody>
      </p:sp>
      <p:sp>
        <p:nvSpPr>
          <p:cNvPr id="3" name="Espaço Reservado para Conteúdo 2">
            <a:extLst>
              <a:ext uri="{FF2B5EF4-FFF2-40B4-BE49-F238E27FC236}">
                <a16:creationId xmlns:a16="http://schemas.microsoft.com/office/drawing/2014/main" id="{26F2817F-19EF-4797-987B-6FB1C6F0A820}"/>
              </a:ext>
            </a:extLst>
          </p:cNvPr>
          <p:cNvSpPr>
            <a:spLocks noGrp="1"/>
          </p:cNvSpPr>
          <p:nvPr>
            <p:ph idx="1"/>
          </p:nvPr>
        </p:nvSpPr>
        <p:spPr/>
        <p:txBody>
          <a:bodyPr/>
          <a:lstStyle/>
          <a:p>
            <a:pPr marL="0" indent="0">
              <a:buNone/>
            </a:pPr>
            <a:r>
              <a:rPr lang="pt-BR" dirty="0">
                <a:solidFill>
                  <a:schemeClr val="bg1"/>
                </a:solidFill>
              </a:rPr>
              <a:t>• Para os efeitos da lei n. 5889/73, considera-se trabalho noturno o executado entre as vinte e uma horas de um dia e as cinco horas do dia seguinte, na lavoura, e entre as vinte horas de um dia e as quatro horas do dia seguinte, na atividade pecuária. Todo trabalho noturno será acrescido de 25% (vinte e cinco por cento) sobre a remuneração normal, sendo vedado o trabalho noturno ao menor de 18 anos.</a:t>
            </a:r>
          </a:p>
        </p:txBody>
      </p:sp>
    </p:spTree>
    <p:extLst>
      <p:ext uri="{BB962C8B-B14F-4D97-AF65-F5344CB8AC3E}">
        <p14:creationId xmlns:p14="http://schemas.microsoft.com/office/powerpoint/2010/main" val="838663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856446-5FCD-436A-9BB1-E1C53799296D}"/>
              </a:ext>
            </a:extLst>
          </p:cNvPr>
          <p:cNvSpPr>
            <a:spLocks noGrp="1"/>
          </p:cNvSpPr>
          <p:nvPr>
            <p:ph type="title"/>
          </p:nvPr>
        </p:nvSpPr>
        <p:spPr/>
        <p:txBody>
          <a:bodyPr>
            <a:normAutofit fontScale="90000"/>
          </a:bodyPr>
          <a:lstStyle/>
          <a:p>
            <a:br>
              <a:rPr lang="pt-BR" dirty="0"/>
            </a:br>
            <a:r>
              <a:rPr lang="pt-BR" dirty="0"/>
              <a:t>O conceito de empregado na Consolidação das Leis Trabalhistas - CLT.</a:t>
            </a:r>
            <a:br>
              <a:rPr lang="pt-BR" dirty="0"/>
            </a:br>
            <a:endParaRPr lang="pt-BR" dirty="0"/>
          </a:p>
        </p:txBody>
      </p:sp>
      <p:sp>
        <p:nvSpPr>
          <p:cNvPr id="3" name="Espaço Reservado para Conteúdo 2">
            <a:extLst>
              <a:ext uri="{FF2B5EF4-FFF2-40B4-BE49-F238E27FC236}">
                <a16:creationId xmlns:a16="http://schemas.microsoft.com/office/drawing/2014/main" id="{A1401BAB-2D27-4F2E-8E01-D9463633817B}"/>
              </a:ext>
            </a:extLst>
          </p:cNvPr>
          <p:cNvSpPr>
            <a:spLocks noGrp="1"/>
          </p:cNvSpPr>
          <p:nvPr>
            <p:ph idx="1"/>
          </p:nvPr>
        </p:nvSpPr>
        <p:spPr/>
        <p:txBody>
          <a:bodyPr>
            <a:normAutofit fontScale="92500" lnSpcReduction="10000"/>
          </a:bodyPr>
          <a:lstStyle/>
          <a:p>
            <a:pPr marL="0" indent="0">
              <a:buNone/>
            </a:pPr>
            <a:r>
              <a:rPr lang="pt-BR" b="1" dirty="0">
                <a:solidFill>
                  <a:schemeClr val="bg1"/>
                </a:solidFill>
              </a:rPr>
              <a:t>• 10. CONTRATO RURAL DE PEQUENO PRAZO:</a:t>
            </a:r>
          </a:p>
          <a:p>
            <a:pPr marL="0" indent="0">
              <a:buNone/>
            </a:pPr>
            <a:r>
              <a:rPr lang="pt-BR" b="1" dirty="0">
                <a:solidFill>
                  <a:schemeClr val="bg1"/>
                </a:solidFill>
              </a:rPr>
              <a:t>• NORMAS GERAIS: A Lei nº 11.718/2008 acrescenta o artigo 14-A à Lei n° 5.889/1973. </a:t>
            </a:r>
            <a:r>
              <a:rPr lang="pt-BR" dirty="0">
                <a:solidFill>
                  <a:schemeClr val="bg1"/>
                </a:solidFill>
              </a:rPr>
              <a:t>O dispositivo em referência cria novas regras para a contratação de trabalhador rural por pequeno prazo. Nesse sentido, asseveramos que o produtor rural, pessoa física, poderá realizar a contratação de trabalhador rural por pequeno prazo, para o exercício de atividades de natureza temporária.</a:t>
            </a:r>
          </a:p>
          <a:p>
            <a:r>
              <a:rPr lang="pt-BR" dirty="0">
                <a:solidFill>
                  <a:schemeClr val="bg1"/>
                </a:solidFill>
              </a:rPr>
              <a:t>Logo, o contrato rural de pequeno prazo só poderá ser realizado por produtor rural pessoa física. É vedada a feitura de contrato de trabalhador rural por pequeno prazo com produtores rurais pessoas jurídicas e agroindústrias, consoante expressamente previsto no art. 14-A, § 4º, da Lei nº 5.889/1973.</a:t>
            </a:r>
          </a:p>
        </p:txBody>
      </p:sp>
    </p:spTree>
    <p:extLst>
      <p:ext uri="{BB962C8B-B14F-4D97-AF65-F5344CB8AC3E}">
        <p14:creationId xmlns:p14="http://schemas.microsoft.com/office/powerpoint/2010/main" val="2885213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425514-4D6D-4DB6-A482-4ED1530E1A97}"/>
              </a:ext>
            </a:extLst>
          </p:cNvPr>
          <p:cNvSpPr>
            <a:spLocks noGrp="1"/>
          </p:cNvSpPr>
          <p:nvPr>
            <p:ph type="title"/>
          </p:nvPr>
        </p:nvSpPr>
        <p:spPr/>
        <p:txBody>
          <a:bodyPr>
            <a:normAutofit fontScale="90000"/>
          </a:bodyPr>
          <a:lstStyle/>
          <a:p>
            <a:br>
              <a:rPr lang="pt-BR" dirty="0"/>
            </a:br>
            <a:r>
              <a:rPr lang="pt-BR" dirty="0"/>
              <a:t>O conceito de empregado na Consolidação das Leis Trabalhistas - CLT.</a:t>
            </a:r>
            <a:br>
              <a:rPr lang="pt-BR" dirty="0"/>
            </a:br>
            <a:endParaRPr lang="pt-BR" dirty="0"/>
          </a:p>
        </p:txBody>
      </p:sp>
      <p:sp>
        <p:nvSpPr>
          <p:cNvPr id="3" name="Espaço Reservado para Conteúdo 2">
            <a:extLst>
              <a:ext uri="{FF2B5EF4-FFF2-40B4-BE49-F238E27FC236}">
                <a16:creationId xmlns:a16="http://schemas.microsoft.com/office/drawing/2014/main" id="{257F79BA-465B-4DBD-9796-BEBF4AC9A534}"/>
              </a:ext>
            </a:extLst>
          </p:cNvPr>
          <p:cNvSpPr>
            <a:spLocks noGrp="1"/>
          </p:cNvSpPr>
          <p:nvPr>
            <p:ph idx="1"/>
          </p:nvPr>
        </p:nvSpPr>
        <p:spPr/>
        <p:txBody>
          <a:bodyPr>
            <a:normAutofit fontScale="92500"/>
          </a:bodyPr>
          <a:lstStyle/>
          <a:p>
            <a:r>
              <a:rPr lang="pt-BR" b="1" dirty="0">
                <a:solidFill>
                  <a:schemeClr val="bg1"/>
                </a:solidFill>
              </a:rPr>
              <a:t>10.1 PRAZO MÁXIMO DO CONTRATO POR PEQUENO PRAZO</a:t>
            </a:r>
            <a:r>
              <a:rPr lang="pt-BR" dirty="0">
                <a:solidFill>
                  <a:schemeClr val="bg1"/>
                </a:solidFill>
              </a:rPr>
              <a:t>: Conforme o art. 14 A, § 1°, da Lei n° 5.889/1973, o contrato de trabalho por pequeno prazo terá duração máxima de dois meses, dentro do período de um ano. O contrato que vigorar por mais de dois meses dentro de um ano será convertido em contrato por prazo indeterminado.</a:t>
            </a:r>
          </a:p>
          <a:p>
            <a:r>
              <a:rPr lang="pt-BR" b="1" dirty="0">
                <a:solidFill>
                  <a:schemeClr val="bg1"/>
                </a:solidFill>
              </a:rPr>
              <a:t>10.2 DIREITOS TRABALHISTAS DO TRABALHADOR RURAL CONTRATADO POR PEQUENO PRAZO: </a:t>
            </a:r>
            <a:r>
              <a:rPr lang="pt-BR" dirty="0">
                <a:solidFill>
                  <a:schemeClr val="bg1"/>
                </a:solidFill>
              </a:rPr>
              <a:t>O art. 14-A, § 8°, da Lei n° 5.889/1973 diz que são assegurados ao trabalhador rural contratado por pequeno prazo, além da remuneração equivalente à do trabalhador rural permanente, os demais direitos de natureza trabalhista.</a:t>
            </a:r>
          </a:p>
        </p:txBody>
      </p:sp>
    </p:spTree>
    <p:extLst>
      <p:ext uri="{BB962C8B-B14F-4D97-AF65-F5344CB8AC3E}">
        <p14:creationId xmlns:p14="http://schemas.microsoft.com/office/powerpoint/2010/main" val="2941336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7D811-8DA4-4C17-93E9-9A135F65168A}"/>
              </a:ext>
            </a:extLst>
          </p:cNvPr>
          <p:cNvSpPr>
            <a:spLocks noGrp="1"/>
          </p:cNvSpPr>
          <p:nvPr>
            <p:ph type="title"/>
          </p:nvPr>
        </p:nvSpPr>
        <p:spPr/>
        <p:txBody>
          <a:bodyPr>
            <a:normAutofit fontScale="90000"/>
          </a:bodyPr>
          <a:lstStyle/>
          <a:p>
            <a:br>
              <a:rPr lang="pt-BR" dirty="0"/>
            </a:br>
            <a:r>
              <a:rPr lang="pt-BR" dirty="0"/>
              <a:t>O conceito de empregado na Consolidação das Leis Trabalhistas - CLT.</a:t>
            </a:r>
            <a:br>
              <a:rPr lang="pt-BR" dirty="0"/>
            </a:br>
            <a:endParaRPr lang="pt-BR" dirty="0"/>
          </a:p>
        </p:txBody>
      </p:sp>
      <p:sp>
        <p:nvSpPr>
          <p:cNvPr id="3" name="Espaço Reservado para Conteúdo 2">
            <a:extLst>
              <a:ext uri="{FF2B5EF4-FFF2-40B4-BE49-F238E27FC236}">
                <a16:creationId xmlns:a16="http://schemas.microsoft.com/office/drawing/2014/main" id="{6E4F96EF-4FB8-4071-9CF1-9E5C8D3A41EE}"/>
              </a:ext>
            </a:extLst>
          </p:cNvPr>
          <p:cNvSpPr>
            <a:spLocks noGrp="1"/>
          </p:cNvSpPr>
          <p:nvPr>
            <p:ph idx="1"/>
          </p:nvPr>
        </p:nvSpPr>
        <p:spPr/>
        <p:txBody>
          <a:bodyPr>
            <a:normAutofit fontScale="62500" lnSpcReduction="20000"/>
          </a:bodyPr>
          <a:lstStyle/>
          <a:p>
            <a:pPr marL="0" indent="0">
              <a:buNone/>
            </a:pPr>
            <a:r>
              <a:rPr lang="pt-BR" dirty="0">
                <a:solidFill>
                  <a:schemeClr val="bg1"/>
                </a:solidFill>
              </a:rPr>
              <a:t>• Assim, podemos elencar como direitos trabalhistas do trabalhador rural: </a:t>
            </a:r>
          </a:p>
          <a:p>
            <a:pPr marL="0" indent="0">
              <a:buNone/>
            </a:pPr>
            <a:r>
              <a:rPr lang="pt-BR" dirty="0">
                <a:solidFill>
                  <a:schemeClr val="bg1"/>
                </a:solidFill>
              </a:rPr>
              <a:t>1) Jornada de trabalho de oito horas diárias e de 44 horas semanais;</a:t>
            </a:r>
          </a:p>
          <a:p>
            <a:pPr marL="0" indent="0">
              <a:buNone/>
            </a:pPr>
            <a:r>
              <a:rPr lang="pt-BR" dirty="0">
                <a:solidFill>
                  <a:schemeClr val="bg1"/>
                </a:solidFill>
              </a:rPr>
              <a:t>2) intervalo para repouso e/ou alimentação; </a:t>
            </a:r>
          </a:p>
          <a:p>
            <a:pPr marL="0" indent="0">
              <a:buNone/>
            </a:pPr>
            <a:r>
              <a:rPr lang="pt-BR" dirty="0">
                <a:solidFill>
                  <a:schemeClr val="bg1"/>
                </a:solidFill>
              </a:rPr>
              <a:t>3) repouso semanal remunerado; </a:t>
            </a:r>
          </a:p>
          <a:p>
            <a:pPr marL="0" indent="0">
              <a:buNone/>
            </a:pPr>
            <a:r>
              <a:rPr lang="pt-BR" dirty="0">
                <a:solidFill>
                  <a:schemeClr val="bg1"/>
                </a:solidFill>
              </a:rPr>
              <a:t>4) estabilidade provisória; </a:t>
            </a:r>
          </a:p>
          <a:p>
            <a:pPr marL="0" indent="0">
              <a:buNone/>
            </a:pPr>
            <a:r>
              <a:rPr lang="pt-BR" dirty="0">
                <a:solidFill>
                  <a:schemeClr val="bg1"/>
                </a:solidFill>
              </a:rPr>
              <a:t>5) aviso prévio; </a:t>
            </a:r>
          </a:p>
          <a:p>
            <a:pPr marL="0" indent="0">
              <a:buNone/>
            </a:pPr>
            <a:r>
              <a:rPr lang="pt-BR" dirty="0">
                <a:solidFill>
                  <a:schemeClr val="bg1"/>
                </a:solidFill>
              </a:rPr>
              <a:t>6) férias com adicional de 1/3; </a:t>
            </a:r>
          </a:p>
          <a:p>
            <a:pPr marL="0" indent="0">
              <a:buNone/>
            </a:pPr>
            <a:r>
              <a:rPr lang="pt-BR" dirty="0">
                <a:solidFill>
                  <a:schemeClr val="bg1"/>
                </a:solidFill>
              </a:rPr>
              <a:t>7) 13º salário; </a:t>
            </a:r>
          </a:p>
          <a:p>
            <a:pPr marL="0" indent="0">
              <a:buNone/>
            </a:pPr>
            <a:r>
              <a:rPr lang="pt-BR" dirty="0">
                <a:solidFill>
                  <a:schemeClr val="bg1"/>
                </a:solidFill>
              </a:rPr>
              <a:t>8) FGTS, a partir de 05.10.1988, data da promulgação da Constituição Federal/88; </a:t>
            </a:r>
          </a:p>
          <a:p>
            <a:pPr marL="0" indent="0">
              <a:buNone/>
            </a:pPr>
            <a:r>
              <a:rPr lang="pt-BR" dirty="0">
                <a:solidFill>
                  <a:schemeClr val="bg1"/>
                </a:solidFill>
              </a:rPr>
              <a:t>9) adicional noturno; </a:t>
            </a:r>
          </a:p>
          <a:p>
            <a:pPr marL="0" indent="0">
              <a:buNone/>
            </a:pPr>
            <a:r>
              <a:rPr lang="pt-BR" dirty="0">
                <a:solidFill>
                  <a:schemeClr val="bg1"/>
                </a:solidFill>
              </a:rPr>
              <a:t>10) adicional de insalubridade ou periculosidade e, também, </a:t>
            </a:r>
          </a:p>
          <a:p>
            <a:pPr marL="0" indent="0">
              <a:buNone/>
            </a:pPr>
            <a:r>
              <a:rPr lang="pt-BR" dirty="0">
                <a:solidFill>
                  <a:schemeClr val="bg1"/>
                </a:solidFill>
              </a:rPr>
              <a:t>11) horas extras.</a:t>
            </a:r>
          </a:p>
        </p:txBody>
      </p:sp>
    </p:spTree>
    <p:extLst>
      <p:ext uri="{BB962C8B-B14F-4D97-AF65-F5344CB8AC3E}">
        <p14:creationId xmlns:p14="http://schemas.microsoft.com/office/powerpoint/2010/main" val="4155444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407DB-5FC0-4990-9C9C-3BF0A7FA127D}"/>
              </a:ext>
            </a:extLst>
          </p:cNvPr>
          <p:cNvSpPr>
            <a:spLocks noGrp="1"/>
          </p:cNvSpPr>
          <p:nvPr>
            <p:ph type="title"/>
          </p:nvPr>
        </p:nvSpPr>
        <p:spPr/>
        <p:txBody>
          <a:bodyPr>
            <a:normAutofit fontScale="90000"/>
          </a:bodyPr>
          <a:lstStyle/>
          <a:p>
            <a:br>
              <a:rPr lang="pt-BR" sz="3200" dirty="0"/>
            </a:br>
            <a:r>
              <a:rPr lang="pt-BR" sz="3200" dirty="0"/>
              <a:t>O conceito de empregado na Consolidação das Leis Trabalhistas - CLT.</a:t>
            </a:r>
            <a:br>
              <a:rPr lang="pt-BR" sz="3200" dirty="0"/>
            </a:br>
            <a:endParaRPr lang="pt-BR" sz="3200" dirty="0"/>
          </a:p>
        </p:txBody>
      </p:sp>
      <p:sp>
        <p:nvSpPr>
          <p:cNvPr id="3" name="Espaço Reservado para Conteúdo 2">
            <a:extLst>
              <a:ext uri="{FF2B5EF4-FFF2-40B4-BE49-F238E27FC236}">
                <a16:creationId xmlns:a16="http://schemas.microsoft.com/office/drawing/2014/main" id="{187F7088-467D-4D6E-82EF-B6DCFDE3C722}"/>
              </a:ext>
            </a:extLst>
          </p:cNvPr>
          <p:cNvSpPr>
            <a:spLocks noGrp="1"/>
          </p:cNvSpPr>
          <p:nvPr>
            <p:ph idx="1"/>
          </p:nvPr>
        </p:nvSpPr>
        <p:spPr/>
        <p:txBody>
          <a:bodyPr>
            <a:normAutofit/>
          </a:bodyPr>
          <a:lstStyle/>
          <a:p>
            <a:r>
              <a:rPr lang="pt-BR" b="1" dirty="0">
                <a:solidFill>
                  <a:schemeClr val="bg1"/>
                </a:solidFill>
              </a:rPr>
              <a:t>Referências</a:t>
            </a:r>
          </a:p>
          <a:p>
            <a:endParaRPr lang="pt-BR" dirty="0">
              <a:solidFill>
                <a:schemeClr val="bg1"/>
              </a:solidFill>
            </a:endParaRPr>
          </a:p>
          <a:p>
            <a:r>
              <a:rPr lang="pt-BR" dirty="0">
                <a:solidFill>
                  <a:schemeClr val="bg1"/>
                </a:solidFill>
              </a:rPr>
              <a:t>CARRION, Valentin. </a:t>
            </a:r>
            <a:r>
              <a:rPr lang="pt-BR" b="1" dirty="0">
                <a:solidFill>
                  <a:schemeClr val="bg1"/>
                </a:solidFill>
              </a:rPr>
              <a:t>CLT Comentada</a:t>
            </a:r>
            <a:r>
              <a:rPr lang="pt-BR" dirty="0">
                <a:solidFill>
                  <a:schemeClr val="bg1"/>
                </a:solidFill>
              </a:rPr>
              <a:t>. Rio de Janeiro: Forense, 2016.</a:t>
            </a:r>
          </a:p>
          <a:p>
            <a:pPr marL="0" indent="0">
              <a:buNone/>
            </a:pPr>
            <a:endParaRPr lang="pt-BR" dirty="0">
              <a:solidFill>
                <a:schemeClr val="bg1"/>
              </a:solidFill>
            </a:endParaRPr>
          </a:p>
          <a:p>
            <a:r>
              <a:rPr lang="pt-BR" dirty="0">
                <a:solidFill>
                  <a:schemeClr val="bg1"/>
                </a:solidFill>
              </a:rPr>
              <a:t>BRASIL. </a:t>
            </a:r>
            <a:r>
              <a:rPr lang="pt-BR" b="1" dirty="0">
                <a:solidFill>
                  <a:schemeClr val="bg1"/>
                </a:solidFill>
              </a:rPr>
              <a:t>Consolidação das Leis Trabalhistas</a:t>
            </a:r>
            <a:r>
              <a:rPr lang="pt-BR" dirty="0">
                <a:solidFill>
                  <a:schemeClr val="bg1"/>
                </a:solidFill>
              </a:rPr>
              <a:t>. Disponível </a:t>
            </a:r>
            <a:r>
              <a:rPr lang="pt-BR" dirty="0" err="1">
                <a:solidFill>
                  <a:schemeClr val="bg1"/>
                </a:solidFill>
              </a:rPr>
              <a:t>em:http</a:t>
            </a:r>
            <a:r>
              <a:rPr lang="pt-BR" dirty="0">
                <a:solidFill>
                  <a:schemeClr val="bg1"/>
                </a:solidFill>
              </a:rPr>
              <a:t>://www.planalto.gov.br/ccivil_03/Decreto-Lei/Del5452.htm Acessado em: 18.fev.2018.</a:t>
            </a:r>
          </a:p>
          <a:p>
            <a:pPr marL="0" indent="0">
              <a:buNone/>
            </a:pPr>
            <a:endParaRPr lang="pt-BR" dirty="0">
              <a:solidFill>
                <a:schemeClr val="bg1"/>
              </a:solidFill>
            </a:endParaRPr>
          </a:p>
          <a:p>
            <a:endParaRPr lang="pt-BR" dirty="0">
              <a:solidFill>
                <a:schemeClr val="bg1"/>
              </a:solidFill>
            </a:endParaRPr>
          </a:p>
        </p:txBody>
      </p:sp>
    </p:spTree>
    <p:extLst>
      <p:ext uri="{BB962C8B-B14F-4D97-AF65-F5344CB8AC3E}">
        <p14:creationId xmlns:p14="http://schemas.microsoft.com/office/powerpoint/2010/main" val="3221381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6A5D93-31B1-6547-8E7D-51A832E281FE}"/>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577ADDA3-53CF-A74C-A4F2-0FBA6B1E94AF}"/>
              </a:ext>
            </a:extLst>
          </p:cNvPr>
          <p:cNvSpPr>
            <a:spLocks noGrp="1"/>
          </p:cNvSpPr>
          <p:nvPr>
            <p:ph idx="1"/>
          </p:nvPr>
        </p:nvSpPr>
        <p:spPr/>
        <p:txBody>
          <a:bodyPr/>
          <a:lstStyle/>
          <a:p>
            <a:r>
              <a:rPr lang="pt-BR" dirty="0">
                <a:solidFill>
                  <a:schemeClr val="bg1"/>
                </a:solidFill>
              </a:rPr>
              <a:t>O </a:t>
            </a:r>
            <a:r>
              <a:rPr lang="pt-BR" b="1" dirty="0">
                <a:solidFill>
                  <a:srgbClr val="C00000"/>
                </a:solidFill>
              </a:rPr>
              <a:t>conceito de empregador </a:t>
            </a:r>
            <a:r>
              <a:rPr lang="pt-BR" dirty="0">
                <a:solidFill>
                  <a:schemeClr val="bg1"/>
                </a:solidFill>
              </a:rPr>
              <a:t>está previsto no </a:t>
            </a:r>
            <a:r>
              <a:rPr lang="pt-BR" b="1" dirty="0">
                <a:solidFill>
                  <a:srgbClr val="C00000"/>
                </a:solidFill>
              </a:rPr>
              <a:t>artigo 2° da CLT</a:t>
            </a:r>
            <a:r>
              <a:rPr lang="pt-BR" dirty="0">
                <a:solidFill>
                  <a:schemeClr val="bg1"/>
                </a:solidFill>
              </a:rPr>
              <a:t>, que</a:t>
            </a:r>
          </a:p>
          <a:p>
            <a:pPr marL="0" indent="0">
              <a:buNone/>
            </a:pPr>
            <a:endParaRPr lang="pt-BR" dirty="0">
              <a:solidFill>
                <a:schemeClr val="bg1"/>
              </a:solidFill>
            </a:endParaRPr>
          </a:p>
          <a:p>
            <a:pPr marL="0" indent="0">
              <a:buNone/>
            </a:pPr>
            <a:r>
              <a:rPr lang="pt-BR" sz="2800" dirty="0">
                <a:solidFill>
                  <a:schemeClr val="bg1"/>
                </a:solidFill>
              </a:rPr>
              <a:t>“considera como empregador a empresa, individual ou coletiva, que assumindo da atividade econômica, admite, assalaria e dirige a prestação pessoal de serviço”.</a:t>
            </a:r>
          </a:p>
          <a:p>
            <a:pPr marL="0" indent="0">
              <a:buNone/>
            </a:pPr>
            <a:endParaRPr lang="pt-BR" dirty="0"/>
          </a:p>
        </p:txBody>
      </p:sp>
    </p:spTree>
    <p:extLst>
      <p:ext uri="{BB962C8B-B14F-4D97-AF65-F5344CB8AC3E}">
        <p14:creationId xmlns:p14="http://schemas.microsoft.com/office/powerpoint/2010/main" val="3517683063"/>
      </p:ext>
    </p:extLst>
  </p:cSld>
  <p:clrMapOvr>
    <a:masterClrMapping/>
  </p:clrMapOvr>
</p:sld>
</file>

<file path=ppt/theme/theme1.xml><?xml version="1.0" encoding="utf-8"?>
<a:theme xmlns:a="http://schemas.openxmlformats.org/drawingml/2006/main" name="Berlim">
  <a:themeElements>
    <a:clrScheme name="Berlin">
      <a:dk1>
        <a:sysClr val="windowText" lastClr="000000"/>
      </a:dk1>
      <a:lt1>
        <a:sysClr val="window" lastClr="FFFFFF"/>
      </a:lt1>
      <a:dk2>
        <a:srgbClr val="1F8094"/>
      </a:dk2>
      <a:lt2>
        <a:srgbClr val="E7E6E6"/>
      </a:lt2>
      <a:accent1>
        <a:srgbClr val="39CDE7"/>
      </a:accent1>
      <a:accent2>
        <a:srgbClr val="60DE72"/>
      </a:accent2>
      <a:accent3>
        <a:srgbClr val="DDCC64"/>
      </a:accent3>
      <a:accent4>
        <a:srgbClr val="F49D50"/>
      </a:accent4>
      <a:accent5>
        <a:srgbClr val="E44951"/>
      </a:accent5>
      <a:accent6>
        <a:srgbClr val="D666F9"/>
      </a:accent6>
      <a:hlink>
        <a:srgbClr val="4BF7ED"/>
      </a:hlink>
      <a:folHlink>
        <a:srgbClr val="95E9F4"/>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docProps/app.xml><?xml version="1.0" encoding="utf-8"?>
<Properties xmlns="http://schemas.openxmlformats.org/officeDocument/2006/extended-properties" xmlns:vt="http://schemas.openxmlformats.org/officeDocument/2006/docPropsVTypes">
  <Template>TM04033917[[fn=Berlim]]</Template>
  <TotalTime>478</TotalTime>
  <Words>2113</Words>
  <Application>Microsoft Macintosh PowerPoint</Application>
  <PresentationFormat>Widescreen</PresentationFormat>
  <Paragraphs>121</Paragraphs>
  <Slides>24</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24</vt:i4>
      </vt:variant>
    </vt:vector>
  </HeadingPairs>
  <TitlesOfParts>
    <vt:vector size="27" baseType="lpstr">
      <vt:lpstr>Arial</vt:lpstr>
      <vt:lpstr>Trebuchet MS</vt:lpstr>
      <vt:lpstr>Berlim</vt:lpstr>
      <vt:lpstr>Direito Aplicado a Computação Prof. Dr. Donaldo de Assis Borges</vt:lpstr>
      <vt:lpstr>O conceito de empregado na Consolidação das Leis Trabalhistas - CLT. </vt:lpstr>
      <vt:lpstr>O conceito de empregado na Consolidação das Leis Trabalhistas - CLT. </vt:lpstr>
      <vt:lpstr>O conceito de empregado na Consolidação das Leis Trabalhistas - CLT. </vt:lpstr>
      <vt:lpstr>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 O conceito de empregado na Consolidação das Leis Trabalhistas - CLT. </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Direito e Legislação Social Prof. Dr. Donaldo de Assis Borges</dc:title>
  <dc:creator>Donaldo de Assis Borges</dc:creator>
  <cp:lastModifiedBy>Donaldo de Assis Borges</cp:lastModifiedBy>
  <cp:revision>10</cp:revision>
  <dcterms:created xsi:type="dcterms:W3CDTF">2018-02-08T09:40:08Z</dcterms:created>
  <dcterms:modified xsi:type="dcterms:W3CDTF">2021-09-08T23:53:58Z</dcterms:modified>
</cp:coreProperties>
</file>