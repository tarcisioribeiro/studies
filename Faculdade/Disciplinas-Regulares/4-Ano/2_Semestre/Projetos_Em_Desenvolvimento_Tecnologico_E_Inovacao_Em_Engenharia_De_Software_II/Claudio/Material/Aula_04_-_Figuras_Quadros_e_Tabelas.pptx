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5" r:id="rId1"/>
    <p:sldMasterId id="2147484182" r:id="rId2"/>
    <p:sldMasterId id="2147484194" r:id="rId3"/>
  </p:sldMasterIdLst>
  <p:notesMasterIdLst>
    <p:notesMasterId r:id="rId16"/>
  </p:notesMasterIdLst>
  <p:sldIdLst>
    <p:sldId id="364" r:id="rId4"/>
    <p:sldId id="361" r:id="rId5"/>
    <p:sldId id="363" r:id="rId6"/>
    <p:sldId id="365" r:id="rId7"/>
    <p:sldId id="367" r:id="rId8"/>
    <p:sldId id="366" r:id="rId9"/>
    <p:sldId id="368" r:id="rId10"/>
    <p:sldId id="369" r:id="rId11"/>
    <p:sldId id="370" r:id="rId12"/>
    <p:sldId id="371" r:id="rId13"/>
    <p:sldId id="372" r:id="rId14"/>
    <p:sldId id="373" r:id="rId15"/>
  </p:sldIdLst>
  <p:sldSz cx="12192000" cy="6858000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  <a:srgbClr val="FFF2BD"/>
    <a:srgbClr val="F8EFCC"/>
    <a:srgbClr val="004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6" autoAdjust="0"/>
  </p:normalViewPr>
  <p:slideViewPr>
    <p:cSldViewPr>
      <p:cViewPr>
        <p:scale>
          <a:sx n="75" d="100"/>
          <a:sy n="75" d="100"/>
        </p:scale>
        <p:origin x="874" y="2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FF836678-D8D3-4855-A2B2-8561AAC37F91}" type="datetimeFigureOut">
              <a:rPr lang="pt-BR"/>
              <a:pPr>
                <a:defRPr/>
              </a:pPr>
              <a:t>26/08/2021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fld id="{EF5A2965-88DA-4CD3-864B-B9BDFB27E2D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354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D63F0-6B88-406E-AF39-619C9CFF7C46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B765-A477-40E3-B935-B143FD774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389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68538-EDF4-40FE-9940-944A47753831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415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1" cap="all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7A850-4B93-4C0D-B3C7-4C676D41A994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6469B-0D42-4C76-8AD7-CDF9EABE8CE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92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DFAF-1DB0-4406-83B8-B2A42DC75021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1FA29-2A45-4C49-8A79-70D162FD84E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00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D16DA-D629-4C30-A1E0-D1C9C36B8ADD}" type="datetime1">
              <a:rPr lang="pt-BR" smtClean="0"/>
              <a:t>26/08/2021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E8B46-582B-4D04-892F-A8732625471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7427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C1BD0-5A09-4E72-8302-E7D137FB92A1}" type="datetime1">
              <a:rPr lang="pt-BR" smtClean="0"/>
              <a:t>26/08/2021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DFCDC-A310-4EAC-9930-8E31C88CF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122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9480F-EACE-4934-9157-841177B856C8}" type="datetime1">
              <a:rPr lang="pt-BR" smtClean="0"/>
              <a:t>26/08/2021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1E119-3741-4970-B98B-01C442AFAEB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53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E3A33-BB9E-47FA-9CB3-862F212EC3E4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E8167-31BE-4A0D-AE45-B2BF29BEFC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491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FD3A8-C580-47B3-A2A9-9461A9DA82C4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DF000-1826-407E-AFA0-4ED2BD93449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259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D00C4-F0B2-4FF7-AC34-A0CE6601DCD8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648A1-6298-45C2-BFDA-CD51793CFC1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733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458C4-AD79-4EEF-88C4-1D0D1188ED96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2010-B302-4625-BD1C-07FAAD478B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01723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rgbClr val="282F3C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47810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82F3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3216964" y="3589475"/>
            <a:ext cx="7490791" cy="0"/>
          </a:xfrm>
          <a:prstGeom prst="line">
            <a:avLst/>
          </a:prstGeom>
          <a:ln w="76200">
            <a:solidFill>
              <a:srgbClr val="282F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20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514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23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06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0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189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429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07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62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08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00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CD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rgbClr val="282F3C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47810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82F3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3216964" y="3589475"/>
            <a:ext cx="7490791" cy="0"/>
          </a:xfrm>
          <a:prstGeom prst="line">
            <a:avLst/>
          </a:prstGeom>
          <a:ln w="76200">
            <a:solidFill>
              <a:srgbClr val="282F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22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4308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rgbClr val="FCD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023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65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1078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56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582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49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0225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961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27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95000"/>
              </a:schemeClr>
            </a:gs>
            <a:gs pos="89000">
              <a:srgbClr val="FBFBFB"/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 estilo do título mestre</a:t>
            </a:r>
          </a:p>
        </p:txBody>
      </p:sp>
      <p:sp>
        <p:nvSpPr>
          <p:cNvPr id="2051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451FC300-8611-49E9-84CA-192848937630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755AC6D-C7CD-4016-9623-ACB9E55ECA3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>
              <a:lumMod val="75000"/>
            </a:schemeClr>
          </a:solidFill>
          <a:latin typeface="Trebuchet MS" panose="020B0603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E8E8E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10413"/>
            <a:ext cx="12192000" cy="1731301"/>
          </a:xfrm>
          <a:prstGeom prst="rect">
            <a:avLst/>
          </a:prstGeom>
          <a:solidFill>
            <a:srgbClr val="FCD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26/08/2021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19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2F3C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82F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82F3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82F3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10413"/>
            <a:ext cx="12192000" cy="1731301"/>
          </a:xfrm>
          <a:prstGeom prst="rect">
            <a:avLst/>
          </a:prstGeom>
          <a:solidFill>
            <a:srgbClr val="FCD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86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2F3C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82F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82F3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82F3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957828" y="4503572"/>
            <a:ext cx="1800000" cy="1800000"/>
          </a:xfrm>
          <a:prstGeom prst="rect">
            <a:avLst/>
          </a:prstGeom>
          <a:solidFill>
            <a:srgbClr val="FCD417"/>
          </a:solidFill>
          <a:ln>
            <a:noFill/>
          </a:ln>
          <a:effectLst>
            <a:outerShdw blurRad="508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+mn-cs"/>
              </a:rPr>
              <a:t>ES</a:t>
            </a:r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pt-BR" sz="4400" dirty="0">
                <a:solidFill>
                  <a:schemeClr val="bg2">
                    <a:lumMod val="25000"/>
                  </a:schemeClr>
                </a:solidFill>
              </a:rPr>
              <a:t>PROJETOS EM DESENVOLVIMENTO TECNOLÓGICO E INOVAÇÃO EM ENGENHARIA DE SOFTWARE II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Prof. Me. Claudio Paiva</a:t>
            </a:r>
          </a:p>
          <a:p>
            <a:endParaRPr lang="pt-B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04D3622-5A91-43C5-8077-D72FDBAA5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575" y="4195509"/>
            <a:ext cx="162242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10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FIGURAS, QUADROS E TABELAS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6469B-0D42-4C76-8AD7-CDF9EABE8CEB}" type="slidenum">
              <a:rPr lang="pt-BR" altLang="pt-BR" smtClean="0"/>
              <a:pPr>
                <a:defRPr/>
              </a:pPr>
              <a:t>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124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Comentários sobre definição de Tarefas para o Backlog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3</a:t>
            </a:fld>
            <a:endParaRPr lang="pt-BR" altLang="pt-BR"/>
          </a:p>
        </p:txBody>
      </p:sp>
      <p:pic>
        <p:nvPicPr>
          <p:cNvPr id="7" name="Imagem 6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97F4E691-0ED9-4E27-81AE-DCA91B0A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33" y="2659162"/>
            <a:ext cx="3571012" cy="66087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79F363-F615-4CC7-833F-97F2FFDDD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24" y="5292220"/>
            <a:ext cx="3782598" cy="54732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BE89024-0D32-46F7-BAED-22901F388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960" y="3092408"/>
            <a:ext cx="3473590" cy="50423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51FC6A-7155-42E2-9A5F-C5253D866CDB}"/>
              </a:ext>
            </a:extLst>
          </p:cNvPr>
          <p:cNvSpPr txBox="1"/>
          <p:nvPr/>
        </p:nvSpPr>
        <p:spPr>
          <a:xfrm>
            <a:off x="6614656" y="1611055"/>
            <a:ext cx="504000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pt-BR" sz="2800" dirty="0"/>
              <a:t>Boas definições de Tarefas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BE8587B-8A51-4CBC-8B50-06923A0DA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246" y="2365375"/>
            <a:ext cx="4283814" cy="46166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8EEC4D2-90FA-4607-B7A9-A82486ACE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33" y="4374627"/>
            <a:ext cx="3999487" cy="61316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9C784DD-8443-4585-B5ED-6F2F1E362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6870" y="3599101"/>
            <a:ext cx="3460952" cy="613161"/>
          </a:xfrm>
          <a:prstGeom prst="rect">
            <a:avLst/>
          </a:prstGeom>
        </p:spPr>
      </p:pic>
      <p:pic>
        <p:nvPicPr>
          <p:cNvPr id="21" name="Imagem 20" descr="Aplicativo&#10;&#10;Descrição gerada automaticamente com confiança baixa">
            <a:extLst>
              <a:ext uri="{FF2B5EF4-FFF2-40B4-BE49-F238E27FC236}">
                <a16:creationId xmlns:a16="http://schemas.microsoft.com/office/drawing/2014/main" id="{F33AFCC1-630D-4D56-B26A-A9BBBA329E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4179" y="4715774"/>
            <a:ext cx="3770423" cy="544029"/>
          </a:xfrm>
          <a:prstGeom prst="rect">
            <a:avLst/>
          </a:prstGeom>
        </p:spPr>
      </p:pic>
      <p:pic>
        <p:nvPicPr>
          <p:cNvPr id="23" name="Imagem 22" descr="Tela de celula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8AEEF262-EF8F-407F-AA74-F9959778531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4869"/>
          <a:stretch/>
        </p:blipFill>
        <p:spPr>
          <a:xfrm>
            <a:off x="6956816" y="5480355"/>
            <a:ext cx="3790672" cy="858107"/>
          </a:xfrm>
          <a:prstGeom prst="rect">
            <a:avLst/>
          </a:prstGeom>
        </p:spPr>
      </p:pic>
      <p:pic>
        <p:nvPicPr>
          <p:cNvPr id="25" name="Imagem 24" descr="Texto&#10;&#10;Descrição gerada automaticamente com confiança baixa">
            <a:extLst>
              <a:ext uri="{FF2B5EF4-FFF2-40B4-BE49-F238E27FC236}">
                <a16:creationId xmlns:a16="http://schemas.microsoft.com/office/drawing/2014/main" id="{4862650C-391E-4499-891C-348D54B50A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677" y="3862008"/>
            <a:ext cx="4500951" cy="633214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EE196EAE-7780-4BAC-A909-74A50BCF917A}"/>
              </a:ext>
            </a:extLst>
          </p:cNvPr>
          <p:cNvSpPr txBox="1"/>
          <p:nvPr/>
        </p:nvSpPr>
        <p:spPr>
          <a:xfrm>
            <a:off x="537346" y="1614388"/>
            <a:ext cx="504000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pt-BR" sz="2800" dirty="0"/>
              <a:t>Tarefas muito genéricas</a:t>
            </a:r>
          </a:p>
        </p:txBody>
      </p:sp>
    </p:spTree>
    <p:extLst>
      <p:ext uri="{BB962C8B-B14F-4D97-AF65-F5344CB8AC3E}">
        <p14:creationId xmlns:p14="http://schemas.microsoft.com/office/powerpoint/2010/main" val="22183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Figuras devem ter indicação de Título e Fonte</a:t>
            </a:r>
            <a:endParaRPr lang="pt-BR" dirty="0"/>
          </a:p>
        </p:txBody>
      </p:sp>
      <p:pic>
        <p:nvPicPr>
          <p:cNvPr id="8" name="Espaço Reservado para Conteúdo 7" descr="Diagrama&#10;&#10;Descrição gerada automaticamente">
            <a:extLst>
              <a:ext uri="{FF2B5EF4-FFF2-40B4-BE49-F238E27FC236}">
                <a16:creationId xmlns:a16="http://schemas.microsoft.com/office/drawing/2014/main" id="{7D16321D-CDF0-4B58-9378-B7EB8AE6A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9976" y="2195513"/>
            <a:ext cx="5394130" cy="4525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4</a:t>
            </a:fld>
            <a:endParaRPr lang="pt-BR" altLang="pt-BR"/>
          </a:p>
        </p:txBody>
      </p:sp>
      <p:pic>
        <p:nvPicPr>
          <p:cNvPr id="1026" name="Picture 2" descr="Setas amarelas, amarelo, seta png | PNGEgg">
            <a:extLst>
              <a:ext uri="{FF2B5EF4-FFF2-40B4-BE49-F238E27FC236}">
                <a16:creationId xmlns:a16="http://schemas.microsoft.com/office/drawing/2014/main" id="{5693C21D-D245-4AFC-A2F3-0CCFA5F95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15" b="97238" l="2000" r="97778">
                        <a14:foregroundMark x1="9333" y1="54420" x2="5111" y2="60635"/>
                        <a14:foregroundMark x1="5111" y1="60635" x2="7111" y2="67403"/>
                        <a14:foregroundMark x1="7111" y1="67403" x2="9556" y2="69751"/>
                        <a14:foregroundMark x1="2111" y1="65746" x2="4000" y2="62431"/>
                        <a14:foregroundMark x1="29778" y1="90055" x2="33667" y2="89779"/>
                        <a14:foregroundMark x1="36778" y1="97238" x2="31222" y2="92265"/>
                        <a14:foregroundMark x1="90444" y1="49033" x2="97778" y2="45994"/>
                        <a14:foregroundMark x1="97778" y1="45994" x2="89889" y2="37569"/>
                        <a14:foregroundMark x1="63222" y1="10773" x2="68444" y2="10497"/>
                        <a14:foregroundMark x1="64333" y1="9530" x2="63111" y2="33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3640">
            <a:off x="4802775" y="832741"/>
            <a:ext cx="2651259" cy="213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Setas amarelas, amarelo, seta png | PNGEgg">
            <a:extLst>
              <a:ext uri="{FF2B5EF4-FFF2-40B4-BE49-F238E27FC236}">
                <a16:creationId xmlns:a16="http://schemas.microsoft.com/office/drawing/2014/main" id="{E7AE8121-64E9-4447-8CB9-3A00CDCB1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15" b="97238" l="2000" r="97778">
                        <a14:foregroundMark x1="9333" y1="54420" x2="5111" y2="60635"/>
                        <a14:foregroundMark x1="5111" y1="60635" x2="7111" y2="67403"/>
                        <a14:foregroundMark x1="7111" y1="67403" x2="9556" y2="69751"/>
                        <a14:foregroundMark x1="2111" y1="65746" x2="4000" y2="62431"/>
                        <a14:foregroundMark x1="29778" y1="90055" x2="33667" y2="89779"/>
                        <a14:foregroundMark x1="36778" y1="97238" x2="31222" y2="92265"/>
                        <a14:foregroundMark x1="90444" y1="49033" x2="97778" y2="45994"/>
                        <a14:foregroundMark x1="97778" y1="45994" x2="89889" y2="37569"/>
                        <a14:foregroundMark x1="63222" y1="10773" x2="68444" y2="10497"/>
                        <a14:foregroundMark x1="64333" y1="9530" x2="63111" y2="33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837892">
            <a:off x="9651366" y="4783177"/>
            <a:ext cx="2651259" cy="213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E28B45-074A-43D3-8D5F-E999721D94B8}"/>
              </a:ext>
            </a:extLst>
          </p:cNvPr>
          <p:cNvSpPr txBox="1"/>
          <p:nvPr/>
        </p:nvSpPr>
        <p:spPr>
          <a:xfrm>
            <a:off x="193408" y="2492896"/>
            <a:ext cx="441711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dirty="0"/>
              <a:t>A numeração deve ser sequencial para Figuras em todo o artigo.</a:t>
            </a:r>
          </a:p>
          <a:p>
            <a:pPr>
              <a:spcBef>
                <a:spcPts val="600"/>
              </a:spcBef>
            </a:pPr>
            <a:endParaRPr lang="pt-BR" dirty="0"/>
          </a:p>
          <a:p>
            <a:pPr>
              <a:spcBef>
                <a:spcPts val="600"/>
              </a:spcBef>
            </a:pPr>
            <a:r>
              <a:rPr lang="pt-BR" dirty="0"/>
              <a:t>Inserir corretamente a Fonte da Figura e lembre-se de acrescentar nas Referências quando não for autoria própria.</a:t>
            </a:r>
          </a:p>
        </p:txBody>
      </p:sp>
    </p:spTree>
    <p:extLst>
      <p:ext uri="{BB962C8B-B14F-4D97-AF65-F5344CB8AC3E}">
        <p14:creationId xmlns:p14="http://schemas.microsoft.com/office/powerpoint/2010/main" val="335689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D96AA4EF-B776-48ED-BE87-350D27731737}"/>
              </a:ext>
            </a:extLst>
          </p:cNvPr>
          <p:cNvSpPr/>
          <p:nvPr/>
        </p:nvSpPr>
        <p:spPr>
          <a:xfrm>
            <a:off x="5807968" y="1417638"/>
            <a:ext cx="5616624" cy="5611762"/>
          </a:xfrm>
          <a:prstGeom prst="rect">
            <a:avLst/>
          </a:prstGeom>
          <a:solidFill>
            <a:srgbClr val="FBFBFB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Figuras devem ser apresentadas no texto com antecedência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5</a:t>
            </a:fld>
            <a:endParaRPr lang="pt-BR" alt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E28B45-074A-43D3-8D5F-E999721D94B8}"/>
              </a:ext>
            </a:extLst>
          </p:cNvPr>
          <p:cNvSpPr txBox="1"/>
          <p:nvPr/>
        </p:nvSpPr>
        <p:spPr>
          <a:xfrm>
            <a:off x="193408" y="2492896"/>
            <a:ext cx="441711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dirty="0"/>
              <a:t>As Figuras devem ser “chamadas” no texto antes de se apresentarem no trabalho.</a:t>
            </a:r>
          </a:p>
          <a:p>
            <a:pPr>
              <a:spcBef>
                <a:spcPts val="600"/>
              </a:spcBef>
            </a:pPr>
            <a:endParaRPr lang="pt-BR" dirty="0"/>
          </a:p>
        </p:txBody>
      </p:sp>
      <p:pic>
        <p:nvPicPr>
          <p:cNvPr id="14" name="Espaço Reservado para Conteúdo 13" descr="Texto&#10;&#10;Descrição gerada automaticamente">
            <a:extLst>
              <a:ext uri="{FF2B5EF4-FFF2-40B4-BE49-F238E27FC236}">
                <a16:creationId xmlns:a16="http://schemas.microsoft.com/office/drawing/2014/main" id="{BBBAFE57-D181-4D0F-85D9-3A49B219D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0016" y="1907266"/>
            <a:ext cx="4651363" cy="1775329"/>
          </a:xfrm>
          <a:prstGeom prst="rect">
            <a:avLst/>
          </a:prstGeom>
        </p:spPr>
      </p:pic>
      <p:pic>
        <p:nvPicPr>
          <p:cNvPr id="15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461B92EC-DEC4-4306-9902-9A59D3D03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193534" y="3801753"/>
            <a:ext cx="3088131" cy="207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ta vermelha, seta ícones do computador, linha de seta vermelha, diversos,  ângulo, texto png | PNGWing">
            <a:extLst>
              <a:ext uri="{FF2B5EF4-FFF2-40B4-BE49-F238E27FC236}">
                <a16:creationId xmlns:a16="http://schemas.microsoft.com/office/drawing/2014/main" id="{C3C9E5FE-BF78-43A7-BD84-1465C5EE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58" b="99686" l="833" r="95556">
                        <a14:foregroundMark x1="9167" y1="27358" x2="5278" y2="11635"/>
                        <a14:foregroundMark x1="5278" y1="11635" x2="1944" y2="5660"/>
                        <a14:foregroundMark x1="64722" y1="44654" x2="95833" y2="75472"/>
                        <a14:foregroundMark x1="95833" y1="75472" x2="96111" y2="76730"/>
                        <a14:foregroundMark x1="46111" y1="99686" x2="55000" y2="92767"/>
                        <a14:foregroundMark x1="833" y1="2201" x2="833" y2="12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6722958" y="-70786"/>
            <a:ext cx="34290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19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Figuras devem ter qualidade para visualização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6</a:t>
            </a:fld>
            <a:endParaRPr lang="pt-BR" alt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E28B45-074A-43D3-8D5F-E999721D94B8}"/>
              </a:ext>
            </a:extLst>
          </p:cNvPr>
          <p:cNvSpPr txBox="1"/>
          <p:nvPr/>
        </p:nvSpPr>
        <p:spPr>
          <a:xfrm>
            <a:off x="193408" y="2492896"/>
            <a:ext cx="4417114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dirty="0"/>
              <a:t>As Figuras devem ter qualidade suficiente para serem vistas ao aplicar “zoom” no texto.</a:t>
            </a:r>
          </a:p>
          <a:p>
            <a:pPr>
              <a:spcBef>
                <a:spcPts val="600"/>
              </a:spcBef>
            </a:pPr>
            <a:endParaRPr lang="pt-BR" dirty="0"/>
          </a:p>
          <a:p>
            <a:pPr>
              <a:spcBef>
                <a:spcPts val="600"/>
              </a:spcBef>
            </a:pPr>
            <a:endParaRPr lang="pt-BR" dirty="0"/>
          </a:p>
          <a:p>
            <a:pPr>
              <a:spcBef>
                <a:spcPts val="600"/>
              </a:spcBef>
            </a:pPr>
            <a:endParaRPr lang="pt-BR" dirty="0"/>
          </a:p>
        </p:txBody>
      </p:sp>
      <p:pic>
        <p:nvPicPr>
          <p:cNvPr id="22" name="Espaço Reservado para Conteúdo 2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080B8822-58FE-4A20-9A22-5B960AF46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2024" y="1494570"/>
            <a:ext cx="2319313" cy="4872685"/>
          </a:xfrm>
        </p:spPr>
      </p:pic>
      <p:pic>
        <p:nvPicPr>
          <p:cNvPr id="3076" name="Picture 4" descr="Free Vector | Oops explosion vector">
            <a:extLst>
              <a:ext uri="{FF2B5EF4-FFF2-40B4-BE49-F238E27FC236}">
                <a16:creationId xmlns:a16="http://schemas.microsoft.com/office/drawing/2014/main" id="{99BDA817-3C99-494A-965B-136083084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50163">
            <a:off x="8296923" y="2491205"/>
            <a:ext cx="2761307" cy="2761307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51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Salvar Figuras com qualidade pelo Power Point!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7</a:t>
            </a:fld>
            <a:endParaRPr lang="pt-BR" altLang="pt-BR"/>
          </a:p>
        </p:txBody>
      </p:sp>
      <p:pic>
        <p:nvPicPr>
          <p:cNvPr id="6" name="Espaço Reservado para Conteúdo 5" descr="Interface gráfica do usuário, Aplicativo, Word&#10;&#10;Descrição gerada automaticamente">
            <a:extLst>
              <a:ext uri="{FF2B5EF4-FFF2-40B4-BE49-F238E27FC236}">
                <a16:creationId xmlns:a16="http://schemas.microsoft.com/office/drawing/2014/main" id="{6471C84C-36CB-4C3F-B32C-0654AA6C5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9264" y="1854936"/>
            <a:ext cx="5596672" cy="3148128"/>
          </a:xfr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F760697-E6B5-4B98-9506-B05D67A65519}"/>
              </a:ext>
            </a:extLst>
          </p:cNvPr>
          <p:cNvSpPr txBox="1"/>
          <p:nvPr/>
        </p:nvSpPr>
        <p:spPr>
          <a:xfrm>
            <a:off x="454500" y="2060847"/>
            <a:ext cx="499342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t-BR" dirty="0"/>
              <a:t>Faça seu "Print“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t-BR" dirty="0"/>
              <a:t>Cole no Power Point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t-BR" dirty="0"/>
              <a:t>Botão direito – Salvar como imagem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t-BR" dirty="0"/>
              <a:t>Escolha </a:t>
            </a:r>
            <a:r>
              <a:rPr lang="pt-BR" dirty="0" err="1"/>
              <a:t>Metarquivo</a:t>
            </a:r>
            <a:r>
              <a:rPr lang="pt-BR" dirty="0"/>
              <a:t> Avançado (*.</a:t>
            </a:r>
            <a:r>
              <a:rPr lang="pt-BR" dirty="0" err="1"/>
              <a:t>emf</a:t>
            </a:r>
            <a:r>
              <a:rPr lang="pt-BR" dirty="0"/>
              <a:t>) ou </a:t>
            </a:r>
            <a:r>
              <a:rPr lang="pt-BR" dirty="0" err="1"/>
              <a:t>Metarquivo</a:t>
            </a:r>
            <a:r>
              <a:rPr lang="pt-BR" dirty="0"/>
              <a:t> do Windows (*</a:t>
            </a:r>
            <a:r>
              <a:rPr lang="pt-BR" dirty="0" err="1"/>
              <a:t>wmf</a:t>
            </a:r>
            <a:r>
              <a:rPr lang="pt-BR" dirty="0"/>
              <a:t>)</a:t>
            </a:r>
          </a:p>
        </p:txBody>
      </p:sp>
      <p:pic>
        <p:nvPicPr>
          <p:cNvPr id="9" name="Imagem 8" descr="Interface gráfica do usuário, Aplicativo, Word&#10;&#10;Descrição gerada automaticamente">
            <a:extLst>
              <a:ext uri="{FF2B5EF4-FFF2-40B4-BE49-F238E27FC236}">
                <a16:creationId xmlns:a16="http://schemas.microsoft.com/office/drawing/2014/main" id="{FF186944-4F21-4DAC-A87D-737ADE0EBD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0" t="41058" r="67717" b="37400"/>
          <a:stretch/>
        </p:blipFill>
        <p:spPr>
          <a:xfrm>
            <a:off x="911424" y="3933056"/>
            <a:ext cx="3744416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0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Como fazer LEGENDAS em figuras e tabelas na ABNT para TCC ou RELATÓRIOS -  Meu Professor de Física">
            <a:extLst>
              <a:ext uri="{FF2B5EF4-FFF2-40B4-BE49-F238E27FC236}">
                <a16:creationId xmlns:a16="http://schemas.microsoft.com/office/drawing/2014/main" id="{A8C2E1A8-D43B-4437-B219-D2E92C334A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3" y="2504811"/>
            <a:ext cx="5727083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Tabelas e Quadros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8</a:t>
            </a:fld>
            <a:endParaRPr lang="pt-BR" alt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071C16-03FA-4481-9C88-8B9CDE9C1CD0}"/>
              </a:ext>
            </a:extLst>
          </p:cNvPr>
          <p:cNvSpPr txBox="1"/>
          <p:nvPr/>
        </p:nvSpPr>
        <p:spPr>
          <a:xfrm>
            <a:off x="6384032" y="2200536"/>
            <a:ext cx="547357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1800" b="0" i="0" u="none" strike="noStrike" baseline="0" dirty="0">
                <a:latin typeface="Arial" panose="020B0604020202020204" pitchFamily="34" charset="0"/>
              </a:rPr>
              <a:t>Tabelas e Quadr</a:t>
            </a:r>
            <a:r>
              <a:rPr lang="pt-BR" dirty="0"/>
              <a:t>os </a:t>
            </a:r>
            <a:r>
              <a:rPr lang="pt-BR" sz="1800" b="0" i="0" u="none" strike="noStrike" baseline="0" dirty="0">
                <a:latin typeface="Arial" panose="020B0604020202020204" pitchFamily="34" charset="0"/>
              </a:rPr>
              <a:t>devem ter numeração consecutiva e independente</a:t>
            </a:r>
            <a:r>
              <a:rPr lang="pt-BR" dirty="0"/>
              <a:t>.</a:t>
            </a:r>
          </a:p>
          <a:p>
            <a:pPr>
              <a:spcBef>
                <a:spcPts val="600"/>
              </a:spcBef>
            </a:pPr>
            <a:endParaRPr lang="pt-BR" dirty="0"/>
          </a:p>
          <a:p>
            <a:pPr>
              <a:spcBef>
                <a:spcPts val="600"/>
              </a:spcBef>
            </a:pPr>
            <a:r>
              <a:rPr lang="pt-BR" dirty="0"/>
              <a:t>Devem possuir Título e Fonte;</a:t>
            </a:r>
          </a:p>
        </p:txBody>
      </p:sp>
      <p:pic>
        <p:nvPicPr>
          <p:cNvPr id="5124" name="Picture 4" descr="Setas - Arrow Clip Art PNG Image | Transparent PNG Free Download on SeekPNG">
            <a:extLst>
              <a:ext uri="{FF2B5EF4-FFF2-40B4-BE49-F238E27FC236}">
                <a16:creationId xmlns:a16="http://schemas.microsoft.com/office/drawing/2014/main" id="{DDCCC517-183E-4846-BFA4-FC9FE626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122" b="89845" l="10000" r="90000">
                        <a14:foregroundMark x1="42073" y1="9466" x2="52805" y2="10327"/>
                        <a14:foregroundMark x1="52805" y1="10327" x2="46829" y2="9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36094" flipH="1">
            <a:off x="-215163" y="419392"/>
            <a:ext cx="3701992" cy="262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Setas - Arrow Clip Art PNG Image | Transparent PNG Free Download on SeekPNG">
            <a:extLst>
              <a:ext uri="{FF2B5EF4-FFF2-40B4-BE49-F238E27FC236}">
                <a16:creationId xmlns:a16="http://schemas.microsoft.com/office/drawing/2014/main" id="{18FA9F2A-4831-4CED-8D40-C2B919BBB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122" b="89845" l="10000" r="90000">
                        <a14:foregroundMark x1="42073" y1="9466" x2="52805" y2="10327"/>
                        <a14:foregroundMark x1="52805" y1="10327" x2="46829" y2="9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48300" flipH="1">
            <a:off x="2594055" y="4057698"/>
            <a:ext cx="4105030" cy="29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99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Mas é Tabela ou Quadro?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9</a:t>
            </a:fld>
            <a:endParaRPr lang="pt-BR" altLang="pt-BR"/>
          </a:p>
        </p:txBody>
      </p:sp>
      <p:pic>
        <p:nvPicPr>
          <p:cNvPr id="6146" name="Picture 2" descr="Diferença entre Tabelas, Quadros e Figuras, de acordo com a ABNT - Diferença">
            <a:extLst>
              <a:ext uri="{FF2B5EF4-FFF2-40B4-BE49-F238E27FC236}">
                <a16:creationId xmlns:a16="http://schemas.microsoft.com/office/drawing/2014/main" id="{11665421-A5C3-4309-922A-3D721A30D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4595082"/>
            <a:ext cx="65246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Como fazer LEGENDAS em figuras e tabelas na ABNT para TCC ou RELATÓRIOS -  Meu Professor de Física">
            <a:extLst>
              <a:ext uri="{FF2B5EF4-FFF2-40B4-BE49-F238E27FC236}">
                <a16:creationId xmlns:a16="http://schemas.microsoft.com/office/drawing/2014/main" id="{DEF51151-ADEF-4B3C-B31D-1280A3F2A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740830"/>
            <a:ext cx="572708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AF4243C-86AC-45B0-9825-65995D211AC3}"/>
              </a:ext>
            </a:extLst>
          </p:cNvPr>
          <p:cNvSpPr txBox="1"/>
          <p:nvPr/>
        </p:nvSpPr>
        <p:spPr>
          <a:xfrm>
            <a:off x="7032104" y="1718620"/>
            <a:ext cx="42484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1800" b="0" i="0" u="none" strike="noStrike" baseline="0" dirty="0">
                <a:latin typeface="Arial" panose="020B0604020202020204" pitchFamily="34" charset="0"/>
              </a:rPr>
              <a:t>A ABNT NBR 14724 (2011, p. 11) afirma que a tabela é “uma forma não discursiva de apresentar informações das quais o dado numérico se destaca como informação central”.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099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Mas é Tabela ou Quadro?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10</a:t>
            </a:fld>
            <a:endParaRPr lang="pt-BR" alt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5BD9AF-67FE-44EE-82BA-F07B1697467F}"/>
              </a:ext>
            </a:extLst>
          </p:cNvPr>
          <p:cNvSpPr txBox="1"/>
          <p:nvPr/>
        </p:nvSpPr>
        <p:spPr>
          <a:xfrm>
            <a:off x="3215680" y="5013176"/>
            <a:ext cx="7128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Tabelas são formadas por linhas verticais, devem manter suas bordas laterais abertas e geralmente são utilizadas para dados quantitativos.</a:t>
            </a:r>
          </a:p>
        </p:txBody>
      </p:sp>
      <p:pic>
        <p:nvPicPr>
          <p:cNvPr id="10" name="Picture 6" descr="Como fazer LEGENDAS em figuras e tabelas na ABNT para TCC ou RELATÓRIOS -  Meu Professor de Física">
            <a:extLst>
              <a:ext uri="{FF2B5EF4-FFF2-40B4-BE49-F238E27FC236}">
                <a16:creationId xmlns:a16="http://schemas.microsoft.com/office/drawing/2014/main" id="{BEBDC4D0-6B27-44DF-B796-39B944EB4F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635522"/>
            <a:ext cx="6070493" cy="244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79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Mas é Tabela ou Quadro?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11</a:t>
            </a:fld>
            <a:endParaRPr lang="pt-BR" altLang="pt-BR"/>
          </a:p>
        </p:txBody>
      </p:sp>
      <p:pic>
        <p:nvPicPr>
          <p:cNvPr id="6146" name="Picture 2" descr="Diferença entre Tabelas, Quadros e Figuras, de acordo com a ABNT - Diferença">
            <a:extLst>
              <a:ext uri="{FF2B5EF4-FFF2-40B4-BE49-F238E27FC236}">
                <a16:creationId xmlns:a16="http://schemas.microsoft.com/office/drawing/2014/main" id="{11665421-A5C3-4309-922A-3D721A30D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495" y="3284984"/>
            <a:ext cx="9609057" cy="27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AF4243C-86AC-45B0-9825-65995D211AC3}"/>
              </a:ext>
            </a:extLst>
          </p:cNvPr>
          <p:cNvSpPr txBox="1"/>
          <p:nvPr/>
        </p:nvSpPr>
        <p:spPr>
          <a:xfrm>
            <a:off x="1775520" y="1751041"/>
            <a:ext cx="9073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1800" b="0" i="0" u="none" strike="noStrike" baseline="0" dirty="0">
                <a:latin typeface="Arial" panose="020B0604020202020204" pitchFamily="34" charset="0"/>
              </a:rPr>
              <a:t>Os quadros, por outro lado, são formados por linhas verticais e horizontais, devem ter todas suas extremidades fechadas e são mais utilizados para dados qualitativos.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8196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Figuras, Tabelas e Quadros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12</a:t>
            </a:fld>
            <a:endParaRPr lang="pt-BR" alt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AF21A1A-837F-4B47-BEF6-BF31E213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Possuem numeração sequencial e independente.</a:t>
            </a:r>
          </a:p>
          <a:p>
            <a:r>
              <a:rPr lang="pt-BR" dirty="0"/>
              <a:t>Tabelas e Quadros têm entrelinhas simples e tamanho da fonte menor do que o texto.</a:t>
            </a:r>
          </a:p>
          <a:p>
            <a:r>
              <a:rPr lang="pt-BR" dirty="0"/>
              <a:t>Devem obedecer as margens estabelecidas.</a:t>
            </a:r>
          </a:p>
        </p:txBody>
      </p:sp>
    </p:spTree>
    <p:extLst>
      <p:ext uri="{BB962C8B-B14F-4D97-AF65-F5344CB8AC3E}">
        <p14:creationId xmlns:p14="http://schemas.microsoft.com/office/powerpoint/2010/main" val="36139081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4354</TotalTime>
  <Words>325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Calibri</vt:lpstr>
      <vt:lpstr>Gadugi</vt:lpstr>
      <vt:lpstr>Trebuchet MS</vt:lpstr>
      <vt:lpstr>1_Tema do Office</vt:lpstr>
      <vt:lpstr>Tema do Office</vt:lpstr>
      <vt:lpstr>2_Tema do Office</vt:lpstr>
      <vt:lpstr>PROJETOS EM DESENVOLVIMENTO TECNOLÓGICO E INOVAÇÃO EM ENGENHARIA DE SOFTWARE II</vt:lpstr>
      <vt:lpstr>FIGURAS, QUADROS E TABELAS</vt:lpstr>
      <vt:lpstr>Comentários sobre definição de Tarefas para o Backlog</vt:lpstr>
      <vt:lpstr>Figuras devem ter indicação de Título e Fonte</vt:lpstr>
      <vt:lpstr>Figuras devem ser apresentadas no texto com antecedência</vt:lpstr>
      <vt:lpstr>Figuras devem ter qualidade para visualização</vt:lpstr>
      <vt:lpstr>Salvar Figuras com qualidade pelo Power Point!</vt:lpstr>
      <vt:lpstr>Tabelas e Quadros</vt:lpstr>
      <vt:lpstr>Mas é Tabela ou Quadro?</vt:lpstr>
      <vt:lpstr>Mas é Tabela ou Quadro?</vt:lpstr>
      <vt:lpstr>Mas é Tabela ou Quadro?</vt:lpstr>
      <vt:lpstr>Figuras, Tabelas e Quadros</vt:lpstr>
    </vt:vector>
  </TitlesOfParts>
  <Company>Senac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GCR</dc:creator>
  <cp:lastModifiedBy>CLAUDIO EDUARDO PAIVA</cp:lastModifiedBy>
  <cp:revision>290</cp:revision>
  <dcterms:created xsi:type="dcterms:W3CDTF">2012-03-14T19:46:11Z</dcterms:created>
  <dcterms:modified xsi:type="dcterms:W3CDTF">2021-08-26T15:33:19Z</dcterms:modified>
</cp:coreProperties>
</file>