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Barlow Semi Condensed" panose="020B0604020202020204" charset="0"/>
      <p:regular r:id="rId16"/>
      <p:bold r:id="rId17"/>
      <p:italic r:id="rId18"/>
      <p:boldItalic r:id="rId19"/>
    </p:embeddedFont>
    <p:embeddedFont>
      <p:font typeface="Barlow Semi Condensed Medium" panose="020B0604020202020204" charset="0"/>
      <p:regular r:id="rId20"/>
      <p:bold r:id="rId21"/>
      <p:italic r:id="rId22"/>
      <p:boldItalic r:id="rId23"/>
    </p:embeddedFont>
    <p:embeddedFont>
      <p:font typeface="Fjalla One" panose="020B0604020202020204" charset="0"/>
      <p:regular r:id="rId24"/>
    </p:embeddedFont>
    <p:embeddedFont>
      <p:font typeface="Maven Pro" panose="020B0604020202020204" charset="0"/>
      <p:regular r:id="rId25"/>
      <p:bold r:id="rId26"/>
    </p:embeddedFont>
    <p:embeddedFont>
      <p:font typeface="Nunito" panose="020B0604020202020204" charset="0"/>
      <p:regular r:id="rId27"/>
      <p:bold r:id="rId28"/>
      <p:italic r:id="rId29"/>
      <p:boldItalic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dee829e6be_0_5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dee829e6be_0_5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dee829e6be_0_8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dee829e6be_0_8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gdee829e6be_0_21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9" name="Google Shape;2159;gdee829e6be_0_21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dee829e6be_0_17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dee829e6be_0_17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dee829e6be_0_21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dee829e6be_0_21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dee829e6be_0_19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9" name="Google Shape;2179;gdee829e6be_0_19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gdee829e6be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" name="Google Shape;2193;gdee829e6be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gdee829e6be_6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9" name="Google Shape;2199;gdee829e6be_6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gdee829e6b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5" name="Google Shape;2205;gdee829e6b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gdee829e6be_0_21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1" name="Google Shape;2211;gdee829e6be_0_21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gdee829e6be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0" name="Google Shape;2300;gdee829e6be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dee829e6be_0_14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dee829e6be_0_14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2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7" name="Google Shape;277;p14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278" name="Google Shape;278;p14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14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14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1" name="Google Shape;281;p14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282" name="Google Shape;282;p1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" name="Google Shape;288;p14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89" name="Google Shape;289;p1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" name="Google Shape;293;p14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9" name="Google Shape;299;p14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00" name="Google Shape;300;p1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1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04" name="Google Shape;304;p1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14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308" name="Google Shape;308;p1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313" name="Google Shape;313;p15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15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6" name="Google Shape;316;p15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7" name="Google Shape;317;p15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19" name="Google Shape;319;p1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0" name="Google Shape;320;p1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7" name="Google Shape;327;p1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28" name="Google Shape;328;p1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2" name="Google Shape;332;p1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33" name="Google Shape;333;p1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37" name="Google Shape;337;p1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38" name="Google Shape;338;p1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339" name="Google Shape;339;p1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" name="Google Shape;345;p1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346" name="Google Shape;346;p1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0" name="Google Shape;350;p1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351" name="Google Shape;351;p1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" name="Google Shape;355;p1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356" name="Google Shape;356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9" name="Google Shape;359;p1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3" name="Google Shape;363;p1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364" name="Google Shape;364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7" name="Google Shape;367;p1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368" name="Google Shape;368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71" name="Google Shape;371;p1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1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3" name="Google Shape;373;p1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379" name="Google Shape;379;p16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380" name="Google Shape;380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3" name="Google Shape;383;p16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84" name="Google Shape;384;p1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85" name="Google Shape;385;p1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86" name="Google Shape;386;p1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87" name="Google Shape;387;p1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1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94" name="Google Shape;394;p1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8" name="Google Shape;398;p1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99" name="Google Shape;399;p1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3" name="Google Shape;403;p1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4" name="Google Shape;404;p1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405" name="Google Shape;405;p1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1" name="Google Shape;411;p1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412" name="Google Shape;412;p1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6" name="Google Shape;416;p1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417" name="Google Shape;417;p1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1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422" name="Google Shape;422;p1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5" name="Google Shape;425;p1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426" name="Google Shape;426;p1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9" name="Google Shape;429;p1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430" name="Google Shape;430;p1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1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434" name="Google Shape;434;p1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37" name="Google Shape;437;p1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" name="Google Shape;438;p1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9" name="Google Shape;439;p1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7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446" name="Google Shape;446;p17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447" name="Google Shape;447;p17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8" name="Google Shape;448;p17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17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0" name="Google Shape;450;p17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451" name="Google Shape;451;p17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452" name="Google Shape;452;p17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53" name="Google Shape;453;p17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454" name="Google Shape;454;p1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0" name="Google Shape;460;p17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461" name="Google Shape;461;p1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5" name="Google Shape;465;p17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466" name="Google Shape;466;p1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70" name="Google Shape;470;p17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71" name="Google Shape;471;p17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472" name="Google Shape;472;p1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17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479" name="Google Shape;479;p1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17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484" name="Google Shape;484;p1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8" name="Google Shape;488;p17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489" name="Google Shape;489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2" name="Google Shape;492;p17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493" name="Google Shape;493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6" name="Google Shape;496;p17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497" name="Google Shape;497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0" name="Google Shape;500;p17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501" name="Google Shape;501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04" name="Google Shape;504;p17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505;p17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6" name="Google Shape;506;p17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8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12" name="Google Shape;512;p18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3" name="Google Shape;513;p18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14" name="Google Shape;514;p18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15" name="Google Shape;515;p1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1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1" name="Google Shape;521;p18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522" name="Google Shape;522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6" name="Google Shape;526;p18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527" name="Google Shape;527;p1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31" name="Google Shape;531;p18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32" name="Google Shape;532;p18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533" name="Google Shape;533;p1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9" name="Google Shape;539;p18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540" name="Google Shape;540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4" name="Google Shape;544;p18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545" name="Google Shape;545;p1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9" name="Google Shape;549;p18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550" name="Google Shape;550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3" name="Google Shape;553;p18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554" name="Google Shape;554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7" name="Google Shape;557;p18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558" name="Google Shape;558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1" name="Google Shape;561;p18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562" name="Google Shape;562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65" name="Google Shape;565;p18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18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67" name="Google Shape;567;p18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9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73" name="Google Shape;573;p19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574" name="Google Shape;574;p1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5" name="Google Shape;575;p1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6" name="Google Shape;576;p1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77" name="Google Shape;577;p1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578" name="Google Shape;578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4" name="Google Shape;584;p1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585" name="Google Shape;585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9" name="Google Shape;589;p1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1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596" name="Google Shape;596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1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600" name="Google Shape;600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1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604" name="Google Shape;60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07" name="Google Shape;607;p1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8" name="Google Shape;608;p1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09" name="Google Shape;609;p1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610" name="Google Shape;61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6" name="Google Shape;616;p1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617" name="Google Shape;61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1" name="Google Shape;621;p1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622" name="Google Shape;62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" name="Google Shape;626;p1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627" name="Google Shape;627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0" name="Google Shape;630;p1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631" name="Google Shape;631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20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636" name="Google Shape;636;p20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8" name="Google Shape;638;p20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39" name="Google Shape;639;p2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640" name="Google Shape;640;p2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p2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2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2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4" name="Google Shape;644;p2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645" name="Google Shape;645;p2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1" name="Google Shape;651;p2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652" name="Google Shape;652;p2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6" name="Google Shape;656;p2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657" name="Google Shape;657;p2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2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662" name="Google Shape;662;p2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8" name="Google Shape;668;p2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669" name="Google Shape;669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72" name="Google Shape;672;p2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3" name="Google Shape;673;p2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4" name="Google Shape;674;p2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75" name="Google Shape;675;p2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676" name="Google Shape;676;p2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2" name="Google Shape;682;p2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683" name="Google Shape;683;p2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2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7" name="Google Shape;687;p2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688" name="Google Shape;688;p2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2" name="Google Shape;692;p2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8" name="Google Shape;698;p2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699" name="Google Shape;699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2" name="Google Shape;702;p2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703" name="Google Shape;703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1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08" name="Google Shape;708;p21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09" name="Google Shape;709;p21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0" name="Google Shape;710;p21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1" name="Google Shape;711;p21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2" name="Google Shape;712;p21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713" name="Google Shape;713;p2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21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720" name="Google Shape;720;p2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21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1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21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1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21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21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0" name="Google Shape;730;p21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731" name="Google Shape;731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21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735" name="Google Shape;735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8" name="Google Shape;738;p21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739" name="Google Shape;739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42" name="Google Shape;742;p21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3" name="Google Shape;743;p21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44" name="Google Shape;744;p21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745" name="Google Shape;745;p2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21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752" name="Google Shape;752;p2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6" name="Google Shape;756;p21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757" name="Google Shape;757;p2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1" name="Google Shape;761;p21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762" name="Google Shape;762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5" name="Google Shape;765;p21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766" name="Google Shape;766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2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771" name="Google Shape;771;p22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72" name="Google Shape;772;p22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3" name="Google Shape;773;p22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4" name="Google Shape;77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75" name="Google Shape;77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9" name="Google Shape;779;p22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780" name="Google Shape;78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86" name="Google Shape;78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7" name="Google Shape;78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88" name="Google Shape;78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89" name="Google Shape;78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96" name="Google Shape;79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801" name="Google Shape;80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5" name="Google Shape;80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06" name="Google Shape;80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9" name="Google Shape;80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810" name="Google Shape;81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814;p23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815" name="Google Shape;815;p23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8" name="Google Shape;818;p23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19" name="Google Shape;819;p23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0" name="Google Shape;820;p23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1" name="Google Shape;821;p23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2" name="Google Shape;822;p23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23" name="Google Shape;823;p23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824" name="Google Shape;824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0" name="Google Shape;830;p23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831" name="Google Shape;831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23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836" name="Google Shape;836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" name="Google Shape;840;p23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841" name="Google Shape;841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23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848" name="Google Shape;848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51" name="Google Shape;851;p23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2" name="Google Shape;852;p23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3" name="Google Shape;853;p23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54" name="Google Shape;854;p23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855" name="Google Shape;855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862" name="Google Shape;862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6" name="Google Shape;866;p23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867" name="Google Shape;867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1" name="Google Shape;871;p23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23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23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23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23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3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7" name="Google Shape;877;p23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878" name="Google Shape;878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1" name="Google Shape;881;p23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882" name="Google Shape;882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5" name="Google Shape;885;p23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886" name="Google Shape;88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9" name="Google Shape;889;p23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5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3" name="Google Shape;893;p25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94" name="Google Shape;894;p25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95" name="Google Shape;895;p25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96" name="Google Shape;896;p25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97" name="Google Shape;897;p25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98" name="Google Shape;898;p25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99" name="Google Shape;899;p25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01" name="Google Shape;901;p25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2" name="Google Shape;902;p25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3" name="Google Shape;903;p25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4" name="Google Shape;904;p25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6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26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10" name="Google Shape;910;p26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1" name="Google Shape;911;p26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2" name="Google Shape;912;p26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913" name="Google Shape;913;p26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914" name="Google Shape;914;p26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5" name="Google Shape;915;p26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16" name="Google Shape;916;p26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917" name="Google Shape;917;p2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2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2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2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1" name="Google Shape;921;p26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922" name="Google Shape;922;p2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2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2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2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26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927" name="Google Shape;927;p2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2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2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2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2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2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7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5" name="Google Shape;935;p27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36" name="Google Shape;936;p27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37" name="Google Shape;937;p27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38" name="Google Shape;938;p27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39" name="Google Shape;939;p27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40" name="Google Shape;940;p27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41" name="Google Shape;941;p27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42" name="Google Shape;942;p27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43" name="Google Shape;943;p27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4" name="Google Shape;944;p27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5" name="Google Shape;945;p27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46" name="Google Shape;946;p27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947" name="Google Shape;947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1" name="Google Shape;951;p27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952" name="Google Shape;952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8" name="Google Shape;958;p27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959" name="Google Shape;959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62" name="Google Shape;962;p27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63" name="Google Shape;963;p27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964" name="Google Shape;964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0" name="Google Shape;970;p27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971" name="Google Shape;971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5" name="Google Shape;975;p27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976" name="Google Shape;97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0" name="Google Shape;980;p28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1" name="Google Shape;981;p28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982" name="Google Shape;982;p28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83" name="Google Shape;983;p28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984" name="Google Shape;984;p2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8" name="Google Shape;988;p28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989" name="Google Shape;989;p2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95" name="Google Shape;995;p28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6" name="Google Shape;996;p28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7" name="Google Shape;997;p28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998" name="Google Shape;998;p2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4" name="Google Shape;1004;p28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005" name="Google Shape;1005;p2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28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010" name="Google Shape;1010;p2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" name="Google Shape;1014;p28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015" name="Google Shape;1015;p2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8" name="Google Shape;1018;p28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019" name="Google Shape;1019;p2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2" name="Google Shape;1022;p28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23" name="Google Shape;1023;p28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24" name="Google Shape;1024;p28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25" name="Google Shape;1025;p28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26" name="Google Shape;1026;p28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27" name="Google Shape;1027;p28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9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30" name="Google Shape;1030;p29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31" name="Google Shape;1031;p29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32" name="Google Shape;1032;p29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33" name="Google Shape;1033;p29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34" name="Google Shape;1034;p29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35" name="Google Shape;1035;p29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36" name="Google Shape;1036;p29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37" name="Google Shape;1037;p29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38" name="Google Shape;1038;p29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39" name="Google Shape;1039;p29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40" name="Google Shape;1040;p29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41" name="Google Shape;1041;p29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042" name="Google Shape;1042;p29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3" name="Google Shape;1043;p29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4" name="Google Shape;1044;p29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5" name="Google Shape;1045;p29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46" name="Google Shape;1046;p29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1047" name="Google Shape;1047;p2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3" name="Google Shape;1053;p29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1054" name="Google Shape;1054;p2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9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1059" name="Google Shape;1059;p2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3" name="Google Shape;1063;p29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1064" name="Google Shape;1064;p2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0" name="Google Shape;1070;p29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1071" name="Google Shape;1071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74" name="Google Shape;1074;p29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5" name="Google Shape;1075;p29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6" name="Google Shape;1076;p29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77" name="Google Shape;1077;p29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1078" name="Google Shape;1078;p2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4" name="Google Shape;1084;p29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1085" name="Google Shape;1085;p2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9" name="Google Shape;1089;p29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1090" name="Google Shape;1090;p2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4" name="Google Shape;1094;p29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29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29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29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29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29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0" name="Google Shape;1100;p29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01" name="Google Shape;1101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4" name="Google Shape;1104;p29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1105" name="Google Shape;1105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30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0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11" name="Google Shape;1111;p30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2" name="Google Shape;1112;p30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3" name="Google Shape;1113;p30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14" name="Google Shape;1114;p30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115" name="Google Shape;1115;p3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120" name="Google Shape;1120;p3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30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127" name="Google Shape;1127;p3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30" name="Google Shape;1130;p30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31" name="Google Shape;1131;p30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132" name="Google Shape;1132;p3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30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139" name="Google Shape;1139;p3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30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144" name="Google Shape;1144;p3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47" name="Google Shape;1147;p30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8" name="Google Shape;1148;p30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9" name="Google Shape;1149;p30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0" name="Google Shape;1150;p30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1" name="Google Shape;1151;p30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1152" name="Google Shape;1152;p3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158;p30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1159" name="Google Shape;1159;p3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3" name="Google Shape;1163;p30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1164" name="Google Shape;1164;p3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8" name="Google Shape;1168;p30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1169" name="Google Shape;1169;p3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30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1176" name="Google Shape;1176;p3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1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1181" name="Google Shape;1181;p31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82" name="Google Shape;1182;p31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pt-BR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pt-BR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pt-BR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pt-BR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pt-BR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pt-BR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pt-BR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pt-BR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183" name="Google Shape;1183;p3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4" name="Google Shape;1184;p3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5" name="Google Shape;1185;p3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3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3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188" name="Google Shape;1188;p3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4" name="Google Shape;1194;p3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195" name="Google Shape;1195;p3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9" name="Google Shape;1199;p3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200" name="Google Shape;1200;p3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4" name="Google Shape;1204;p3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205" name="Google Shape;1205;p3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1" name="Google Shape;1211;p3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212" name="Google Shape;1212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15" name="Google Shape;1215;p3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3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7" name="Google Shape;1217;p3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18" name="Google Shape;1218;p3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219" name="Google Shape;1219;p3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225;p3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226" name="Google Shape;1226;p3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0" name="Google Shape;1230;p3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231" name="Google Shape;1231;p3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5" name="Google Shape;1235;p3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3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3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3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3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3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1" name="Google Shape;1241;p3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242" name="Google Shape;1242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5" name="Google Shape;1245;p3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246" name="Google Shape;1246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3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250" name="Google Shape;1250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32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5" name="Google Shape;1255;p32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256" name="Google Shape;1256;p32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7" name="Google Shape;1257;p32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258" name="Google Shape;1258;p32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9" name="Google Shape;1259;p32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260" name="Google Shape;1260;p32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1" name="Google Shape;1261;p32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32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3" name="Google Shape;1263;p32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4" name="Google Shape;1264;p32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265" name="Google Shape;1265;p3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1" name="Google Shape;1271;p32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272" name="Google Shape;1272;p3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6" name="Google Shape;1276;p32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277" name="Google Shape;1277;p3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32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282" name="Google Shape;1282;p3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8" name="Google Shape;1288;p32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289" name="Google Shape;1289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92" name="Google Shape;1292;p32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3" name="Google Shape;1293;p32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4" name="Google Shape;1294;p32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5" name="Google Shape;1295;p32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296" name="Google Shape;1296;p3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2" name="Google Shape;1302;p32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03" name="Google Shape;1303;p3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7" name="Google Shape;1307;p32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08" name="Google Shape;1308;p3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2" name="Google Shape;1312;p32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32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32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32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32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32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8" name="Google Shape;1318;p32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19" name="Google Shape;1319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32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23" name="Google Shape;1323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6" name="Google Shape;1326;p32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27" name="Google Shape;1327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3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332" name="Google Shape;1332;p33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33" name="Google Shape;1333;p33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4" name="Google Shape;1334;p33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35" name="Google Shape;1335;p33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336" name="Google Shape;1336;p3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0" name="Google Shape;1340;p33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341" name="Google Shape;1341;p3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3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346" name="Google Shape;1346;p3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52" name="Google Shape;1352;p33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353" name="Google Shape;1353;p33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354" name="Google Shape;1354;p33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355" name="Google Shape;1355;p33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356" name="Google Shape;1356;p33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357" name="Google Shape;1357;p33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9" name="Google Shape;1359;p3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0" name="Google Shape;1360;p34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361" name="Google Shape;1361;p3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3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363" name="Google Shape;1363;p3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7" name="Google Shape;1367;p3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368" name="Google Shape;1368;p3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74" name="Google Shape;1374;p3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5" name="Google Shape;1375;p3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76" name="Google Shape;1376;p3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377" name="Google Shape;1377;p3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" name="Google Shape;1383;p3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384" name="Google Shape;1384;p3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389" name="Google Shape;1389;p3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3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394" name="Google Shape;1394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7" name="Google Shape;1397;p3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398" name="Google Shape;1398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1" name="Google Shape;1401;p34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402" name="Google Shape;1402;p34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403" name="Google Shape;1403;p34"/>
          <p:cNvSpPr txBox="1">
            <a:spLocks noGrp="1"/>
          </p:cNvSpPr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404" name="Google Shape;1404;p34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405" name="Google Shape;1405;p34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406" name="Google Shape;1406;p34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35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9" name="Google Shape;1409;p35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410" name="Google Shape;1410;p35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1" name="Google Shape;1411;p35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12" name="Google Shape;1412;p35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413" name="Google Shape;1413;p3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35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418" name="Google Shape;1418;p3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424" name="Google Shape;1424;p35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5" name="Google Shape;1425;p35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26" name="Google Shape;1426;p35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427" name="Google Shape;1427;p3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3" name="Google Shape;1433;p35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434" name="Google Shape;1434;p3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8" name="Google Shape;1438;p35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439" name="Google Shape;1439;p3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3" name="Google Shape;1443;p35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444" name="Google Shape;1444;p3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7" name="Google Shape;1447;p35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448" name="Google Shape;1448;p3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453" name="Google Shape;1453;p3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4" name="Google Shape;1454;p3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55" name="Google Shape;1455;p3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456" name="Google Shape;1456;p3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3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461" name="Google Shape;1461;p3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467" name="Google Shape;1467;p3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8" name="Google Shape;1468;p3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69" name="Google Shape;1469;p3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470" name="Google Shape;1470;p3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6" name="Google Shape;1476;p3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477" name="Google Shape;1477;p3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1" name="Google Shape;1481;p3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482" name="Google Shape;1482;p3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6" name="Google Shape;1486;p3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487" name="Google Shape;1487;p3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0" name="Google Shape;1490;p3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491" name="Google Shape;1491;p3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37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496" name="Google Shape;1496;p3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7" name="Google Shape;1497;p3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8" name="Google Shape;1498;p3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99" name="Google Shape;1499;p3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500" name="Google Shape;1500;p3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6" name="Google Shape;1506;p3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507" name="Google Shape;1507;p3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1" name="Google Shape;1511;p3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3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3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3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5" name="Google Shape;1515;p3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3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7" name="Google Shape;1517;p3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518" name="Google Shape;1518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1" name="Google Shape;1521;p3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522" name="Google Shape;1522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5" name="Google Shape;1525;p3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526" name="Google Shape;1526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29" name="Google Shape;1529;p3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0" name="Google Shape;1530;p3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31" name="Google Shape;1531;p3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532" name="Google Shape;1532;p3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8" name="Google Shape;1538;p3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539" name="Google Shape;1539;p3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3" name="Google Shape;1543;p3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544" name="Google Shape;1544;p3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8" name="Google Shape;1548;p3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549" name="Google Shape;1549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2" name="Google Shape;1552;p3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553" name="Google Shape;1553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8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558" name="Google Shape;1558;p3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9" name="Google Shape;1559;p3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0" name="Google Shape;1560;p3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61" name="Google Shape;1561;p3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562" name="Google Shape;1562;p3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6" name="Google Shape;1566;p3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567" name="Google Shape;1567;p3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3" name="Google Shape;1573;p3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574" name="Google Shape;1574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77" name="Google Shape;1577;p3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78" name="Google Shape;1578;p3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579" name="Google Shape;1579;p3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5" name="Google Shape;1585;p3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586" name="Google Shape;1586;p3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0" name="Google Shape;1590;p3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591" name="Google Shape;1591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5" name="Google Shape;1595;p3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6" name="Google Shape;1596;p3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7" name="Google Shape;1597;p3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8" name="Google Shape;1598;p3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99" name="Google Shape;1599;p3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600" name="Google Shape;1600;p3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6" name="Google Shape;1606;p3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607" name="Google Shape;1607;p3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1" name="Google Shape;1611;p3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612" name="Google Shape;1612;p3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6" name="Google Shape;1616;p3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617" name="Google Shape;1617;p3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3" name="Google Shape;1623;p3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624" name="Google Shape;1624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27" name="Google Shape;1627;p3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8" name="Google Shape;1628;p3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9" name="Google Shape;1629;p3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30" name="Google Shape;1630;p3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631" name="Google Shape;1631;p3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7" name="Google Shape;1637;p3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638" name="Google Shape;1638;p3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2" name="Google Shape;1642;p3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643" name="Google Shape;1643;p3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7" name="Google Shape;1647;p3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8" name="Google Shape;1648;p3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p3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3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3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3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3" name="Google Shape;1653;p3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654" name="Google Shape;1654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7" name="Google Shape;1657;p3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658" name="Google Shape;1658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1" name="Google Shape;1661;p3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662" name="Google Shape;1662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6" name="Google Shape;1666;p40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667" name="Google Shape;1667;p40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8" name="Google Shape;1668;p40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69" name="Google Shape;1669;p40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670" name="Google Shape;1670;p4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4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4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4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4" name="Google Shape;1674;p40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675" name="Google Shape;1675;p4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4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4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4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9" name="Google Shape;1679;p40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680" name="Google Shape;1680;p4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4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4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4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4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4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7" name="Google Shape;1687;p4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88" name="Google Shape;1688;p4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89" name="Google Shape;1689;p4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90" name="Google Shape;1690;p4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4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4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4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4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4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6" name="Google Shape;1696;p4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97" name="Google Shape;1697;p4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4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4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4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1" name="Google Shape;1701;p4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702" name="Google Shape;1702;p4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4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4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4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706" name="Google Shape;1706;p4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707" name="Google Shape;1707;p4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708" name="Google Shape;1708;p4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4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4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4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4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4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14" name="Google Shape;1714;p4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715" name="Google Shape;1715;p4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4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4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4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19" name="Google Shape;1719;p4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720" name="Google Shape;1720;p4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4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4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4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4" name="Google Shape;1724;p4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725" name="Google Shape;1725;p4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4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4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8" name="Google Shape;1728;p4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729" name="Google Shape;1729;p4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4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4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4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733" name="Google Shape;1733;p4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4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4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6" name="Google Shape;1736;p4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737" name="Google Shape;1737;p4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4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4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740" name="Google Shape;1740;p4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1" name="Google Shape;1741;p4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42" name="Google Shape;1742;p4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7" name="Google Shape;1747;p42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748" name="Google Shape;1748;p42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9" name="Google Shape;1749;p42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0" name="Google Shape;1750;p42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1" name="Google Shape;1751;p42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752" name="Google Shape;1752;p42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753" name="Google Shape;1753;p4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4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4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4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4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4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9" name="Google Shape;1759;p42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760" name="Google Shape;1760;p4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4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4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4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4" name="Google Shape;1764;p42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765" name="Google Shape;1765;p4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4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4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4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9" name="Google Shape;1769;p42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770" name="Google Shape;1770;p42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42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42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42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42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42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6" name="Google Shape;1776;p42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777" name="Google Shape;1777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780" name="Google Shape;1780;p42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1" name="Google Shape;1781;p42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2" name="Google Shape;1782;p42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783" name="Google Shape;1783;p42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784" name="Google Shape;1784;p4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4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4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4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4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4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0" name="Google Shape;1790;p42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791" name="Google Shape;1791;p4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4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4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4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5" name="Google Shape;1795;p42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796" name="Google Shape;1796;p4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4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4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4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00" name="Google Shape;1800;p42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2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2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2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2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2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06" name="Google Shape;1806;p42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807" name="Google Shape;1807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0" name="Google Shape;1810;p42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811" name="Google Shape;1811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5" name="Google Shape;1815;p43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816" name="Google Shape;1816;p43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3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8" name="Google Shape;1818;p43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819" name="Google Shape;1819;p43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820" name="Google Shape;1820;p43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1" name="Google Shape;1821;p43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2" name="Google Shape;1822;p43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3" name="Google Shape;1823;p43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24" name="Google Shape;1824;p43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825" name="Google Shape;1825;p4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4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4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4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4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4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1" name="Google Shape;1831;p43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832" name="Google Shape;1832;p4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4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4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4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6" name="Google Shape;1836;p43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837" name="Google Shape;1837;p4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4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4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4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1" name="Google Shape;1841;p43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842" name="Google Shape;1842;p43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43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43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43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43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43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8" name="Google Shape;1848;p43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849" name="Google Shape;1849;p4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4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4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852" name="Google Shape;1852;p43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3" name="Google Shape;1853;p43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4" name="Google Shape;1854;p43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5" name="Google Shape;1855;p43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856" name="Google Shape;1856;p4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4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4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2" name="Google Shape;1862;p43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863" name="Google Shape;1863;p4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7" name="Google Shape;1867;p43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868" name="Google Shape;1868;p4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72" name="Google Shape;1872;p43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3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3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3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3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3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8" name="Google Shape;1878;p43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879" name="Google Shape;1879;p4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4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2" name="Google Shape;1882;p43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883" name="Google Shape;1883;p4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4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86" name="Google Shape;1886;p43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44"/>
          <p:cNvSpPr txBox="1">
            <a:spLocks noGrp="1"/>
          </p:cNvSpPr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889" name="Google Shape;1889;p44"/>
          <p:cNvSpPr txBox="1">
            <a:spLocks noGrp="1"/>
          </p:cNvSpPr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890" name="Google Shape;1890;p44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891" name="Google Shape;1891;p4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92" name="Google Shape;1892;p4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93" name="Google Shape;1893;p4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94" name="Google Shape;1894;p4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4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0" name="Google Shape;1900;p4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01" name="Google Shape;1901;p4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5" name="Google Shape;1905;p4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06" name="Google Shape;1906;p4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4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4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4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910" name="Google Shape;1910;p4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911" name="Google Shape;1911;p4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912" name="Google Shape;1912;p4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4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4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4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4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4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8" name="Google Shape;1918;p4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919" name="Google Shape;1919;p4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4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3" name="Google Shape;1923;p4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924" name="Google Shape;1924;p4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4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4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4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8" name="Google Shape;1928;p4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929" name="Google Shape;1929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2" name="Google Shape;1932;p4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933" name="Google Shape;1933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6" name="Google Shape;1936;p4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937" name="Google Shape;1937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0" name="Google Shape;1940;p4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941" name="Google Shape;1941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944" name="Google Shape;1944;p4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5" name="Google Shape;1945;p4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6" name="Google Shape;1946;p4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 rtl="0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 rtl="0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 rtl="0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 rtl="0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 rtl="0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 rtl="0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 rtl="0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 rtl="0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etrybe.com/carreira/livros-de-programaca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4" Type="http://schemas.openxmlformats.org/officeDocument/2006/relationships/hyperlink" Target="https://blog.betrybe.com/tecnologia/filmes-sobre-tecnologia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ium.io/history.html?lang=p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Relationship Id="rId5" Type="http://schemas.openxmlformats.org/officeDocument/2006/relationships/hyperlink" Target="https://github.com/appium/appium" TargetMode="External"/><Relationship Id="rId4" Type="http://schemas.openxmlformats.org/officeDocument/2006/relationships/hyperlink" Target="https://appium.io/docs/en/about-appium/intr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4" name="Google Shape;1954;p4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955" name="Google Shape;1955;p4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4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4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4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8" name="Google Shape;2148;p45"/>
          <p:cNvSpPr txBox="1">
            <a:spLocks noGrp="1"/>
          </p:cNvSpPr>
          <p:nvPr>
            <p:ph type="ctrTitle"/>
          </p:nvPr>
        </p:nvSpPr>
        <p:spPr>
          <a:xfrm>
            <a:off x="4528950" y="1776425"/>
            <a:ext cx="3984000" cy="126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 dirty="0"/>
              <a:t>Teste Automatizados Appium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2149" name="Google Shape;2149;p45"/>
          <p:cNvSpPr txBox="1">
            <a:spLocks noGrp="1"/>
          </p:cNvSpPr>
          <p:nvPr>
            <p:ph type="subTitle" idx="1"/>
          </p:nvPr>
        </p:nvSpPr>
        <p:spPr>
          <a:xfrm>
            <a:off x="5248650" y="3461974"/>
            <a:ext cx="3264300" cy="1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Eduardo de Paula Xavier - 22570</a:t>
            </a:r>
            <a:endParaRPr sz="15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Tarcísio José Martins Ribeiro - 20382</a:t>
            </a:r>
            <a:endParaRPr sz="15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Victor Sued - 21223</a:t>
            </a:r>
            <a:endParaRPr sz="15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/>
              <a:t>Breno Mota Alves - 20642</a:t>
            </a:r>
            <a:endParaRPr sz="15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/>
              <a:t>Mateus Borges Rodrigues - 21026</a:t>
            </a:r>
            <a:endParaRPr sz="15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4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Importância dos testes</a:t>
            </a:r>
            <a:endParaRPr/>
          </a:p>
        </p:txBody>
      </p:sp>
      <p:sp>
        <p:nvSpPr>
          <p:cNvPr id="2155" name="Google Shape;2155;p46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29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Trabalhar com programação requer vários conhecimentos do profissional que atua nessa área, como por exemplo o entendimento dos requisitos, cumprimento de métricas e da pontualidade na entrega, fatores esses que podem gerar erros durante o processo de criação de um software.</a:t>
            </a:r>
            <a:endParaRPr sz="14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Mesmo que haja uma constante verificação durante o desenvolvimento, ainda há a possibilidades de erros e falhas passarem despercebidas, mesmo que estas sejam pequenas, podem causar uma grande dor de cabeça no futuro, sendo necessários a realização de testes não só durante o período de desenvolvimento, mas após a finalização do projeto também, para que assim seja garantido a integridade e segurança do projeto. 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pic>
        <p:nvPicPr>
          <p:cNvPr id="2156" name="Google Shape;21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97305">
            <a:off x="6240700" y="3194825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47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Testes Automatizados</a:t>
            </a:r>
            <a:endParaRPr b="1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2" name="Google Shape;2162;p47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t-BR" sz="1600"/>
              <a:t>Conforme programas ficaram mais complexos, pessoas que trabalham com</a:t>
            </a:r>
            <a:r>
              <a:rPr lang="pt-BR" sz="1600">
                <a:uFill>
                  <a:noFill/>
                </a:uFill>
                <a:hlinkClick r:id="rId3"/>
              </a:rPr>
              <a:t> desenvolvimento</a:t>
            </a:r>
            <a:r>
              <a:rPr lang="pt-BR" sz="1600"/>
              <a:t> começaram a ter mais dificuldades para avaliar se os recursos são funcionais. A quantidade de funções e pontos que deveriam ser avaliados a cada projeto aumentou junto com a evolução das</a:t>
            </a:r>
            <a:r>
              <a:rPr lang="pt-BR" sz="1600">
                <a:uFill>
                  <a:noFill/>
                </a:uFill>
                <a:hlinkClick r:id="rId4"/>
              </a:rPr>
              <a:t> tecnologias</a:t>
            </a:r>
            <a:r>
              <a:rPr lang="pt-BR" sz="1600"/>
              <a:t> de criação de sistemas.</a:t>
            </a:r>
            <a:endParaRPr sz="1600"/>
          </a:p>
          <a:p>
            <a:pPr marL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t-BR" sz="1600"/>
              <a:t>Por isso, profissionais da área se viraram para encontrar um dos melhores benefícios que a TI traz: a possibilidade de automatizar rotinas. Assim surgiu o </a:t>
            </a:r>
            <a:r>
              <a:rPr lang="pt-BR" sz="1600" b="1"/>
              <a:t>teste automatizado</a:t>
            </a:r>
            <a:r>
              <a:rPr lang="pt-BR" sz="1600"/>
              <a:t>.</a:t>
            </a:r>
            <a:endParaRPr>
              <a:solidFill>
                <a:srgbClr val="121416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48"/>
          <p:cNvSpPr txBox="1">
            <a:spLocks noGrp="1"/>
          </p:cNvSpPr>
          <p:nvPr>
            <p:ph type="title"/>
          </p:nvPr>
        </p:nvSpPr>
        <p:spPr>
          <a:xfrm>
            <a:off x="1554000" y="338325"/>
            <a:ext cx="6328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Testes Automatizados</a:t>
            </a:r>
            <a:endParaRPr b="1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8" name="Google Shape;2168;p48"/>
          <p:cNvSpPr txBox="1">
            <a:spLocks noGrp="1"/>
          </p:cNvSpPr>
          <p:nvPr>
            <p:ph type="subTitle" idx="1"/>
          </p:nvPr>
        </p:nvSpPr>
        <p:spPr>
          <a:xfrm>
            <a:off x="4572000" y="1491350"/>
            <a:ext cx="3993000" cy="26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Testes automatizados são uma importante ferramenta para quem trabalha com o desenvolvimento de softwares.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Neles, o sistema é otimizado com precisão e agilidade: é nessa hora que você encontrará bugs, falhas de segurança e qualquer outro problema que prejudique o uso da aplicação.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169" name="Google Shape;216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50" y="1386200"/>
            <a:ext cx="4111651" cy="262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49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Testes Automatizados</a:t>
            </a:r>
            <a:endParaRPr b="1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" name="Google Shape;2175;p49"/>
          <p:cNvSpPr txBox="1">
            <a:spLocks noGrp="1"/>
          </p:cNvSpPr>
          <p:nvPr>
            <p:ph type="body" idx="1"/>
          </p:nvPr>
        </p:nvSpPr>
        <p:spPr>
          <a:xfrm>
            <a:off x="722275" y="1108375"/>
            <a:ext cx="46254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t-BR" sz="1600"/>
              <a:t>Os testes automatizados  tem como base a verificação de várias características de uma aplicação. Tudo isso sem a interferência de quem está criando o sistema. Desta forma, percebeu-se que o tempo gasto para avaliar se determinada solução atende os requisitos caiu drasticamente.</a:t>
            </a:r>
            <a:endParaRPr sz="1600"/>
          </a:p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t-BR" sz="1600"/>
              <a:t>Os testes automatizados podem ser realizados de diversas maneiras porém todos tem o objetivo de identificar e corrigir falhas, não comprometendo a qualidade do projeto.</a:t>
            </a:r>
            <a:endParaRPr sz="1600"/>
          </a:p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endParaRPr sz="1600"/>
          </a:p>
        </p:txBody>
      </p:sp>
      <p:pic>
        <p:nvPicPr>
          <p:cNvPr id="2176" name="Google Shape;21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450" y="1388424"/>
            <a:ext cx="3445550" cy="313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50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Testes Automatizados</a:t>
            </a:r>
            <a:endParaRPr b="1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2" name="Google Shape;2182;p50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Unity Tests</a:t>
            </a:r>
            <a:endParaRPr/>
          </a:p>
        </p:txBody>
      </p:sp>
      <p:sp>
        <p:nvSpPr>
          <p:cNvPr id="2183" name="Google Shape;2183;p50"/>
          <p:cNvSpPr txBox="1">
            <a:spLocks noGrp="1"/>
          </p:cNvSpPr>
          <p:nvPr>
            <p:ph type="subTitle" idx="2"/>
          </p:nvPr>
        </p:nvSpPr>
        <p:spPr>
          <a:xfrm>
            <a:off x="1709924" y="1938525"/>
            <a:ext cx="2368500" cy="8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É executado a partir de interações diretas com o código-fonte da aplicação.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84" name="Google Shape;2184;p50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Web Service / API</a:t>
            </a:r>
            <a:endParaRPr/>
          </a:p>
        </p:txBody>
      </p:sp>
      <p:sp>
        <p:nvSpPr>
          <p:cNvPr id="2185" name="Google Shape;2185;p50"/>
          <p:cNvSpPr txBox="1">
            <a:spLocks noGrp="1"/>
          </p:cNvSpPr>
          <p:nvPr>
            <p:ph type="subTitle" idx="4"/>
          </p:nvPr>
        </p:nvSpPr>
        <p:spPr>
          <a:xfrm>
            <a:off x="5468100" y="1938525"/>
            <a:ext cx="3067800" cy="9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Esse tipo de teste consegue validar se as APIs do seu programa estão funcionando conforme o esperado.</a:t>
            </a:r>
            <a:endParaRPr sz="1600"/>
          </a:p>
        </p:txBody>
      </p:sp>
      <p:sp>
        <p:nvSpPr>
          <p:cNvPr id="2186" name="Google Shape;2186;p50"/>
          <p:cNvSpPr txBox="1">
            <a:spLocks noGrp="1"/>
          </p:cNvSpPr>
          <p:nvPr>
            <p:ph type="subTitle" idx="5"/>
          </p:nvPr>
        </p:nvSpPr>
        <p:spPr>
          <a:xfrm>
            <a:off x="3932525" y="3310475"/>
            <a:ext cx="2989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Graphical User Interface (GUI)</a:t>
            </a:r>
            <a:endParaRPr/>
          </a:p>
        </p:txBody>
      </p:sp>
      <p:sp>
        <p:nvSpPr>
          <p:cNvPr id="2187" name="Google Shape;2187;p50"/>
          <p:cNvSpPr txBox="1">
            <a:spLocks noGrp="1"/>
          </p:cNvSpPr>
          <p:nvPr>
            <p:ph type="subTitle" idx="6"/>
          </p:nvPr>
        </p:nvSpPr>
        <p:spPr>
          <a:xfrm>
            <a:off x="3932525" y="3685475"/>
            <a:ext cx="3533700" cy="9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Ajuda a identificar se cada detalhe da interface gráfica consegue responder a interações do usuário sem problemas.</a:t>
            </a:r>
            <a:endParaRPr sz="1600"/>
          </a:p>
        </p:txBody>
      </p:sp>
      <p:sp>
        <p:nvSpPr>
          <p:cNvPr id="2188" name="Google Shape;2188;p50"/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89" name="Google Shape;2189;p50"/>
          <p:cNvSpPr txBox="1"/>
          <p:nvPr/>
        </p:nvSpPr>
        <p:spPr>
          <a:xfrm>
            <a:off x="2752919" y="34691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90" name="Google Shape;2190;p50"/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51"/>
          <p:cNvSpPr txBox="1">
            <a:spLocks noGrp="1"/>
          </p:cNvSpPr>
          <p:nvPr>
            <p:ph type="body" idx="1"/>
          </p:nvPr>
        </p:nvSpPr>
        <p:spPr>
          <a:xfrm>
            <a:off x="685475" y="11448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/>
              <a:t>Desenvolvido por Dan </a:t>
            </a:r>
            <a:r>
              <a:rPr lang="pt-BR" sz="1500" dirty="0" err="1"/>
              <a:t>Cuellar</a:t>
            </a:r>
            <a:r>
              <a:rPr lang="pt-BR" sz="1500" dirty="0"/>
              <a:t> em 2011 e lançado como “</a:t>
            </a:r>
            <a:r>
              <a:rPr lang="pt-BR" sz="1500" dirty="0" err="1"/>
              <a:t>iOSAuto</a:t>
            </a:r>
            <a:r>
              <a:rPr lang="pt-BR" sz="1500" dirty="0"/>
              <a:t>”, o software foi escrito na linguagem C#, sendo reescrito em Node.js em 2013, após a </a:t>
            </a:r>
            <a:r>
              <a:rPr lang="pt-BR" sz="1500" dirty="0" err="1"/>
              <a:t>Sauce</a:t>
            </a:r>
            <a:r>
              <a:rPr lang="pt-BR" sz="1500" dirty="0"/>
              <a:t> </a:t>
            </a:r>
            <a:r>
              <a:rPr lang="pt-BR" sz="1500" dirty="0" err="1"/>
              <a:t>Labs</a:t>
            </a:r>
            <a:r>
              <a:rPr lang="pt-BR" sz="1500" dirty="0"/>
              <a:t> concordar em financiar o seu desenvolvimento.</a:t>
            </a: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/>
              <a:t>O Appium é uma ferramenta de automação de testes para aplicativos móveis, aplicações web e softwares desktop, permitindo a execução de testes em diversas plataformas fazendo o uso da mesma API.</a:t>
            </a: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/>
              <a:t>No mercado desde 2012, o Appium é mantido por diversas empresas e organizações, </a:t>
            </a: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/>
              <a:t>com o seu projeto sendo mantido pela </a:t>
            </a:r>
            <a:r>
              <a:rPr lang="pt-BR" sz="1500" dirty="0" err="1"/>
              <a:t>OpenJS</a:t>
            </a:r>
            <a:r>
              <a:rPr lang="pt-BR" sz="1500" dirty="0"/>
              <a:t> Foundation a partir de 2019, após a fusão da JS Foundation e Node.js Foundation.</a:t>
            </a:r>
            <a:endParaRPr sz="1500" dirty="0"/>
          </a:p>
        </p:txBody>
      </p:sp>
      <p:pic>
        <p:nvPicPr>
          <p:cNvPr id="2196" name="Google Shape;219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075" y="-379375"/>
            <a:ext cx="3832776" cy="191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52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funciona?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2" name="Google Shape;2202;p52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/>
              <a:t>Semelhante ao </a:t>
            </a:r>
            <a:r>
              <a:rPr lang="pt-BR" sz="1500" dirty="0" err="1"/>
              <a:t>Selenium</a:t>
            </a:r>
            <a:r>
              <a:rPr lang="pt-BR" sz="1500" dirty="0"/>
              <a:t> </a:t>
            </a:r>
            <a:r>
              <a:rPr lang="pt-BR" sz="1500" dirty="0" err="1"/>
              <a:t>Webdriver</a:t>
            </a:r>
            <a:r>
              <a:rPr lang="pt-BR" sz="1500" dirty="0"/>
              <a:t>, o Appium requer um intermediador entre o script a ser testado e a aplicação. Este intermediador é o Appium Server, que ao ser invocado pelo script, faz a conexão com a aplicação.</a:t>
            </a: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/>
              <a:t>A ferramenta possibilita escrever testes com as mais diversas ferramentas de desenvolvimento usando qualquer </a:t>
            </a:r>
            <a:r>
              <a:rPr lang="pt-BR" sz="1500" dirty="0">
                <a:latin typeface="Barlow Semi Condensed" panose="020B0604020202020204" charset="0"/>
              </a:rPr>
              <a:t>linguagem</a:t>
            </a:r>
            <a:r>
              <a:rPr lang="pt-BR" sz="1500" dirty="0"/>
              <a:t> compatível com </a:t>
            </a:r>
            <a:r>
              <a:rPr lang="pt-BR" sz="1500" dirty="0" err="1"/>
              <a:t>WebDriver</a:t>
            </a:r>
            <a:r>
              <a:rPr lang="pt-BR" sz="1500" dirty="0"/>
              <a:t>, como Java, </a:t>
            </a:r>
            <a:r>
              <a:rPr lang="pt-BR" sz="1500" dirty="0" err="1"/>
              <a:t>Objective</a:t>
            </a:r>
            <a:r>
              <a:rPr lang="pt-BR" sz="1500" dirty="0"/>
              <a:t>-C, </a:t>
            </a:r>
            <a:r>
              <a:rPr lang="pt-BR" sz="1500" dirty="0" err="1"/>
              <a:t>JavaScript</a:t>
            </a:r>
            <a:r>
              <a:rPr lang="pt-BR" sz="1500" dirty="0"/>
              <a:t> (Node), PHP, Python, Ruby, C #, </a:t>
            </a:r>
            <a:r>
              <a:rPr lang="pt-BR" sz="1500" dirty="0" err="1"/>
              <a:t>Clojure</a:t>
            </a:r>
            <a:r>
              <a:rPr lang="pt-BR" sz="1500" dirty="0"/>
              <a:t> ou Perl. com a API </a:t>
            </a:r>
            <a:r>
              <a:rPr lang="pt-BR" sz="1500" dirty="0" err="1"/>
              <a:t>Selenium</a:t>
            </a:r>
            <a:r>
              <a:rPr lang="pt-BR" sz="1500" dirty="0"/>
              <a:t> </a:t>
            </a:r>
            <a:r>
              <a:rPr lang="pt-BR" sz="1500" dirty="0" err="1"/>
              <a:t>WebDriver</a:t>
            </a:r>
            <a:r>
              <a:rPr lang="pt-BR" sz="1500" dirty="0"/>
              <a:t> e o cliente específico da linguagem e bibliotecas, é possível utilizar qualquer estrutura de teste.</a:t>
            </a:r>
            <a:endParaRPr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5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Informações adicionais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8" name="Google Shape;2208;p5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343838"/>
                </a:solidFill>
                <a:highlight>
                  <a:srgbClr val="FFFFFF"/>
                </a:highlight>
                <a:latin typeface="Barlow Semi Condensed" panose="020B0604020202020204" charset="0"/>
                <a:ea typeface="Arial"/>
                <a:cs typeface="Arial"/>
                <a:sym typeface="Arial"/>
              </a:rPr>
              <a:t>O Appium foi projetado para atender às necessidades de automação móvel de acordo com uma filosofia delineada por quatro pontos:</a:t>
            </a:r>
            <a:endParaRPr sz="1500" dirty="0">
              <a:solidFill>
                <a:srgbClr val="343838"/>
              </a:solidFill>
              <a:highlight>
                <a:srgbClr val="FFFFFF"/>
              </a:highlight>
              <a:latin typeface="Barlow Semi Condensed" panose="020B060402020202020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343838"/>
              </a:solidFill>
              <a:highlight>
                <a:srgbClr val="FFFFFF"/>
              </a:highlight>
              <a:latin typeface="Barlow Semi Condensed" panose="020B0604020202020204" charset="0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838"/>
              </a:buClr>
              <a:buSzPts val="1200"/>
              <a:buFont typeface="Arial"/>
              <a:buAutoNum type="arabicPeriod"/>
            </a:pPr>
            <a:r>
              <a:rPr lang="pt-BR" sz="1500" dirty="0">
                <a:solidFill>
                  <a:srgbClr val="343838"/>
                </a:solidFill>
                <a:highlight>
                  <a:srgbClr val="FFFFFF"/>
                </a:highlight>
                <a:latin typeface="Barlow Semi Condensed" panose="020B0604020202020204" charset="0"/>
                <a:ea typeface="Arial"/>
                <a:cs typeface="Arial"/>
                <a:sym typeface="Arial"/>
              </a:rPr>
              <a:t>Você não deve ter que recompilar seu aplicativo ou modificá-lo de qualquer forma para automatizá-lo.</a:t>
            </a:r>
            <a:endParaRPr sz="1500" dirty="0">
              <a:solidFill>
                <a:srgbClr val="343838"/>
              </a:solidFill>
              <a:highlight>
                <a:srgbClr val="FFFFFF"/>
              </a:highlight>
              <a:latin typeface="Barlow Semi Condensed" panose="020B0604020202020204" charset="0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838"/>
              </a:buClr>
              <a:buSzPts val="1200"/>
              <a:buFont typeface="Arial"/>
              <a:buAutoNum type="arabicPeriod"/>
            </a:pPr>
            <a:r>
              <a:rPr lang="pt-BR" sz="1500" dirty="0">
                <a:solidFill>
                  <a:srgbClr val="343838"/>
                </a:solidFill>
                <a:highlight>
                  <a:srgbClr val="FFFFFF"/>
                </a:highlight>
                <a:latin typeface="Barlow Semi Condensed" panose="020B0604020202020204" charset="0"/>
                <a:ea typeface="Arial"/>
                <a:cs typeface="Arial"/>
                <a:sym typeface="Arial"/>
              </a:rPr>
              <a:t>Você não deve ficar preso a uma linguagem ou estrutura específica para escrever e executar seus testes.</a:t>
            </a:r>
            <a:endParaRPr sz="1500" dirty="0">
              <a:solidFill>
                <a:srgbClr val="343838"/>
              </a:solidFill>
              <a:highlight>
                <a:srgbClr val="FFFFFF"/>
              </a:highlight>
              <a:latin typeface="Barlow Semi Condensed" panose="020B0604020202020204" charset="0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838"/>
              </a:buClr>
              <a:buSzPts val="1200"/>
              <a:buFont typeface="Arial"/>
              <a:buAutoNum type="arabicPeriod"/>
            </a:pPr>
            <a:r>
              <a:rPr lang="pt-BR" sz="1500" dirty="0">
                <a:solidFill>
                  <a:srgbClr val="343838"/>
                </a:solidFill>
                <a:highlight>
                  <a:srgbClr val="FFFFFF"/>
                </a:highlight>
                <a:latin typeface="Barlow Semi Condensed" panose="020B0604020202020204" charset="0"/>
                <a:ea typeface="Arial"/>
                <a:cs typeface="Arial"/>
                <a:sym typeface="Arial"/>
              </a:rPr>
              <a:t>Uma estrutura de automação móvel não deve reinventar a roda quando se trata de APIs de automação.</a:t>
            </a:r>
            <a:endParaRPr sz="1500" dirty="0">
              <a:solidFill>
                <a:srgbClr val="343838"/>
              </a:solidFill>
              <a:highlight>
                <a:srgbClr val="FFFFFF"/>
              </a:highlight>
              <a:latin typeface="Barlow Semi Condensed" panose="020B0604020202020204" charset="0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838"/>
              </a:buClr>
              <a:buSzPts val="1200"/>
              <a:buFont typeface="Arial"/>
              <a:buAutoNum type="arabicPeriod"/>
            </a:pPr>
            <a:r>
              <a:rPr lang="pt-BR" sz="1500" dirty="0">
                <a:solidFill>
                  <a:srgbClr val="343838"/>
                </a:solidFill>
                <a:highlight>
                  <a:srgbClr val="FFFFFF"/>
                </a:highlight>
                <a:latin typeface="Barlow Semi Condensed" panose="020B0604020202020204" charset="0"/>
                <a:ea typeface="Arial"/>
                <a:cs typeface="Arial"/>
                <a:sym typeface="Arial"/>
              </a:rPr>
              <a:t>Uma estrutura de automação móvel deve ser de código aberto, tanto no espírito e na prática quanto no nome!</a:t>
            </a:r>
            <a:endParaRPr sz="1500" dirty="0">
              <a:solidFill>
                <a:srgbClr val="343838"/>
              </a:solidFill>
              <a:highlight>
                <a:srgbClr val="FFFFFF"/>
              </a:highlight>
              <a:latin typeface="Barlow Semi Condensed" panose="020B0604020202020204" charset="0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dirty="0"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3" name="Google Shape;2213;p54"/>
          <p:cNvGrpSpPr/>
          <p:nvPr/>
        </p:nvGrpSpPr>
        <p:grpSpPr>
          <a:xfrm>
            <a:off x="452345" y="-847900"/>
            <a:ext cx="8003127" cy="6839302"/>
            <a:chOff x="1230400" y="410075"/>
            <a:chExt cx="5124625" cy="4728500"/>
          </a:xfrm>
        </p:grpSpPr>
        <p:sp>
          <p:nvSpPr>
            <p:cNvPr id="2214" name="Google Shape;2214;p54"/>
            <p:cNvSpPr/>
            <p:nvPr/>
          </p:nvSpPr>
          <p:spPr>
            <a:xfrm>
              <a:off x="1384675" y="410150"/>
              <a:ext cx="4970350" cy="3655600"/>
            </a:xfrm>
            <a:custGeom>
              <a:avLst/>
              <a:gdLst/>
              <a:ahLst/>
              <a:cxnLst/>
              <a:rect l="l" t="t" r="r" b="b"/>
              <a:pathLst>
                <a:path w="198814" h="146224" extrusionOk="0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54"/>
            <p:cNvSpPr/>
            <p:nvPr/>
          </p:nvSpPr>
          <p:spPr>
            <a:xfrm>
              <a:off x="1515675" y="410075"/>
              <a:ext cx="4819275" cy="3654050"/>
            </a:xfrm>
            <a:custGeom>
              <a:avLst/>
              <a:gdLst/>
              <a:ahLst/>
              <a:cxnLst/>
              <a:rect l="l" t="t" r="r" b="b"/>
              <a:pathLst>
                <a:path w="192771" h="146162" extrusionOk="0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54"/>
            <p:cNvSpPr/>
            <p:nvPr/>
          </p:nvSpPr>
          <p:spPr>
            <a:xfrm>
              <a:off x="1972925" y="4531000"/>
              <a:ext cx="4095225" cy="240325"/>
            </a:xfrm>
            <a:custGeom>
              <a:avLst/>
              <a:gdLst/>
              <a:ahLst/>
              <a:cxnLst/>
              <a:rect l="l" t="t" r="r" b="b"/>
              <a:pathLst>
                <a:path w="163809" h="9613" extrusionOk="0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54"/>
            <p:cNvSpPr/>
            <p:nvPr/>
          </p:nvSpPr>
          <p:spPr>
            <a:xfrm>
              <a:off x="1972925" y="4535825"/>
              <a:ext cx="4095225" cy="235500"/>
            </a:xfrm>
            <a:custGeom>
              <a:avLst/>
              <a:gdLst/>
              <a:ahLst/>
              <a:cxnLst/>
              <a:rect l="l" t="t" r="r" b="b"/>
              <a:pathLst>
                <a:path w="163809" h="9420" extrusionOk="0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54"/>
            <p:cNvSpPr/>
            <p:nvPr/>
          </p:nvSpPr>
          <p:spPr>
            <a:xfrm>
              <a:off x="2121600" y="3176250"/>
              <a:ext cx="133425" cy="207225"/>
            </a:xfrm>
            <a:custGeom>
              <a:avLst/>
              <a:gdLst/>
              <a:ahLst/>
              <a:cxnLst/>
              <a:rect l="l" t="t" r="r" b="b"/>
              <a:pathLst>
                <a:path w="5337" h="8289" extrusionOk="0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54"/>
            <p:cNvSpPr/>
            <p:nvPr/>
          </p:nvSpPr>
          <p:spPr>
            <a:xfrm>
              <a:off x="1502000" y="3626850"/>
              <a:ext cx="143875" cy="202650"/>
            </a:xfrm>
            <a:custGeom>
              <a:avLst/>
              <a:gdLst/>
              <a:ahLst/>
              <a:cxnLst/>
              <a:rect l="l" t="t" r="r" b="b"/>
              <a:pathLst>
                <a:path w="5755" h="8106" extrusionOk="0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54"/>
            <p:cNvSpPr/>
            <p:nvPr/>
          </p:nvSpPr>
          <p:spPr>
            <a:xfrm>
              <a:off x="2656800" y="3458200"/>
              <a:ext cx="462900" cy="1053550"/>
            </a:xfrm>
            <a:custGeom>
              <a:avLst/>
              <a:gdLst/>
              <a:ahLst/>
              <a:cxnLst/>
              <a:rect l="l" t="t" r="r" b="b"/>
              <a:pathLst>
                <a:path w="18516" h="42142" extrusionOk="0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54"/>
            <p:cNvSpPr/>
            <p:nvPr/>
          </p:nvSpPr>
          <p:spPr>
            <a:xfrm>
              <a:off x="1230400" y="3120375"/>
              <a:ext cx="1581525" cy="1453250"/>
            </a:xfrm>
            <a:custGeom>
              <a:avLst/>
              <a:gdLst/>
              <a:ahLst/>
              <a:cxnLst/>
              <a:rect l="l" t="t" r="r" b="b"/>
              <a:pathLst>
                <a:path w="63261" h="58130" extrusionOk="0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54"/>
            <p:cNvSpPr/>
            <p:nvPr/>
          </p:nvSpPr>
          <p:spPr>
            <a:xfrm>
              <a:off x="2969400" y="4123575"/>
              <a:ext cx="426750" cy="440400"/>
            </a:xfrm>
            <a:custGeom>
              <a:avLst/>
              <a:gdLst/>
              <a:ahLst/>
              <a:cxnLst/>
              <a:rect l="l" t="t" r="r" b="b"/>
              <a:pathLst>
                <a:path w="17070" h="17616" extrusionOk="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54"/>
            <p:cNvSpPr/>
            <p:nvPr/>
          </p:nvSpPr>
          <p:spPr>
            <a:xfrm>
              <a:off x="1515675" y="3626950"/>
              <a:ext cx="126175" cy="202525"/>
            </a:xfrm>
            <a:custGeom>
              <a:avLst/>
              <a:gdLst/>
              <a:ahLst/>
              <a:cxnLst/>
              <a:rect l="l" t="t" r="r" b="b"/>
              <a:pathLst>
                <a:path w="5047" h="8101" extrusionOk="0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54"/>
            <p:cNvSpPr/>
            <p:nvPr/>
          </p:nvSpPr>
          <p:spPr>
            <a:xfrm>
              <a:off x="2659200" y="4023125"/>
              <a:ext cx="458100" cy="488625"/>
            </a:xfrm>
            <a:custGeom>
              <a:avLst/>
              <a:gdLst/>
              <a:ahLst/>
              <a:cxnLst/>
              <a:rect l="l" t="t" r="r" b="b"/>
              <a:pathLst>
                <a:path w="18324" h="19545" extrusionOk="0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54"/>
            <p:cNvSpPr/>
            <p:nvPr/>
          </p:nvSpPr>
          <p:spPr>
            <a:xfrm>
              <a:off x="1239225" y="3702475"/>
              <a:ext cx="1564650" cy="871150"/>
            </a:xfrm>
            <a:custGeom>
              <a:avLst/>
              <a:gdLst/>
              <a:ahLst/>
              <a:cxnLst/>
              <a:rect l="l" t="t" r="r" b="b"/>
              <a:pathLst>
                <a:path w="62586" h="34846" extrusionOk="0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54"/>
            <p:cNvSpPr/>
            <p:nvPr/>
          </p:nvSpPr>
          <p:spPr>
            <a:xfrm>
              <a:off x="2159350" y="3969275"/>
              <a:ext cx="152725" cy="66725"/>
            </a:xfrm>
            <a:custGeom>
              <a:avLst/>
              <a:gdLst/>
              <a:ahLst/>
              <a:cxnLst/>
              <a:rect l="l" t="t" r="r" b="b"/>
              <a:pathLst>
                <a:path w="6109" h="2669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54"/>
            <p:cNvSpPr/>
            <p:nvPr/>
          </p:nvSpPr>
          <p:spPr>
            <a:xfrm>
              <a:off x="2104725" y="3692850"/>
              <a:ext cx="29750" cy="98050"/>
            </a:xfrm>
            <a:custGeom>
              <a:avLst/>
              <a:gdLst/>
              <a:ahLst/>
              <a:cxnLst/>
              <a:rect l="l" t="t" r="r" b="b"/>
              <a:pathLst>
                <a:path w="1190" h="3922" extrusionOk="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54"/>
            <p:cNvSpPr/>
            <p:nvPr/>
          </p:nvSpPr>
          <p:spPr>
            <a:xfrm>
              <a:off x="2091050" y="3538550"/>
              <a:ext cx="43425" cy="60300"/>
            </a:xfrm>
            <a:custGeom>
              <a:avLst/>
              <a:gdLst/>
              <a:ahLst/>
              <a:cxnLst/>
              <a:rect l="l" t="t" r="r" b="b"/>
              <a:pathLst>
                <a:path w="1737" h="2412" extrusionOk="0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54"/>
            <p:cNvSpPr/>
            <p:nvPr/>
          </p:nvSpPr>
          <p:spPr>
            <a:xfrm>
              <a:off x="1844350" y="3120675"/>
              <a:ext cx="110925" cy="121375"/>
            </a:xfrm>
            <a:custGeom>
              <a:avLst/>
              <a:gdLst/>
              <a:ahLst/>
              <a:cxnLst/>
              <a:rect l="l" t="t" r="r" b="b"/>
              <a:pathLst>
                <a:path w="4437" h="4855" extrusionOk="0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54"/>
            <p:cNvSpPr/>
            <p:nvPr/>
          </p:nvSpPr>
          <p:spPr>
            <a:xfrm>
              <a:off x="2971000" y="4123575"/>
              <a:ext cx="423525" cy="440400"/>
            </a:xfrm>
            <a:custGeom>
              <a:avLst/>
              <a:gdLst/>
              <a:ahLst/>
              <a:cxnLst/>
              <a:rect l="l" t="t" r="r" b="b"/>
              <a:pathLst>
                <a:path w="16941" h="17616" extrusionOk="0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54"/>
            <p:cNvSpPr/>
            <p:nvPr/>
          </p:nvSpPr>
          <p:spPr>
            <a:xfrm>
              <a:off x="2693750" y="3458200"/>
              <a:ext cx="388975" cy="1053550"/>
            </a:xfrm>
            <a:custGeom>
              <a:avLst/>
              <a:gdLst/>
              <a:ahLst/>
              <a:cxnLst/>
              <a:rect l="l" t="t" r="r" b="b"/>
              <a:pathLst>
                <a:path w="15559" h="42142" extrusionOk="0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54"/>
            <p:cNvSpPr/>
            <p:nvPr/>
          </p:nvSpPr>
          <p:spPr>
            <a:xfrm>
              <a:off x="2391600" y="4114750"/>
              <a:ext cx="416300" cy="462900"/>
            </a:xfrm>
            <a:custGeom>
              <a:avLst/>
              <a:gdLst/>
              <a:ahLst/>
              <a:cxnLst/>
              <a:rect l="l" t="t" r="r" b="b"/>
              <a:pathLst>
                <a:path w="16652" h="18516" extrusionOk="0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54"/>
            <p:cNvSpPr/>
            <p:nvPr/>
          </p:nvSpPr>
          <p:spPr>
            <a:xfrm>
              <a:off x="2967000" y="4119550"/>
              <a:ext cx="431550" cy="448450"/>
            </a:xfrm>
            <a:custGeom>
              <a:avLst/>
              <a:gdLst/>
              <a:ahLst/>
              <a:cxnLst/>
              <a:rect l="l" t="t" r="r" b="b"/>
              <a:pathLst>
                <a:path w="17262" h="17938" extrusionOk="0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54"/>
            <p:cNvSpPr/>
            <p:nvPr/>
          </p:nvSpPr>
          <p:spPr>
            <a:xfrm>
              <a:off x="3413000" y="3916250"/>
              <a:ext cx="1215075" cy="654150"/>
            </a:xfrm>
            <a:custGeom>
              <a:avLst/>
              <a:gdLst/>
              <a:ahLst/>
              <a:cxnLst/>
              <a:rect l="l" t="t" r="r" b="b"/>
              <a:pathLst>
                <a:path w="48603" h="26166" extrusionOk="0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54"/>
            <p:cNvSpPr/>
            <p:nvPr/>
          </p:nvSpPr>
          <p:spPr>
            <a:xfrm>
              <a:off x="3404950" y="3908200"/>
              <a:ext cx="1231150" cy="669450"/>
            </a:xfrm>
            <a:custGeom>
              <a:avLst/>
              <a:gdLst/>
              <a:ahLst/>
              <a:cxnLst/>
              <a:rect l="l" t="t" r="r" b="b"/>
              <a:pathLst>
                <a:path w="49246" h="26778" extrusionOk="0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54"/>
            <p:cNvSpPr/>
            <p:nvPr/>
          </p:nvSpPr>
          <p:spPr>
            <a:xfrm>
              <a:off x="3503800" y="4023125"/>
              <a:ext cx="1032675" cy="432375"/>
            </a:xfrm>
            <a:custGeom>
              <a:avLst/>
              <a:gdLst/>
              <a:ahLst/>
              <a:cxnLst/>
              <a:rect l="l" t="t" r="r" b="b"/>
              <a:pathLst>
                <a:path w="41307" h="17295" extrusionOk="0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54"/>
            <p:cNvSpPr/>
            <p:nvPr/>
          </p:nvSpPr>
          <p:spPr>
            <a:xfrm>
              <a:off x="3495775" y="4023125"/>
              <a:ext cx="1049525" cy="432375"/>
            </a:xfrm>
            <a:custGeom>
              <a:avLst/>
              <a:gdLst/>
              <a:ahLst/>
              <a:cxnLst/>
              <a:rect l="l" t="t" r="r" b="b"/>
              <a:pathLst>
                <a:path w="41981" h="17295" extrusionOk="0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54"/>
            <p:cNvSpPr/>
            <p:nvPr/>
          </p:nvSpPr>
          <p:spPr>
            <a:xfrm>
              <a:off x="3552825" y="3963650"/>
              <a:ext cx="934625" cy="134250"/>
            </a:xfrm>
            <a:custGeom>
              <a:avLst/>
              <a:gdLst/>
              <a:ahLst/>
              <a:cxnLst/>
              <a:rect l="l" t="t" r="r" b="b"/>
              <a:pathLst>
                <a:path w="37385" h="5370" extrusionOk="0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54"/>
            <p:cNvSpPr/>
            <p:nvPr/>
          </p:nvSpPr>
          <p:spPr>
            <a:xfrm>
              <a:off x="3545600" y="3956425"/>
              <a:ext cx="949875" cy="148700"/>
            </a:xfrm>
            <a:custGeom>
              <a:avLst/>
              <a:gdLst/>
              <a:ahLst/>
              <a:cxnLst/>
              <a:rect l="l" t="t" r="r" b="b"/>
              <a:pathLst>
                <a:path w="37995" h="5948" extrusionOk="0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54"/>
            <p:cNvSpPr/>
            <p:nvPr/>
          </p:nvSpPr>
          <p:spPr>
            <a:xfrm>
              <a:off x="2141675" y="3577925"/>
              <a:ext cx="3757700" cy="438000"/>
            </a:xfrm>
            <a:custGeom>
              <a:avLst/>
              <a:gdLst/>
              <a:ahLst/>
              <a:cxnLst/>
              <a:rect l="l" t="t" r="r" b="b"/>
              <a:pathLst>
                <a:path w="150308" h="17520" extrusionOk="0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54"/>
            <p:cNvSpPr/>
            <p:nvPr/>
          </p:nvSpPr>
          <p:spPr>
            <a:xfrm>
              <a:off x="2134450" y="3570700"/>
              <a:ext cx="3772175" cy="452450"/>
            </a:xfrm>
            <a:custGeom>
              <a:avLst/>
              <a:gdLst/>
              <a:ahLst/>
              <a:cxnLst/>
              <a:rect l="l" t="t" r="r" b="b"/>
              <a:pathLst>
                <a:path w="150887" h="18098" extrusionOk="0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54"/>
            <p:cNvSpPr/>
            <p:nvPr/>
          </p:nvSpPr>
          <p:spPr>
            <a:xfrm>
              <a:off x="2134444" y="1190391"/>
              <a:ext cx="3772355" cy="2607773"/>
            </a:xfrm>
            <a:custGeom>
              <a:avLst/>
              <a:gdLst/>
              <a:ahLst/>
              <a:cxnLst/>
              <a:rect l="l" t="t" r="r" b="b"/>
              <a:pathLst>
                <a:path w="150308" h="112732" extrusionOk="0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54"/>
            <p:cNvSpPr/>
            <p:nvPr/>
          </p:nvSpPr>
          <p:spPr>
            <a:xfrm>
              <a:off x="2134450" y="1190400"/>
              <a:ext cx="3772175" cy="2832750"/>
            </a:xfrm>
            <a:custGeom>
              <a:avLst/>
              <a:gdLst/>
              <a:ahLst/>
              <a:cxnLst/>
              <a:rect l="l" t="t" r="r" b="b"/>
              <a:pathLst>
                <a:path w="150887" h="113310" extrusionOk="0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54"/>
            <p:cNvSpPr/>
            <p:nvPr/>
          </p:nvSpPr>
          <p:spPr>
            <a:xfrm>
              <a:off x="3951400" y="3832765"/>
              <a:ext cx="138250" cy="139050"/>
            </a:xfrm>
            <a:custGeom>
              <a:avLst/>
              <a:gdLst/>
              <a:ahLst/>
              <a:cxnLst/>
              <a:rect l="l" t="t" r="r" b="b"/>
              <a:pathLst>
                <a:path w="5530" h="5562" extrusionOk="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54"/>
            <p:cNvSpPr/>
            <p:nvPr/>
          </p:nvSpPr>
          <p:spPr>
            <a:xfrm>
              <a:off x="3943375" y="3825540"/>
              <a:ext cx="153525" cy="153500"/>
            </a:xfrm>
            <a:custGeom>
              <a:avLst/>
              <a:gdLst/>
              <a:ahLst/>
              <a:cxnLst/>
              <a:rect l="l" t="t" r="r" b="b"/>
              <a:pathLst>
                <a:path w="6141" h="6140" extrusionOk="0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54"/>
            <p:cNvSpPr/>
            <p:nvPr/>
          </p:nvSpPr>
          <p:spPr>
            <a:xfrm>
              <a:off x="3413000" y="4570400"/>
              <a:ext cx="1215075" cy="57075"/>
            </a:xfrm>
            <a:custGeom>
              <a:avLst/>
              <a:gdLst/>
              <a:ahLst/>
              <a:cxnLst/>
              <a:rect l="l" t="t" r="r" b="b"/>
              <a:pathLst>
                <a:path w="48603" h="2283" extrusionOk="0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54"/>
            <p:cNvSpPr/>
            <p:nvPr/>
          </p:nvSpPr>
          <p:spPr>
            <a:xfrm>
              <a:off x="3404950" y="4563150"/>
              <a:ext cx="1230350" cy="71550"/>
            </a:xfrm>
            <a:custGeom>
              <a:avLst/>
              <a:gdLst/>
              <a:ahLst/>
              <a:cxnLst/>
              <a:rect l="l" t="t" r="r" b="b"/>
              <a:pathLst>
                <a:path w="49214" h="2862" extrusionOk="0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54"/>
            <p:cNvSpPr/>
            <p:nvPr/>
          </p:nvSpPr>
          <p:spPr>
            <a:xfrm>
              <a:off x="2180250" y="2902900"/>
              <a:ext cx="162350" cy="178425"/>
            </a:xfrm>
            <a:custGeom>
              <a:avLst/>
              <a:gdLst/>
              <a:ahLst/>
              <a:cxnLst/>
              <a:rect l="l" t="t" r="r" b="b"/>
              <a:pathLst>
                <a:path w="6494" h="7137" extrusionOk="0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54"/>
            <p:cNvSpPr/>
            <p:nvPr/>
          </p:nvSpPr>
          <p:spPr>
            <a:xfrm>
              <a:off x="2177050" y="2895650"/>
              <a:ext cx="172800" cy="192900"/>
            </a:xfrm>
            <a:custGeom>
              <a:avLst/>
              <a:gdLst/>
              <a:ahLst/>
              <a:cxnLst/>
              <a:rect l="l" t="t" r="r" b="b"/>
              <a:pathLst>
                <a:path w="6912" h="7716" extrusionOk="0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54"/>
            <p:cNvSpPr/>
            <p:nvPr/>
          </p:nvSpPr>
          <p:spPr>
            <a:xfrm>
              <a:off x="2210000" y="2764900"/>
              <a:ext cx="282075" cy="242375"/>
            </a:xfrm>
            <a:custGeom>
              <a:avLst/>
              <a:gdLst/>
              <a:ahLst/>
              <a:cxnLst/>
              <a:rect l="l" t="t" r="r" b="b"/>
              <a:pathLst>
                <a:path w="11283" h="9695" extrusionOk="0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54"/>
            <p:cNvSpPr/>
            <p:nvPr/>
          </p:nvSpPr>
          <p:spPr>
            <a:xfrm>
              <a:off x="2214000" y="2758250"/>
              <a:ext cx="276475" cy="255575"/>
            </a:xfrm>
            <a:custGeom>
              <a:avLst/>
              <a:gdLst/>
              <a:ahLst/>
              <a:cxnLst/>
              <a:rect l="l" t="t" r="r" b="b"/>
              <a:pathLst>
                <a:path w="11059" h="10223" extrusionOk="0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54"/>
            <p:cNvSpPr/>
            <p:nvPr/>
          </p:nvSpPr>
          <p:spPr>
            <a:xfrm>
              <a:off x="2414900" y="2812075"/>
              <a:ext cx="12900" cy="42625"/>
            </a:xfrm>
            <a:custGeom>
              <a:avLst/>
              <a:gdLst/>
              <a:ahLst/>
              <a:cxnLst/>
              <a:rect l="l" t="t" r="r" b="b"/>
              <a:pathLst>
                <a:path w="516" h="1705" extrusionOk="0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54"/>
            <p:cNvSpPr/>
            <p:nvPr/>
          </p:nvSpPr>
          <p:spPr>
            <a:xfrm>
              <a:off x="2047650" y="2005300"/>
              <a:ext cx="213800" cy="665375"/>
            </a:xfrm>
            <a:custGeom>
              <a:avLst/>
              <a:gdLst/>
              <a:ahLst/>
              <a:cxnLst/>
              <a:rect l="l" t="t" r="r" b="b"/>
              <a:pathLst>
                <a:path w="8552" h="26615" extrusionOk="0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54"/>
            <p:cNvSpPr/>
            <p:nvPr/>
          </p:nvSpPr>
          <p:spPr>
            <a:xfrm>
              <a:off x="2047650" y="2204550"/>
              <a:ext cx="80400" cy="466125"/>
            </a:xfrm>
            <a:custGeom>
              <a:avLst/>
              <a:gdLst/>
              <a:ahLst/>
              <a:cxnLst/>
              <a:rect l="l" t="t" r="r" b="b"/>
              <a:pathLst>
                <a:path w="3216" h="18645" extrusionOk="0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4"/>
            <p:cNvSpPr/>
            <p:nvPr/>
          </p:nvSpPr>
          <p:spPr>
            <a:xfrm>
              <a:off x="2054100" y="2240725"/>
              <a:ext cx="69925" cy="289325"/>
            </a:xfrm>
            <a:custGeom>
              <a:avLst/>
              <a:gdLst/>
              <a:ahLst/>
              <a:cxnLst/>
              <a:rect l="l" t="t" r="r" b="b"/>
              <a:pathLst>
                <a:path w="2797" h="11573" extrusionOk="0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4"/>
            <p:cNvSpPr/>
            <p:nvPr/>
          </p:nvSpPr>
          <p:spPr>
            <a:xfrm>
              <a:off x="2040425" y="1998825"/>
              <a:ext cx="226650" cy="679075"/>
            </a:xfrm>
            <a:custGeom>
              <a:avLst/>
              <a:gdLst/>
              <a:ahLst/>
              <a:cxnLst/>
              <a:rect l="l" t="t" r="r" b="b"/>
              <a:pathLst>
                <a:path w="9066" h="27163" extrusionOk="0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4"/>
            <p:cNvSpPr/>
            <p:nvPr/>
          </p:nvSpPr>
          <p:spPr>
            <a:xfrm>
              <a:off x="2352225" y="3549925"/>
              <a:ext cx="682300" cy="202825"/>
            </a:xfrm>
            <a:custGeom>
              <a:avLst/>
              <a:gdLst/>
              <a:ahLst/>
              <a:cxnLst/>
              <a:rect l="l" t="t" r="r" b="b"/>
              <a:pathLst>
                <a:path w="27292" h="8113" extrusionOk="0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4"/>
            <p:cNvSpPr/>
            <p:nvPr/>
          </p:nvSpPr>
          <p:spPr>
            <a:xfrm>
              <a:off x="2345000" y="3543375"/>
              <a:ext cx="682275" cy="216200"/>
            </a:xfrm>
            <a:custGeom>
              <a:avLst/>
              <a:gdLst/>
              <a:ahLst/>
              <a:cxnLst/>
              <a:rect l="l" t="t" r="r" b="b"/>
              <a:pathLst>
                <a:path w="27291" h="8648" extrusionOk="0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54"/>
            <p:cNvSpPr/>
            <p:nvPr/>
          </p:nvSpPr>
          <p:spPr>
            <a:xfrm>
              <a:off x="1661925" y="2524225"/>
              <a:ext cx="708000" cy="1228100"/>
            </a:xfrm>
            <a:custGeom>
              <a:avLst/>
              <a:gdLst/>
              <a:ahLst/>
              <a:cxnLst/>
              <a:rect l="l" t="t" r="r" b="b"/>
              <a:pathLst>
                <a:path w="28320" h="49124" extrusionOk="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54"/>
            <p:cNvSpPr/>
            <p:nvPr/>
          </p:nvSpPr>
          <p:spPr>
            <a:xfrm>
              <a:off x="1745500" y="2526000"/>
              <a:ext cx="524775" cy="1109800"/>
            </a:xfrm>
            <a:custGeom>
              <a:avLst/>
              <a:gdLst/>
              <a:ahLst/>
              <a:cxnLst/>
              <a:rect l="l" t="t" r="r" b="b"/>
              <a:pathLst>
                <a:path w="20991" h="44392" extrusionOk="0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54"/>
            <p:cNvSpPr/>
            <p:nvPr/>
          </p:nvSpPr>
          <p:spPr>
            <a:xfrm>
              <a:off x="1745500" y="2598325"/>
              <a:ext cx="511925" cy="1037475"/>
            </a:xfrm>
            <a:custGeom>
              <a:avLst/>
              <a:gdLst/>
              <a:ahLst/>
              <a:cxnLst/>
              <a:rect l="l" t="t" r="r" b="b"/>
              <a:pathLst>
                <a:path w="20477" h="41499" extrusionOk="0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54"/>
            <p:cNvSpPr/>
            <p:nvPr/>
          </p:nvSpPr>
          <p:spPr>
            <a:xfrm>
              <a:off x="1655500" y="2517150"/>
              <a:ext cx="716850" cy="1242100"/>
            </a:xfrm>
            <a:custGeom>
              <a:avLst/>
              <a:gdLst/>
              <a:ahLst/>
              <a:cxnLst/>
              <a:rect l="l" t="t" r="r" b="b"/>
              <a:pathLst>
                <a:path w="28674" h="49684" extrusionOk="0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54"/>
            <p:cNvSpPr/>
            <p:nvPr/>
          </p:nvSpPr>
          <p:spPr>
            <a:xfrm>
              <a:off x="2159350" y="2939125"/>
              <a:ext cx="140675" cy="185600"/>
            </a:xfrm>
            <a:custGeom>
              <a:avLst/>
              <a:gdLst/>
              <a:ahLst/>
              <a:cxnLst/>
              <a:rect l="l" t="t" r="r" b="b"/>
              <a:pathLst>
                <a:path w="5627" h="7424" extrusionOk="0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54"/>
            <p:cNvSpPr/>
            <p:nvPr/>
          </p:nvSpPr>
          <p:spPr>
            <a:xfrm>
              <a:off x="2152925" y="2932625"/>
              <a:ext cx="154325" cy="199000"/>
            </a:xfrm>
            <a:custGeom>
              <a:avLst/>
              <a:gdLst/>
              <a:ahLst/>
              <a:cxnLst/>
              <a:rect l="l" t="t" r="r" b="b"/>
              <a:pathLst>
                <a:path w="6173" h="7960" extrusionOk="0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4"/>
            <p:cNvSpPr/>
            <p:nvPr/>
          </p:nvSpPr>
          <p:spPr>
            <a:xfrm>
              <a:off x="2144100" y="3174525"/>
              <a:ext cx="314225" cy="554975"/>
            </a:xfrm>
            <a:custGeom>
              <a:avLst/>
              <a:gdLst/>
              <a:ahLst/>
              <a:cxnLst/>
              <a:rect l="l" t="t" r="r" b="b"/>
              <a:pathLst>
                <a:path w="12569" h="22199" extrusionOk="0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54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54"/>
            <p:cNvSpPr/>
            <p:nvPr/>
          </p:nvSpPr>
          <p:spPr>
            <a:xfrm>
              <a:off x="2169800" y="3376225"/>
              <a:ext cx="141475" cy="243525"/>
            </a:xfrm>
            <a:custGeom>
              <a:avLst/>
              <a:gdLst/>
              <a:ahLst/>
              <a:cxnLst/>
              <a:rect l="l" t="t" r="r" b="b"/>
              <a:pathLst>
                <a:path w="5659" h="9741" extrusionOk="0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4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4"/>
            <p:cNvSpPr/>
            <p:nvPr/>
          </p:nvSpPr>
          <p:spPr>
            <a:xfrm>
              <a:off x="2136850" y="3167975"/>
              <a:ext cx="325500" cy="568300"/>
            </a:xfrm>
            <a:custGeom>
              <a:avLst/>
              <a:gdLst/>
              <a:ahLst/>
              <a:cxnLst/>
              <a:rect l="l" t="t" r="r" b="b"/>
              <a:pathLst>
                <a:path w="13020" h="22732" extrusionOk="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4"/>
            <p:cNvSpPr/>
            <p:nvPr/>
          </p:nvSpPr>
          <p:spPr>
            <a:xfrm>
              <a:off x="2314450" y="3589175"/>
              <a:ext cx="147900" cy="140325"/>
            </a:xfrm>
            <a:custGeom>
              <a:avLst/>
              <a:gdLst/>
              <a:ahLst/>
              <a:cxnLst/>
              <a:rect l="l" t="t" r="r" b="b"/>
              <a:pathLst>
                <a:path w="5916" h="5613" extrusionOk="0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4"/>
            <p:cNvSpPr/>
            <p:nvPr/>
          </p:nvSpPr>
          <p:spPr>
            <a:xfrm>
              <a:off x="2307225" y="3582450"/>
              <a:ext cx="156725" cy="153825"/>
            </a:xfrm>
            <a:custGeom>
              <a:avLst/>
              <a:gdLst/>
              <a:ahLst/>
              <a:cxnLst/>
              <a:rect l="l" t="t" r="r" b="b"/>
              <a:pathLst>
                <a:path w="6269" h="6153" extrusionOk="0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54"/>
            <p:cNvSpPr/>
            <p:nvPr/>
          </p:nvSpPr>
          <p:spPr>
            <a:xfrm>
              <a:off x="2013100" y="2523650"/>
              <a:ext cx="178425" cy="93975"/>
            </a:xfrm>
            <a:custGeom>
              <a:avLst/>
              <a:gdLst/>
              <a:ahLst/>
              <a:cxnLst/>
              <a:rect l="l" t="t" r="r" b="b"/>
              <a:pathLst>
                <a:path w="7137" h="3759" extrusionOk="0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4"/>
            <p:cNvSpPr/>
            <p:nvPr/>
          </p:nvSpPr>
          <p:spPr>
            <a:xfrm>
              <a:off x="2013100" y="2524400"/>
              <a:ext cx="86025" cy="93225"/>
            </a:xfrm>
            <a:custGeom>
              <a:avLst/>
              <a:gdLst/>
              <a:ahLst/>
              <a:cxnLst/>
              <a:rect l="l" t="t" r="r" b="b"/>
              <a:pathLst>
                <a:path w="3441" h="3729" extrusionOk="0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4"/>
            <p:cNvSpPr/>
            <p:nvPr/>
          </p:nvSpPr>
          <p:spPr>
            <a:xfrm>
              <a:off x="2023550" y="2524400"/>
              <a:ext cx="75575" cy="93225"/>
            </a:xfrm>
            <a:custGeom>
              <a:avLst/>
              <a:gdLst/>
              <a:ahLst/>
              <a:cxnLst/>
              <a:rect l="l" t="t" r="r" b="b"/>
              <a:pathLst>
                <a:path w="3023" h="3729" extrusionOk="0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54"/>
            <p:cNvSpPr/>
            <p:nvPr/>
          </p:nvSpPr>
          <p:spPr>
            <a:xfrm>
              <a:off x="2016325" y="2517150"/>
              <a:ext cx="182450" cy="106975"/>
            </a:xfrm>
            <a:custGeom>
              <a:avLst/>
              <a:gdLst/>
              <a:ahLst/>
              <a:cxnLst/>
              <a:rect l="l" t="t" r="r" b="b"/>
              <a:pathLst>
                <a:path w="7298" h="4279" extrusionOk="0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54"/>
            <p:cNvSpPr/>
            <p:nvPr/>
          </p:nvSpPr>
          <p:spPr>
            <a:xfrm>
              <a:off x="2067750" y="3353725"/>
              <a:ext cx="137450" cy="96575"/>
            </a:xfrm>
            <a:custGeom>
              <a:avLst/>
              <a:gdLst/>
              <a:ahLst/>
              <a:cxnLst/>
              <a:rect l="l" t="t" r="r" b="b"/>
              <a:pathLst>
                <a:path w="5498" h="3863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4"/>
            <p:cNvSpPr/>
            <p:nvPr/>
          </p:nvSpPr>
          <p:spPr>
            <a:xfrm>
              <a:off x="2120800" y="2560950"/>
              <a:ext cx="365650" cy="417475"/>
            </a:xfrm>
            <a:custGeom>
              <a:avLst/>
              <a:gdLst/>
              <a:ahLst/>
              <a:cxnLst/>
              <a:rect l="l" t="t" r="r" b="b"/>
              <a:pathLst>
                <a:path w="14626" h="16699" extrusionOk="0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4"/>
            <p:cNvSpPr/>
            <p:nvPr/>
          </p:nvSpPr>
          <p:spPr>
            <a:xfrm>
              <a:off x="2124000" y="2554125"/>
              <a:ext cx="348800" cy="430975"/>
            </a:xfrm>
            <a:custGeom>
              <a:avLst/>
              <a:gdLst/>
              <a:ahLst/>
              <a:cxnLst/>
              <a:rect l="l" t="t" r="r" b="b"/>
              <a:pathLst>
                <a:path w="13952" h="17239" extrusionOk="0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4"/>
            <p:cNvSpPr/>
            <p:nvPr/>
          </p:nvSpPr>
          <p:spPr>
            <a:xfrm>
              <a:off x="2203550" y="2655875"/>
              <a:ext cx="254775" cy="296875"/>
            </a:xfrm>
            <a:custGeom>
              <a:avLst/>
              <a:gdLst/>
              <a:ahLst/>
              <a:cxnLst/>
              <a:rect l="l" t="t" r="r" b="b"/>
              <a:pathLst>
                <a:path w="10191" h="11875" extrusionOk="0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4"/>
            <p:cNvSpPr/>
            <p:nvPr/>
          </p:nvSpPr>
          <p:spPr>
            <a:xfrm>
              <a:off x="2254175" y="2833475"/>
              <a:ext cx="89250" cy="68800"/>
            </a:xfrm>
            <a:custGeom>
              <a:avLst/>
              <a:gdLst/>
              <a:ahLst/>
              <a:cxnLst/>
              <a:rect l="l" t="t" r="r" b="b"/>
              <a:pathLst>
                <a:path w="3570" h="2752" extrusionOk="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4"/>
            <p:cNvSpPr/>
            <p:nvPr/>
          </p:nvSpPr>
          <p:spPr>
            <a:xfrm>
              <a:off x="1974675" y="4962550"/>
              <a:ext cx="249000" cy="116775"/>
            </a:xfrm>
            <a:custGeom>
              <a:avLst/>
              <a:gdLst/>
              <a:ahLst/>
              <a:cxnLst/>
              <a:rect l="l" t="t" r="r" b="b"/>
              <a:pathLst>
                <a:path w="9960" h="4671" extrusionOk="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4"/>
            <p:cNvSpPr/>
            <p:nvPr/>
          </p:nvSpPr>
          <p:spPr>
            <a:xfrm>
              <a:off x="1969700" y="4955525"/>
              <a:ext cx="258000" cy="130800"/>
            </a:xfrm>
            <a:custGeom>
              <a:avLst/>
              <a:gdLst/>
              <a:ahLst/>
              <a:cxnLst/>
              <a:rect l="l" t="t" r="r" b="b"/>
              <a:pathLst>
                <a:path w="10320" h="5232" extrusionOk="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4"/>
            <p:cNvSpPr/>
            <p:nvPr/>
          </p:nvSpPr>
          <p:spPr>
            <a:xfrm>
              <a:off x="1977750" y="5042900"/>
              <a:ext cx="245925" cy="36350"/>
            </a:xfrm>
            <a:custGeom>
              <a:avLst/>
              <a:gdLst/>
              <a:ahLst/>
              <a:cxnLst/>
              <a:rect l="l" t="t" r="r" b="b"/>
              <a:pathLst>
                <a:path w="9837" h="1454" extrusionOk="0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4"/>
            <p:cNvSpPr/>
            <p:nvPr/>
          </p:nvSpPr>
          <p:spPr>
            <a:xfrm>
              <a:off x="1970525" y="5036475"/>
              <a:ext cx="257175" cy="49850"/>
            </a:xfrm>
            <a:custGeom>
              <a:avLst/>
              <a:gdLst/>
              <a:ahLst/>
              <a:cxnLst/>
              <a:rect l="l" t="t" r="r" b="b"/>
              <a:pathLst>
                <a:path w="10287" h="1994" extrusionOk="0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4"/>
            <p:cNvSpPr/>
            <p:nvPr/>
          </p:nvSpPr>
          <p:spPr>
            <a:xfrm>
              <a:off x="1259325" y="4948900"/>
              <a:ext cx="232650" cy="183350"/>
            </a:xfrm>
            <a:custGeom>
              <a:avLst/>
              <a:gdLst/>
              <a:ahLst/>
              <a:cxnLst/>
              <a:rect l="l" t="t" r="r" b="b"/>
              <a:pathLst>
                <a:path w="9306" h="7334" extrusionOk="0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4"/>
            <p:cNvSpPr/>
            <p:nvPr/>
          </p:nvSpPr>
          <p:spPr>
            <a:xfrm>
              <a:off x="1255300" y="4942425"/>
              <a:ext cx="238700" cy="196150"/>
            </a:xfrm>
            <a:custGeom>
              <a:avLst/>
              <a:gdLst/>
              <a:ahLst/>
              <a:cxnLst/>
              <a:rect l="l" t="t" r="r" b="b"/>
              <a:pathLst>
                <a:path w="9548" h="7846" extrusionOk="0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4"/>
            <p:cNvSpPr/>
            <p:nvPr/>
          </p:nvSpPr>
          <p:spPr>
            <a:xfrm>
              <a:off x="1259325" y="4995500"/>
              <a:ext cx="227450" cy="136700"/>
            </a:xfrm>
            <a:custGeom>
              <a:avLst/>
              <a:gdLst/>
              <a:ahLst/>
              <a:cxnLst/>
              <a:rect l="l" t="t" r="r" b="b"/>
              <a:pathLst>
                <a:path w="9098" h="5468" extrusionOk="0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4"/>
            <p:cNvSpPr/>
            <p:nvPr/>
          </p:nvSpPr>
          <p:spPr>
            <a:xfrm>
              <a:off x="1255300" y="4989075"/>
              <a:ext cx="238700" cy="149500"/>
            </a:xfrm>
            <a:custGeom>
              <a:avLst/>
              <a:gdLst/>
              <a:ahLst/>
              <a:cxnLst/>
              <a:rect l="l" t="t" r="r" b="b"/>
              <a:pathLst>
                <a:path w="9548" h="5980" extrusionOk="0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4"/>
            <p:cNvSpPr/>
            <p:nvPr/>
          </p:nvSpPr>
          <p:spPr>
            <a:xfrm>
              <a:off x="1608075" y="3506400"/>
              <a:ext cx="458900" cy="1476275"/>
            </a:xfrm>
            <a:custGeom>
              <a:avLst/>
              <a:gdLst/>
              <a:ahLst/>
              <a:cxnLst/>
              <a:rect l="l" t="t" r="r" b="b"/>
              <a:pathLst>
                <a:path w="18356" h="59051" extrusionOk="0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4"/>
            <p:cNvSpPr/>
            <p:nvPr/>
          </p:nvSpPr>
          <p:spPr>
            <a:xfrm>
              <a:off x="1606475" y="3499650"/>
              <a:ext cx="466925" cy="1489450"/>
            </a:xfrm>
            <a:custGeom>
              <a:avLst/>
              <a:gdLst/>
              <a:ahLst/>
              <a:cxnLst/>
              <a:rect l="l" t="t" r="r" b="b"/>
              <a:pathLst>
                <a:path w="18677" h="59578" extrusionOk="0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4"/>
            <p:cNvSpPr/>
            <p:nvPr/>
          </p:nvSpPr>
          <p:spPr>
            <a:xfrm>
              <a:off x="1318775" y="3717750"/>
              <a:ext cx="634875" cy="1260100"/>
            </a:xfrm>
            <a:custGeom>
              <a:avLst/>
              <a:gdLst/>
              <a:ahLst/>
              <a:cxnLst/>
              <a:rect l="l" t="t" r="r" b="b"/>
              <a:pathLst>
                <a:path w="25395" h="50404" extrusionOk="0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4"/>
            <p:cNvSpPr/>
            <p:nvPr/>
          </p:nvSpPr>
          <p:spPr>
            <a:xfrm>
              <a:off x="1848375" y="3941000"/>
              <a:ext cx="67525" cy="394925"/>
            </a:xfrm>
            <a:custGeom>
              <a:avLst/>
              <a:gdLst/>
              <a:ahLst/>
              <a:cxnLst/>
              <a:rect l="l" t="t" r="r" b="b"/>
              <a:pathLst>
                <a:path w="2701" h="15797" extrusionOk="0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54"/>
            <p:cNvSpPr/>
            <p:nvPr/>
          </p:nvSpPr>
          <p:spPr>
            <a:xfrm>
              <a:off x="1633800" y="3761650"/>
              <a:ext cx="54675" cy="233375"/>
            </a:xfrm>
            <a:custGeom>
              <a:avLst/>
              <a:gdLst/>
              <a:ahLst/>
              <a:cxnLst/>
              <a:rect l="l" t="t" r="r" b="b"/>
              <a:pathLst>
                <a:path w="2187" h="9335" extrusionOk="0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54"/>
            <p:cNvSpPr/>
            <p:nvPr/>
          </p:nvSpPr>
          <p:spPr>
            <a:xfrm>
              <a:off x="1827475" y="3665300"/>
              <a:ext cx="123775" cy="93475"/>
            </a:xfrm>
            <a:custGeom>
              <a:avLst/>
              <a:gdLst/>
              <a:ahLst/>
              <a:cxnLst/>
              <a:rect l="l" t="t" r="r" b="b"/>
              <a:pathLst>
                <a:path w="4951" h="3739" extrusionOk="0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54"/>
            <p:cNvSpPr/>
            <p:nvPr/>
          </p:nvSpPr>
          <p:spPr>
            <a:xfrm>
              <a:off x="1726225" y="3634675"/>
              <a:ext cx="181625" cy="758150"/>
            </a:xfrm>
            <a:custGeom>
              <a:avLst/>
              <a:gdLst/>
              <a:ahLst/>
              <a:cxnLst/>
              <a:rect l="l" t="t" r="r" b="b"/>
              <a:pathLst>
                <a:path w="7265" h="30326" extrusionOk="0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54"/>
            <p:cNvSpPr/>
            <p:nvPr/>
          </p:nvSpPr>
          <p:spPr>
            <a:xfrm>
              <a:off x="1690850" y="4417675"/>
              <a:ext cx="32975" cy="40550"/>
            </a:xfrm>
            <a:custGeom>
              <a:avLst/>
              <a:gdLst/>
              <a:ahLst/>
              <a:cxnLst/>
              <a:rect l="l" t="t" r="r" b="b"/>
              <a:pathLst>
                <a:path w="1319" h="1622" extrusionOk="0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54"/>
            <p:cNvSpPr/>
            <p:nvPr/>
          </p:nvSpPr>
          <p:spPr>
            <a:xfrm>
              <a:off x="1311550" y="3711175"/>
              <a:ext cx="649350" cy="1273425"/>
            </a:xfrm>
            <a:custGeom>
              <a:avLst/>
              <a:gdLst/>
              <a:ahLst/>
              <a:cxnLst/>
              <a:rect l="l" t="t" r="r" b="b"/>
              <a:pathLst>
                <a:path w="25974" h="50937" extrusionOk="0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55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Prático</a:t>
            </a:r>
            <a:endParaRPr/>
          </a:p>
        </p:txBody>
      </p:sp>
      <p:sp>
        <p:nvSpPr>
          <p:cNvPr id="2303" name="Google Shape;2303;p55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56"/>
          <p:cNvSpPr txBox="1">
            <a:spLocks noGrp="1"/>
          </p:cNvSpPr>
          <p:nvPr>
            <p:ph type="body" idx="1"/>
          </p:nvPr>
        </p:nvSpPr>
        <p:spPr>
          <a:xfrm>
            <a:off x="1881350" y="1246850"/>
            <a:ext cx="5662500" cy="35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</a:pPr>
            <a:r>
              <a:rPr lang="pt-BR" u="sng" dirty="0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Appium: Automação para Aplicativos</a:t>
            </a:r>
            <a:endParaRPr dirty="0"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</a:pPr>
            <a:r>
              <a:rPr lang="pt-BR" u="sng" dirty="0" err="1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4"/>
              </a:rPr>
              <a:t>Introduction</a:t>
            </a:r>
            <a:r>
              <a:rPr lang="pt-BR" u="sng" dirty="0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4"/>
              </a:rPr>
              <a:t> - Appium</a:t>
            </a:r>
            <a:endParaRPr dirty="0"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ven Pro"/>
              <a:buChar char="●"/>
            </a:pPr>
            <a:r>
              <a:rPr lang="pt-BR" u="sng" dirty="0">
                <a:solidFill>
                  <a:schemeClr val="accent1"/>
                </a:solidFill>
                <a:latin typeface="Maven Pro"/>
                <a:ea typeface="Maven Pro"/>
                <a:cs typeface="Maven Pro"/>
                <a:sym typeface="Maven Pro"/>
              </a:rPr>
              <a:t>https://blog.betrybe.com/tecnologia/teste-automatizados/</a:t>
            </a:r>
            <a:endParaRPr u="sng" dirty="0"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ven Pro"/>
              <a:buChar char="●"/>
            </a:pPr>
            <a:r>
              <a:rPr lang="pt-BR" u="sng" dirty="0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5"/>
              </a:rPr>
              <a:t>https://github.com/appium/appium</a:t>
            </a:r>
            <a:endParaRPr u="sng" dirty="0"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ven Pro"/>
              <a:buChar char="●"/>
            </a:pPr>
            <a:r>
              <a:rPr lang="pt-BR" u="sng" dirty="0">
                <a:solidFill>
                  <a:schemeClr val="accent1"/>
                </a:solidFill>
                <a:latin typeface="Maven Pro"/>
                <a:ea typeface="Maven Pro"/>
                <a:cs typeface="Maven Pro"/>
                <a:sym typeface="Maven Pro"/>
              </a:rPr>
              <a:t>https://medium.com/flutterando/flutter-testes-de-integra%C3%A7%C3%A3o-com-appium-41c1a8741f08</a:t>
            </a:r>
            <a:endParaRPr u="sng" dirty="0"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309" name="Google Shape;2309;p5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Microsoft Office PowerPoint</Application>
  <PresentationFormat>Apresentação na tela (16:9)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Fjalla One</vt:lpstr>
      <vt:lpstr>Maven Pro</vt:lpstr>
      <vt:lpstr>Barlow Semi Condensed Medium</vt:lpstr>
      <vt:lpstr>Roboto Condensed Light</vt:lpstr>
      <vt:lpstr>Nunito</vt:lpstr>
      <vt:lpstr>Verdana</vt:lpstr>
      <vt:lpstr>Arial</vt:lpstr>
      <vt:lpstr>Barlow Semi Condensed</vt:lpstr>
      <vt:lpstr>Momentum</vt:lpstr>
      <vt:lpstr>Technology Consulting by Slidesgo</vt:lpstr>
      <vt:lpstr>Teste Automatizados Appium</vt:lpstr>
      <vt:lpstr>Importância dos testes</vt:lpstr>
      <vt:lpstr>Testes Automatizados  </vt:lpstr>
      <vt:lpstr>Testes Automatizados  </vt:lpstr>
      <vt:lpstr>Testes Automatizados  </vt:lpstr>
      <vt:lpstr>Testes Automatizados </vt:lpstr>
      <vt:lpstr>Apresentação do PowerPoint</vt:lpstr>
      <vt:lpstr>Como funciona? </vt:lpstr>
      <vt:lpstr>Informações adicionais </vt:lpstr>
      <vt:lpstr>Apresentação do PowerPoint</vt:lpstr>
      <vt:lpstr>Teste Prático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Automatizados Appium</dc:title>
  <cp:lastModifiedBy>Tarcísio Ribeiro</cp:lastModifiedBy>
  <cp:revision>1</cp:revision>
  <dcterms:modified xsi:type="dcterms:W3CDTF">2021-06-09T12:17:25Z</dcterms:modified>
</cp:coreProperties>
</file>