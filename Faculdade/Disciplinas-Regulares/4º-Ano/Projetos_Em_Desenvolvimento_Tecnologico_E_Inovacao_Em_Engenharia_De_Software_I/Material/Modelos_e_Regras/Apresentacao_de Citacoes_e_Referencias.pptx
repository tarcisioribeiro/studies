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7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8" r:id="rId23"/>
    <p:sldId id="279" r:id="rId24"/>
    <p:sldId id="276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04"/>
  </p:normalViewPr>
  <p:slideViewPr>
    <p:cSldViewPr snapToGrid="0" snapToObjects="1">
      <p:cViewPr varScale="1">
        <p:scale>
          <a:sx n="72" d="100"/>
          <a:sy n="72" d="100"/>
        </p:scale>
        <p:origin x="4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6E4B13-98C2-1946-9FC1-C5555B6E4C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3C44F2-0B42-AE44-98D4-77A244D195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717978-3B28-F941-B18A-B6FBC9CE8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2CB8C-34DC-ED44-B7FA-FBE7066F4652}" type="datetimeFigureOut">
              <a:rPr lang="pt-BR" smtClean="0"/>
              <a:t>18/03/2021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8FCADE-E4F1-8A4C-80D2-675718A6C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D3AF59-5667-4F40-BB17-5420FBC6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C1315-4942-FF4D-9670-2D581A0CF9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291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56FD5D-D6D0-4A45-8C08-E0A145361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AA1506-FFE7-8546-9D06-E42D5FCC4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D9D57E-83E2-C24F-B603-7F842C02A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2CB8C-34DC-ED44-B7FA-FBE7066F4652}" type="datetimeFigureOut">
              <a:rPr lang="pt-BR" smtClean="0"/>
              <a:t>18/03/2021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AED32F-5C5A-044C-BB57-2342BDB33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DEBB41-7812-6940-B45B-2AC7102F1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C1315-4942-FF4D-9670-2D581A0CF9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2783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B975AB-7D8E-DA40-B825-2FF0820AD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FA60E77-ACB2-384B-A460-14EAA8E21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52B098-11DF-0A48-8420-2C9E60859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2CB8C-34DC-ED44-B7FA-FBE7066F4652}" type="datetimeFigureOut">
              <a:rPr lang="pt-BR" smtClean="0"/>
              <a:t>18/03/2021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67FDE6-1E0A-9A4B-8FA0-3920A2D42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3DFFE6-7937-734D-945A-F2ED41C65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C1315-4942-FF4D-9670-2D581A0CF9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9633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24C625-95A5-C046-9FDB-1B66B82C4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D5579B-9ED4-C94F-A4D9-F1DDFB5DA3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FBF454F-527A-7A41-B72E-099FDDA91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42CA6DB-7735-4243-8FC8-E88D51B5C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2CB8C-34DC-ED44-B7FA-FBE7066F4652}" type="datetimeFigureOut">
              <a:rPr lang="pt-BR" smtClean="0"/>
              <a:t>18/03/2021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63761E9-A016-BF4D-8B8E-43D5B32D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F839E10-B84F-574A-89FD-D64F25A9E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C1315-4942-FF4D-9670-2D581A0CF9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67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0EFDC6-9ABA-6E43-9464-651FEA085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74A5CEB-4A26-2A42-82BA-0A630EA5D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88D0F70-55F7-6A48-BB28-84AD9EFCC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E48EE62-BF6E-0D4E-9259-6F0B60BF5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F437805-D32A-9744-89FC-A7F4828060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9722593-0FB0-3044-A5C3-6AA5FA007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2CB8C-34DC-ED44-B7FA-FBE7066F4652}" type="datetimeFigureOut">
              <a:rPr lang="pt-BR" smtClean="0"/>
              <a:t>18/03/2021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4881668-FCD8-0E44-A8C8-9CDD8DC69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4BE95C1-3A21-0D47-86AF-307E25608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C1315-4942-FF4D-9670-2D581A0CF9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4398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AB16E-0284-4342-AB65-29CEC5751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55A7743-485F-394F-B5C2-9411C1AEC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2CB8C-34DC-ED44-B7FA-FBE7066F4652}" type="datetimeFigureOut">
              <a:rPr lang="pt-BR" smtClean="0"/>
              <a:t>18/03/2021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8D3AC10-361A-B140-BA11-25517F79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32B3F47-29EF-DC4C-9DE0-573170EAF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C1315-4942-FF4D-9670-2D581A0CF9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3098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E99835A-6C31-E043-8AFD-6681356CA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2CB8C-34DC-ED44-B7FA-FBE7066F4652}" type="datetimeFigureOut">
              <a:rPr lang="pt-BR" smtClean="0"/>
              <a:t>18/03/2021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9EDFAC9-14BA-734A-ABCB-959355E2A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41744DD-E939-BF42-BB79-59A2B6225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C1315-4942-FF4D-9670-2D581A0CF9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1807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FF3EB-ADB6-A441-BB7A-34A2B44B2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F48FEE-1611-1E46-91EE-D7000B3AF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56CA916-1BAA-104D-9D70-82F2A92A6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521C97-0D9B-AA49-B935-83CAED0EA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2CB8C-34DC-ED44-B7FA-FBE7066F4652}" type="datetimeFigureOut">
              <a:rPr lang="pt-BR" smtClean="0"/>
              <a:t>18/03/2021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EDC2431-8003-1A44-A0FC-12A9E2DAB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F01BDC4-1856-4A4D-A905-1A6E99600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C1315-4942-FF4D-9670-2D581A0CF9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9227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BE1546-07A2-F24D-AD3F-82FEC584E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D7FEBEF-2D9C-B64F-B0FF-FD23DF2FCD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7533680-D57D-384A-B91F-C31F9EF30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CAE08E5-ED0D-CC4E-A0E8-89BEBB4B3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2CB8C-34DC-ED44-B7FA-FBE7066F4652}" type="datetimeFigureOut">
              <a:rPr lang="pt-BR" smtClean="0"/>
              <a:t>18/03/2021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7CD4A1-D11E-B849-9821-A83778337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618D16-E4A7-5646-81A2-4DA52BABC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C1315-4942-FF4D-9670-2D581A0CF9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107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2A96EF-0A3B-A149-AEF5-D6B5B90AA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C12017F-AA45-E74E-AFD3-6C07C35E4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42A716-9BDF-5747-9BC5-76356ED69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2CB8C-34DC-ED44-B7FA-FBE7066F4652}" type="datetimeFigureOut">
              <a:rPr lang="pt-BR" smtClean="0"/>
              <a:t>18/03/2021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480FB5-AE61-D840-85AC-EAADE86CB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87E1B9-A2EA-4F42-8650-D153AC6B5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C1315-4942-FF4D-9670-2D581A0CF9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876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C03A105-2416-2246-976E-A2EE8F955E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5EF497-44F3-204B-93B3-7C131AD37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C37E44-C0C5-B146-9B18-CCD2FBC87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2CB8C-34DC-ED44-B7FA-FBE7066F4652}" type="datetimeFigureOut">
              <a:rPr lang="pt-BR" smtClean="0"/>
              <a:t>18/03/2021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91FB8C-C514-1242-AE5D-329A14DAE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FC786C-D8FF-744B-8EDB-2B29F5AC5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C1315-4942-FF4D-9670-2D581A0CF9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5294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317B1C5-3C90-2F48-BBC7-8A15A5B18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9A5297-3C40-424F-8B4A-5A205E64B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328B28-FB2E-F749-BC5D-4CCEE260C6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2CB8C-34DC-ED44-B7FA-FBE7066F4652}" type="datetimeFigureOut">
              <a:rPr lang="pt-BR" smtClean="0"/>
              <a:t>18/03/2021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C3C339-DA22-1843-B0B2-5ECE3B51DF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2F027F-7361-E54A-9F8E-C2E72F4FD5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C1315-4942-FF4D-9670-2D581A0CF9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9499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7EA0D-AEB5-9341-BD10-18E215AA0E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APRESENTAÇÃO DE </a:t>
            </a:r>
            <a:r>
              <a:rPr lang="pt-BR" dirty="0">
                <a:highlight>
                  <a:srgbClr val="00FF00"/>
                </a:highlight>
              </a:rPr>
              <a:t>CITAÇÕES</a:t>
            </a:r>
            <a:r>
              <a:rPr lang="pt-BR" dirty="0"/>
              <a:t> E </a:t>
            </a:r>
            <a:r>
              <a:rPr lang="pt-BR" dirty="0">
                <a:highlight>
                  <a:srgbClr val="00FF00"/>
                </a:highlight>
              </a:rPr>
              <a:t>REFERÊNCIAS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0B6C48-FF71-5946-8C40-0727BE23B5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30171"/>
            <a:ext cx="9144000" cy="1655762"/>
          </a:xfrm>
        </p:spPr>
        <p:txBody>
          <a:bodyPr/>
          <a:lstStyle/>
          <a:p>
            <a:r>
              <a:rPr lang="pt-BR" dirty="0"/>
              <a:t>Estrutura e formatação de trabalhos acadêmicos: compilação e discussão das normas da ABNT e atalhos facilitadores para digitação. / Sheila Fernandes Pimenta e Oliveira. 5. ed.. – Franca (SP): Uni-FACEF, 2019.</a:t>
            </a:r>
          </a:p>
        </p:txBody>
      </p:sp>
    </p:spTree>
    <p:extLst>
      <p:ext uri="{BB962C8B-B14F-4D97-AF65-F5344CB8AC3E}">
        <p14:creationId xmlns:p14="http://schemas.microsoft.com/office/powerpoint/2010/main" val="2483632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0F3867-1C37-0344-8BF2-5A2BC82F9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Contextualização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3DEF80-A9BC-4A4B-B800-FDB4E226A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BackLog</a:t>
            </a:r>
            <a:r>
              <a:rPr lang="pt-BR" dirty="0"/>
              <a:t> – março</a:t>
            </a:r>
          </a:p>
          <a:p>
            <a:pPr lvl="1"/>
            <a:r>
              <a:rPr lang="pt-BR" dirty="0"/>
              <a:t>Entrega 06/04</a:t>
            </a:r>
          </a:p>
          <a:p>
            <a:pPr lvl="1"/>
            <a:endParaRPr lang="pt-BR" dirty="0">
              <a:solidFill>
                <a:srgbClr val="FF0000"/>
              </a:solidFill>
              <a:highlight>
                <a:srgbClr val="00FF00"/>
              </a:highlight>
            </a:endParaRPr>
          </a:p>
          <a:p>
            <a:pPr lvl="1"/>
            <a:r>
              <a:rPr lang="pt-BR" dirty="0">
                <a:solidFill>
                  <a:srgbClr val="FF0000"/>
                </a:solidFill>
                <a:highlight>
                  <a:srgbClr val="00FF00"/>
                </a:highlight>
              </a:rPr>
              <a:t>REFERENCIAL TEÓRICO – 4 A 5 PÁGINAS (TEMAS DO TCC)</a:t>
            </a:r>
          </a:p>
        </p:txBody>
      </p:sp>
    </p:spTree>
    <p:extLst>
      <p:ext uri="{BB962C8B-B14F-4D97-AF65-F5344CB8AC3E}">
        <p14:creationId xmlns:p14="http://schemas.microsoft.com/office/powerpoint/2010/main" val="949385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1C42CC-87A9-1B40-A89E-676ED05C3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Conteúdo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E07F81-83D3-3E49-B83E-4C4CA5B5C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ighlight>
                  <a:srgbClr val="00FF00"/>
                </a:highlight>
              </a:rPr>
              <a:t>Citação</a:t>
            </a:r>
          </a:p>
          <a:p>
            <a:pPr lvl="1"/>
            <a:r>
              <a:rPr lang="pt-BR" dirty="0"/>
              <a:t>Transcrição ou cópia literal</a:t>
            </a:r>
          </a:p>
          <a:p>
            <a:pPr lvl="1"/>
            <a:r>
              <a:rPr lang="pt-BR" dirty="0"/>
              <a:t>Paráfrase</a:t>
            </a:r>
          </a:p>
          <a:p>
            <a:pPr lvl="1"/>
            <a:r>
              <a:rPr lang="pt-BR" dirty="0"/>
              <a:t>Formas de apresentação</a:t>
            </a:r>
          </a:p>
          <a:p>
            <a:endParaRPr lang="pt-BR" dirty="0"/>
          </a:p>
          <a:p>
            <a:r>
              <a:rPr lang="pt-BR" dirty="0">
                <a:highlight>
                  <a:srgbClr val="00FF00"/>
                </a:highlight>
              </a:rPr>
              <a:t>Referências</a:t>
            </a:r>
          </a:p>
        </p:txBody>
      </p:sp>
    </p:spTree>
    <p:extLst>
      <p:ext uri="{BB962C8B-B14F-4D97-AF65-F5344CB8AC3E}">
        <p14:creationId xmlns:p14="http://schemas.microsoft.com/office/powerpoint/2010/main" val="2161076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F5DBC-E980-6840-A9C2-6869EF584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CITAÇÃO - Conceito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0D235D-F5AC-5646-AEB6-7E741F750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menção, no texto em que se elabora, de uma informação colhida em outra fonte</a:t>
            </a:r>
          </a:p>
          <a:p>
            <a:pPr lvl="1"/>
            <a:r>
              <a:rPr lang="pt-BR" dirty="0"/>
              <a:t>livros, </a:t>
            </a:r>
          </a:p>
          <a:p>
            <a:pPr lvl="1"/>
            <a:r>
              <a:rPr lang="pt-BR" dirty="0"/>
              <a:t>revistas, </a:t>
            </a:r>
          </a:p>
          <a:p>
            <a:pPr lvl="1"/>
            <a:r>
              <a:rPr lang="pt-BR" dirty="0"/>
              <a:t>jornais, </a:t>
            </a:r>
          </a:p>
          <a:p>
            <a:pPr lvl="1"/>
            <a:r>
              <a:rPr lang="pt-BR" dirty="0">
                <a:highlight>
                  <a:srgbClr val="00FF00"/>
                </a:highlight>
              </a:rPr>
              <a:t>Internet (desde que tenha autor – pessoa física ou jurídica)</a:t>
            </a:r>
          </a:p>
          <a:p>
            <a:pPr lvl="1"/>
            <a:r>
              <a:rPr lang="pt-BR" dirty="0"/>
              <a:t>monografias, </a:t>
            </a:r>
          </a:p>
          <a:p>
            <a:pPr lvl="1"/>
            <a:r>
              <a:rPr lang="pt-BR" dirty="0"/>
              <a:t>documentos produzidos em encontros</a:t>
            </a:r>
          </a:p>
          <a:p>
            <a:pPr lvl="1"/>
            <a:r>
              <a:rPr lang="pt-BR" dirty="0"/>
              <a:t>Contra exemplo: fórum de discussão – não façam isso</a:t>
            </a:r>
          </a:p>
        </p:txBody>
      </p:sp>
    </p:spTree>
    <p:extLst>
      <p:ext uri="{BB962C8B-B14F-4D97-AF65-F5344CB8AC3E}">
        <p14:creationId xmlns:p14="http://schemas.microsoft.com/office/powerpoint/2010/main" val="1312924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4462BE-7A77-4948-8E65-BFAE31DE9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highlight>
                  <a:srgbClr val="00FF00"/>
                </a:highlight>
              </a:rPr>
              <a:t>TRANSCRIÇÃO</a:t>
            </a:r>
            <a:r>
              <a:rPr lang="pt-BR" dirty="0"/>
              <a:t> ou CÓPIA LITERAL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B5988B-5928-3546-B449-8E6A2110D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a </a:t>
            </a:r>
            <a:r>
              <a:rPr lang="pt-BR" dirty="0">
                <a:highlight>
                  <a:srgbClr val="00FF00"/>
                </a:highlight>
              </a:rPr>
              <a:t>reprodução das próprias palavras do texto citado</a:t>
            </a:r>
            <a:r>
              <a:rPr lang="pt-BR" dirty="0"/>
              <a:t>. Trata-se de uma citação direta, porque transcreve, copia parte da obra do autor consultado.</a:t>
            </a:r>
          </a:p>
          <a:p>
            <a:endParaRPr lang="pt-BR" dirty="0"/>
          </a:p>
          <a:p>
            <a:r>
              <a:rPr lang="pt-BR" dirty="0"/>
              <a:t>Exemplo 1 – transcrição curta até 3 linhas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>
                <a:highlight>
                  <a:srgbClr val="00FF00"/>
                </a:highlight>
              </a:rPr>
              <a:t>"</a:t>
            </a:r>
            <a:r>
              <a:rPr lang="pt-BR" dirty="0"/>
              <a:t>Várias são as fontes da coerência de um texto. Uma das principais é a adequação do texto à sua macroestrutura</a:t>
            </a:r>
            <a:r>
              <a:rPr lang="pt-BR" dirty="0">
                <a:highlight>
                  <a:srgbClr val="00FF00"/>
                </a:highlight>
              </a:rPr>
              <a:t>" </a:t>
            </a:r>
            <a:r>
              <a:rPr lang="pt-BR" dirty="0">
                <a:solidFill>
                  <a:srgbClr val="FF0000"/>
                </a:solidFill>
              </a:rPr>
              <a:t>(ABREU, 1995, p. 31).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2660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A877D1-7859-9849-A69C-D1B4F7FDD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TRANSCRIÇÃO ou CÓPIA LITERAL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0D851E-A0B1-7148-B265-1759934B1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Exemplo 2 – transcrição curta até 3 linhas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Comenta </a:t>
            </a:r>
            <a:r>
              <a:rPr lang="pt-BR" dirty="0">
                <a:highlight>
                  <a:srgbClr val="00FF00"/>
                </a:highlight>
              </a:rPr>
              <a:t>Bradbury</a:t>
            </a:r>
            <a:r>
              <a:rPr lang="pt-BR" dirty="0"/>
              <a:t> </a:t>
            </a:r>
            <a:r>
              <a:rPr lang="pt-BR" dirty="0">
                <a:solidFill>
                  <a:srgbClr val="FF0000"/>
                </a:solidFill>
              </a:rPr>
              <a:t>(1992, p. 230)</a:t>
            </a:r>
            <a:r>
              <a:rPr lang="pt-BR" dirty="0"/>
              <a:t>, </a:t>
            </a:r>
            <a:r>
              <a:rPr lang="pt-BR" dirty="0">
                <a:solidFill>
                  <a:srgbClr val="FF0000"/>
                </a:solidFill>
              </a:rPr>
              <a:t>"</a:t>
            </a:r>
            <a:r>
              <a:rPr lang="pt-BR" dirty="0"/>
              <a:t>é o simples fato de terem sido acusados que, de algum modo, os torna mais atraentes</a:t>
            </a:r>
            <a:r>
              <a:rPr lang="pt-BR" dirty="0">
                <a:solidFill>
                  <a:srgbClr val="FF0000"/>
                </a:solidFill>
              </a:rPr>
              <a:t>"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Exemplo 3 – transcrição curta até 3 linhas com supressões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O chamado período silábico que evolui "</a:t>
            </a:r>
            <a:r>
              <a:rPr lang="pt-BR" dirty="0">
                <a:highlight>
                  <a:srgbClr val="00FF00"/>
                </a:highlight>
              </a:rPr>
              <a:t>[...] </a:t>
            </a:r>
            <a:r>
              <a:rPr lang="pt-BR" dirty="0"/>
              <a:t>até a criança chegar a uma exigência rigorosa: uma sílaba por letra, sem omitir sílabas e sem repetir letras" (FERREIRO, 1985, p. 12).</a:t>
            </a:r>
          </a:p>
        </p:txBody>
      </p:sp>
    </p:spTree>
    <p:extLst>
      <p:ext uri="{BB962C8B-B14F-4D97-AF65-F5344CB8AC3E}">
        <p14:creationId xmlns:p14="http://schemas.microsoft.com/office/powerpoint/2010/main" val="64612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E0D3D7-2DDD-5B43-A96B-93059E1C7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TRANSCRIÇÃO ou CÓPIA LITERAL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AC3974-BE39-FA48-8FC5-49643EF17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4 – apud é igual a citado por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“O objetivo fundamental da escola deve ser, portanto, a formação do leitor plural, capaz de ler o presente, resgatar o passado e projetar o futuro, através da complexidade de textos que circulam no meio social” (GREGOLIN apud FREGONEZI, 2003, p. 17).</a:t>
            </a:r>
          </a:p>
        </p:txBody>
      </p:sp>
    </p:spTree>
    <p:extLst>
      <p:ext uri="{BB962C8B-B14F-4D97-AF65-F5344CB8AC3E}">
        <p14:creationId xmlns:p14="http://schemas.microsoft.com/office/powerpoint/2010/main" val="3711223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D9F218-46B6-5B40-AAD5-94101DBD2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TRANSCRIÇÃO ou CÓPIA LITERAL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35880B-3351-9C4C-BE5C-2353A5E26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5 – transcrição curta até 3 linhas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Num estudo recente, </a:t>
            </a:r>
            <a:r>
              <a:rPr lang="pt-BR" dirty="0" err="1"/>
              <a:t>Fregonezi</a:t>
            </a:r>
            <a:r>
              <a:rPr lang="pt-BR" dirty="0"/>
              <a:t> (2003, p. 25) afirma que “os enunciados de cada discurso têm um percurso que faz com que carreguem a memória de outros discursos”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5393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4E166C-5486-984A-98CC-8D0421938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TRANSCRIÇÃO ou CÓPIA LITERAL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C6A26A-51CF-3248-99EF-41E6B31EB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 6 – transcrição longa</a:t>
            </a:r>
          </a:p>
          <a:p>
            <a:pPr lvl="1"/>
            <a:r>
              <a:rPr lang="pt-BR" dirty="0"/>
              <a:t>somam 4 ou mais linhas</a:t>
            </a:r>
          </a:p>
          <a:p>
            <a:pPr lvl="1"/>
            <a:r>
              <a:rPr lang="pt-BR" dirty="0"/>
              <a:t>Devem ser colocadas em parágrafo especial (4 cm esquerda) sem aspas. </a:t>
            </a:r>
          </a:p>
          <a:p>
            <a:pPr lvl="1"/>
            <a:r>
              <a:rPr lang="pt-BR" dirty="0"/>
              <a:t>O espacejamento deve ser simples, o tamanho da letra deve ser 10, sem destaque em negrito, com o uso opcional do itálico.</a:t>
            </a:r>
          </a:p>
          <a:p>
            <a:endParaRPr lang="pt-BR" dirty="0"/>
          </a:p>
          <a:p>
            <a:pPr marL="1828800" lvl="4" indent="0" algn="just">
              <a:buNone/>
            </a:pPr>
            <a:r>
              <a:rPr lang="pt-BR" dirty="0"/>
              <a:t>A língua escrita só surgiu depois da falada e constitui uma tentativa de reproduzi-la. Entretanto, ela não é capaz de representar adequadamente as inúmeras variações de sentido decorrentes das variações de entoação ou as informações suplementares que um simples gesto produz ao acompanhar as palavras. E, não raro, a comunicação entre duas pessoas pode realizar-se apenas por um olhar significativo ou um meneio de cabeça, aspectos dificilmente reproduzidos de modo adequado pela língua escrita (TUFANO, 1990, p. 2).</a:t>
            </a:r>
          </a:p>
        </p:txBody>
      </p:sp>
    </p:spTree>
    <p:extLst>
      <p:ext uri="{BB962C8B-B14F-4D97-AF65-F5344CB8AC3E}">
        <p14:creationId xmlns:p14="http://schemas.microsoft.com/office/powerpoint/2010/main" val="3145363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09D70B-F2CE-9E49-8493-ACD7D046D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TRANSCRIÇÃO ou CÓPIA LITERAL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A2AE37-373E-8B4D-9F7A-DEBEA7292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7 – com supressão</a:t>
            </a:r>
          </a:p>
          <a:p>
            <a:endParaRPr lang="pt-BR" dirty="0"/>
          </a:p>
          <a:p>
            <a:pPr lvl="4" algn="just"/>
            <a:r>
              <a:rPr lang="pt-BR" dirty="0">
                <a:highlight>
                  <a:srgbClr val="00FF00"/>
                </a:highlight>
              </a:rPr>
              <a:t>[...]</a:t>
            </a:r>
            <a:r>
              <a:rPr lang="pt-BR" dirty="0"/>
              <a:t> só surgiu depois da falada e constitui uma tentativa de reproduzi-la. Entretanto, [...] não é capaz de representar adequadamente as inúmeras variações de sentido decorrentes das variações de entoação ou as informações suplementares que um simples gesto produz ao acompanhar as palavras. E, não raro, a comunicação entre duas pessoas pode realizar-se apenas por um olhar significativo ou um meneio de cabeça, aspectos dificilmente reproduzidos de modo adequado </a:t>
            </a:r>
            <a:r>
              <a:rPr lang="pt-BR" dirty="0">
                <a:highlight>
                  <a:srgbClr val="00FF00"/>
                </a:highlight>
              </a:rPr>
              <a:t>[...]</a:t>
            </a:r>
            <a:r>
              <a:rPr lang="pt-BR" dirty="0"/>
              <a:t> (TUFANO, 1990, p. 2).</a:t>
            </a:r>
          </a:p>
        </p:txBody>
      </p:sp>
    </p:spTree>
    <p:extLst>
      <p:ext uri="{BB962C8B-B14F-4D97-AF65-F5344CB8AC3E}">
        <p14:creationId xmlns:p14="http://schemas.microsoft.com/office/powerpoint/2010/main" val="3515206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313EC-E2A4-A444-ADB7-055BD3CAE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Paráfrase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A7CF14-CA42-A343-A4CA-1915782C8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uma citação livre do texto, direta. </a:t>
            </a:r>
          </a:p>
          <a:p>
            <a:r>
              <a:rPr lang="pt-BR" dirty="0"/>
              <a:t>Trata-se de um texto baseado na obra do autor consultado. </a:t>
            </a:r>
          </a:p>
          <a:p>
            <a:r>
              <a:rPr lang="pt-BR" dirty="0"/>
              <a:t>Não é cópia, por isso, não se usam aspas e, na identificação da fonte, aparecem somente o sobrenome do autor e o ano de publicação do texto. 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De acordo com </a:t>
            </a:r>
            <a:r>
              <a:rPr lang="pt-BR" dirty="0" err="1"/>
              <a:t>Mizukami</a:t>
            </a:r>
            <a:r>
              <a:rPr lang="pt-BR" dirty="0"/>
              <a:t> (1996), a escola é uma das agências controladoras da sociedade. </a:t>
            </a:r>
          </a:p>
        </p:txBody>
      </p:sp>
    </p:spTree>
    <p:extLst>
      <p:ext uri="{BB962C8B-B14F-4D97-AF65-F5344CB8AC3E}">
        <p14:creationId xmlns:p14="http://schemas.microsoft.com/office/powerpoint/2010/main" val="636593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4DF1B8-A05D-854E-A559-4B209D656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Forma de identificação das citações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B1773B-FD3B-C745-B737-043AFBCEE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Sistema autor-data</a:t>
            </a:r>
          </a:p>
          <a:p>
            <a:pPr lvl="1"/>
            <a:r>
              <a:rPr lang="pt-BR" dirty="0"/>
              <a:t>sobrenome do autor</a:t>
            </a:r>
          </a:p>
          <a:p>
            <a:pPr lvl="1"/>
            <a:r>
              <a:rPr lang="pt-BR" dirty="0"/>
              <a:t>ano de publicação da fonte</a:t>
            </a:r>
          </a:p>
          <a:p>
            <a:pPr lvl="1"/>
            <a:r>
              <a:rPr lang="pt-BR" dirty="0"/>
              <a:t>indicação da página transcrita - Caso a cópia literal seja resultante de material oriundo de meio eletrônico ou digital e que não apresente número de página, deve-se colocar o termo “online”.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0771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B1BC3D-69DC-E443-AD4C-F15F56FD7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Forma de identificação das citações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6E4242-CDB7-ED41-B12E-469879022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 1 – identificação apresentada antes da transcrição </a:t>
            </a:r>
          </a:p>
          <a:p>
            <a:pPr marL="0" indent="0">
              <a:buNone/>
            </a:pPr>
            <a:r>
              <a:rPr lang="pt-BR" dirty="0"/>
              <a:t>De acordo com </a:t>
            </a:r>
            <a:r>
              <a:rPr lang="pt-BR" dirty="0" err="1"/>
              <a:t>Fregonezi</a:t>
            </a:r>
            <a:r>
              <a:rPr lang="pt-BR" dirty="0"/>
              <a:t> (2003, p. 12), “o que chama a atenção nos textos midiáticos é o conhecimento que o leitor deve ter dos fatos configurados pela memória incorporados ao coletivo social”. </a:t>
            </a:r>
          </a:p>
          <a:p>
            <a:endParaRPr lang="pt-BR" dirty="0"/>
          </a:p>
          <a:p>
            <a:r>
              <a:rPr lang="pt-BR" dirty="0"/>
              <a:t>Exemplo 2 – identificação apresentada após a transcrição </a:t>
            </a:r>
          </a:p>
          <a:p>
            <a:pPr marL="0" indent="0">
              <a:buNone/>
            </a:pPr>
            <a:r>
              <a:rPr lang="pt-BR" dirty="0"/>
              <a:t>“O que chama a atenção nos textos midiáticos é o conhecimento que o leitor deve ter dos fatos configurados pela memória incorporados ao coletivo social” (FREGONEZI, 2003, p. 12).</a:t>
            </a:r>
          </a:p>
        </p:txBody>
      </p:sp>
    </p:spTree>
    <p:extLst>
      <p:ext uri="{BB962C8B-B14F-4D97-AF65-F5344CB8AC3E}">
        <p14:creationId xmlns:p14="http://schemas.microsoft.com/office/powerpoint/2010/main" val="3667602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D5727A-8E43-2A4E-BC85-28A7C4F16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Forma de identificação das citações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91CAAE-010E-9442-85E7-D39C9D595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3</a:t>
            </a:r>
          </a:p>
          <a:p>
            <a:pPr marL="0" indent="0">
              <a:buNone/>
            </a:pPr>
            <a:r>
              <a:rPr lang="pt-BR" dirty="0"/>
              <a:t>(BARBOSA, </a:t>
            </a:r>
            <a:r>
              <a:rPr lang="pt-BR" dirty="0">
                <a:highlight>
                  <a:srgbClr val="00FF00"/>
                </a:highlight>
              </a:rPr>
              <a:t>C., </a:t>
            </a:r>
            <a:r>
              <a:rPr lang="pt-BR" dirty="0"/>
              <a:t>1956, p. 18) </a:t>
            </a:r>
          </a:p>
          <a:p>
            <a:pPr marL="0" indent="0">
              <a:buNone/>
            </a:pPr>
            <a:r>
              <a:rPr lang="pt-BR" dirty="0"/>
              <a:t>(BARBOSA, </a:t>
            </a:r>
            <a:r>
              <a:rPr lang="pt-BR" dirty="0">
                <a:highlight>
                  <a:srgbClr val="00FF00"/>
                </a:highlight>
              </a:rPr>
              <a:t>O., </a:t>
            </a:r>
            <a:r>
              <a:rPr lang="pt-BR" dirty="0"/>
              <a:t>1956, p. 20)</a:t>
            </a:r>
          </a:p>
          <a:p>
            <a:r>
              <a:rPr lang="pt-BR" dirty="0"/>
              <a:t>Exemplo 4</a:t>
            </a:r>
          </a:p>
          <a:p>
            <a:pPr marL="0" indent="0">
              <a:buNone/>
            </a:pPr>
            <a:r>
              <a:rPr lang="pt-BR" dirty="0"/>
              <a:t>(</a:t>
            </a:r>
            <a:r>
              <a:rPr lang="pt-BR" dirty="0">
                <a:highlight>
                  <a:srgbClr val="00FF00"/>
                </a:highlight>
              </a:rPr>
              <a:t>REESIDE</a:t>
            </a:r>
            <a:r>
              <a:rPr lang="pt-BR" dirty="0"/>
              <a:t>, 1927</a:t>
            </a:r>
            <a:r>
              <a:rPr lang="pt-BR" dirty="0">
                <a:solidFill>
                  <a:srgbClr val="FF0000"/>
                </a:solidFill>
              </a:rPr>
              <a:t>a</a:t>
            </a:r>
            <a:r>
              <a:rPr lang="pt-BR" dirty="0"/>
              <a:t>, p. 15) </a:t>
            </a:r>
          </a:p>
          <a:p>
            <a:pPr marL="0" indent="0">
              <a:buNone/>
            </a:pPr>
            <a:r>
              <a:rPr lang="pt-BR" dirty="0"/>
              <a:t>(</a:t>
            </a:r>
            <a:r>
              <a:rPr lang="pt-BR" dirty="0">
                <a:highlight>
                  <a:srgbClr val="00FF00"/>
                </a:highlight>
              </a:rPr>
              <a:t>REESIDE</a:t>
            </a:r>
            <a:r>
              <a:rPr lang="pt-BR" dirty="0"/>
              <a:t>, 1927</a:t>
            </a:r>
            <a:r>
              <a:rPr lang="pt-BR" dirty="0">
                <a:solidFill>
                  <a:srgbClr val="FF0000"/>
                </a:solidFill>
              </a:rPr>
              <a:t>b</a:t>
            </a:r>
            <a:r>
              <a:rPr lang="pt-BR" dirty="0"/>
              <a:t>, p.18)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2176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17454C-B68D-084E-9556-26DEC6EC3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highlight>
                  <a:srgbClr val="00FF00"/>
                </a:highlight>
              </a:rPr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1410AD-4329-644F-BA71-40FF2B4D8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LIVRO COM UM AUTOR </a:t>
            </a:r>
          </a:p>
          <a:p>
            <a:pPr marL="0" indent="0">
              <a:buNone/>
            </a:pPr>
            <a:r>
              <a:rPr lang="pt-BR" dirty="0"/>
              <a:t>GIL, Antônio Carlos. Como elaborar projetos de pesquisa. 3. ed. São Paulo: Atlas, 1996</a:t>
            </a:r>
          </a:p>
          <a:p>
            <a:r>
              <a:rPr lang="pt-BR" dirty="0"/>
              <a:t>LIVRO COM DOIS AUTORES </a:t>
            </a:r>
          </a:p>
          <a:p>
            <a:pPr marL="0" indent="0">
              <a:buNone/>
            </a:pPr>
            <a:r>
              <a:rPr lang="pt-BR" dirty="0"/>
              <a:t>GIL, Antônio Carlos; SILVA, João da. Como elaborar projetos de pesquisa. 3. ed. São Paulo: Atlas, 1996.</a:t>
            </a:r>
          </a:p>
          <a:p>
            <a:r>
              <a:rPr lang="pt-BR" dirty="0"/>
              <a:t>LIVRO COM TRÊS AUTORES </a:t>
            </a:r>
          </a:p>
          <a:p>
            <a:pPr marL="0" indent="0">
              <a:buNone/>
            </a:pPr>
            <a:r>
              <a:rPr lang="pt-BR" dirty="0"/>
              <a:t>GIL, Antônio Carlos; SILVA, João da; OLIVEIRA, José. Como elaborar projetos de pesquisa. 3. ed. São Paulo: Atlas, 1996.</a:t>
            </a:r>
          </a:p>
        </p:txBody>
      </p:sp>
    </p:spTree>
    <p:extLst>
      <p:ext uri="{BB962C8B-B14F-4D97-AF65-F5344CB8AC3E}">
        <p14:creationId xmlns:p14="http://schemas.microsoft.com/office/powerpoint/2010/main" val="406737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3DF18C-0496-3044-A935-DFF7ACD05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- Livro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A11F66-F87F-CB4B-9BC9-D7C8889E7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COM QUATRO OU MAIS AUTORES </a:t>
            </a:r>
          </a:p>
          <a:p>
            <a:pPr marL="0" indent="0">
              <a:buNone/>
            </a:pPr>
            <a:r>
              <a:rPr lang="pt-BR" dirty="0"/>
              <a:t>GIL, Antônio Carlos et al. Como elaborar projetos de pesquisa. 3. ed. São Paulo: Atlas, 1996.</a:t>
            </a:r>
          </a:p>
          <a:p>
            <a:r>
              <a:rPr lang="pt-BR" dirty="0"/>
              <a:t>COM ORGANIZADOR, COORDENADOR ou COMPILADOR </a:t>
            </a:r>
          </a:p>
          <a:p>
            <a:pPr marL="0" indent="0">
              <a:buNone/>
            </a:pPr>
            <a:r>
              <a:rPr lang="pt-BR" dirty="0"/>
              <a:t>GIL, Antônio Carlos (Org.). Como elaborar projetos de pesquisa. 3. ed. São Paulo: Atlas, 1996.</a:t>
            </a:r>
          </a:p>
          <a:p>
            <a:r>
              <a:rPr lang="pt-BR" dirty="0"/>
              <a:t>CUJA AUTORIA É UMA ENTIDADE </a:t>
            </a:r>
          </a:p>
          <a:p>
            <a:pPr marL="0" indent="0">
              <a:buNone/>
            </a:pPr>
            <a:r>
              <a:rPr lang="pt-BR" dirty="0"/>
              <a:t>ASSOCIAÇÃO BRASILEIRA DE NORMAS TÉCNICAS. NBR 6023: informação e documentação – referências – elaboração. Rio de Janeiro, 2002.</a:t>
            </a:r>
          </a:p>
        </p:txBody>
      </p:sp>
    </p:spTree>
    <p:extLst>
      <p:ext uri="{BB962C8B-B14F-4D97-AF65-F5344CB8AC3E}">
        <p14:creationId xmlns:p14="http://schemas.microsoft.com/office/powerpoint/2010/main" val="1197178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621A8-50A4-3E4D-8289-9AE0561CD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– Capítulo de livro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599A72-D424-D745-9762-1F95FAA05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1º caso: quando o autor do capítulo é o mesmo do livro</a:t>
            </a:r>
          </a:p>
          <a:p>
            <a:pPr marL="0" indent="0">
              <a:buNone/>
            </a:pPr>
            <a:r>
              <a:rPr lang="pt-BR" dirty="0"/>
              <a:t>MAINGUENEAU, </a:t>
            </a:r>
            <a:r>
              <a:rPr lang="pt-BR" dirty="0" err="1"/>
              <a:t>Dominque</a:t>
            </a:r>
            <a:r>
              <a:rPr lang="pt-BR" dirty="0"/>
              <a:t>. Enunciado e contexto. In: ________. Análise de textos de comunicação. São Paulo: Cortez, 2001. cap. 1, p.13-18. 39 </a:t>
            </a:r>
          </a:p>
          <a:p>
            <a:r>
              <a:rPr lang="pt-BR" dirty="0"/>
              <a:t>2º caso: quando o autor do capítulo não é o mesmo do livro</a:t>
            </a:r>
          </a:p>
          <a:p>
            <a:pPr marL="0" indent="0">
              <a:buNone/>
            </a:pPr>
            <a:r>
              <a:rPr lang="pt-BR" dirty="0"/>
              <a:t>OLIVEIRA, Roberta Pires de. Semântica. In: MUSSALIM, Fernanda; BENTES, Anna Christina (</a:t>
            </a:r>
            <a:r>
              <a:rPr lang="pt-BR" dirty="0" err="1"/>
              <a:t>Orgs</a:t>
            </a:r>
            <a:r>
              <a:rPr lang="pt-BR" dirty="0"/>
              <a:t>.). Introdução à linguística: domínios e fronteiras. São Paulo: Cortez, 2001. cap. 1, p. 17-46.</a:t>
            </a:r>
          </a:p>
        </p:txBody>
      </p:sp>
    </p:spTree>
    <p:extLst>
      <p:ext uri="{BB962C8B-B14F-4D97-AF65-F5344CB8AC3E}">
        <p14:creationId xmlns:p14="http://schemas.microsoft.com/office/powerpoint/2010/main" val="866918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B650E-5A95-6948-8026-420A963E6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– Artigos em revista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60BB52-8F01-6A41-B2BD-3C90E8F9D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a) COM AUTOR (em material impresso) </a:t>
            </a:r>
          </a:p>
          <a:p>
            <a:pPr marL="0" indent="0">
              <a:buNone/>
            </a:pPr>
            <a:r>
              <a:rPr lang="pt-BR" dirty="0"/>
              <a:t>GURGEL, C. Reforma do Estado e segurança pública. Política e Administração, Rio de Janeiro, v. 3, </a:t>
            </a:r>
            <a:r>
              <a:rPr lang="pt-BR" dirty="0" err="1"/>
              <a:t>n</a:t>
            </a:r>
            <a:r>
              <a:rPr lang="pt-BR" dirty="0"/>
              <a:t>. 9, p. 30-32, set. 1994. Edição Especial. </a:t>
            </a:r>
          </a:p>
          <a:p>
            <a:r>
              <a:rPr lang="pt-BR" dirty="0" err="1"/>
              <a:t>b</a:t>
            </a:r>
            <a:r>
              <a:rPr lang="pt-BR" dirty="0"/>
              <a:t>) COM AUTOR (em material eletrônico) </a:t>
            </a:r>
          </a:p>
          <a:p>
            <a:pPr marL="0" indent="0">
              <a:buNone/>
            </a:pPr>
            <a:r>
              <a:rPr lang="pt-BR" dirty="0"/>
              <a:t>GURGEL, C. Reforma do Estado e segurança pública. Política e Administração, Rio de Janeiro, v. 3, </a:t>
            </a:r>
            <a:r>
              <a:rPr lang="pt-BR" dirty="0" err="1"/>
              <a:t>n</a:t>
            </a:r>
            <a:r>
              <a:rPr lang="pt-BR" dirty="0"/>
              <a:t>. 9, p. 30-32, set. 1994. Edição Especial. Disponível em: </a:t>
            </a:r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</a:t>
            </a:r>
            <a:r>
              <a:rPr lang="pt-BR" dirty="0"/>
              <a:t>....... . Acesso em: 7 set. 1994.</a:t>
            </a:r>
          </a:p>
        </p:txBody>
      </p:sp>
    </p:spTree>
    <p:extLst>
      <p:ext uri="{BB962C8B-B14F-4D97-AF65-F5344CB8AC3E}">
        <p14:creationId xmlns:p14="http://schemas.microsoft.com/office/powerpoint/2010/main" val="6249213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DD0CD-D790-514A-92F8-6A94D276C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– Artigos em jornais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41059F-20F9-E446-B764-45553A6DB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a) COM AUTOR (em material impresso) </a:t>
            </a:r>
          </a:p>
          <a:p>
            <a:pPr marL="0" indent="0">
              <a:buNone/>
            </a:pPr>
            <a:r>
              <a:rPr lang="pt-BR" dirty="0"/>
              <a:t>NAVES, P. Lagos andinos dão banho de beleza. Folha de São Paulo, São Paulo, 28 jun. 1999. Folha Turismo, Caderno 8, p. 13. </a:t>
            </a:r>
          </a:p>
          <a:p>
            <a:endParaRPr lang="pt-BR" dirty="0"/>
          </a:p>
          <a:p>
            <a:r>
              <a:rPr lang="pt-BR" dirty="0" err="1"/>
              <a:t>b</a:t>
            </a:r>
            <a:r>
              <a:rPr lang="pt-BR" dirty="0"/>
              <a:t>) COM AUTOR (em material eletrônico) </a:t>
            </a:r>
          </a:p>
          <a:p>
            <a:pPr marL="0" indent="0">
              <a:buNone/>
            </a:pPr>
            <a:r>
              <a:rPr lang="pt-BR" dirty="0"/>
              <a:t>NAVES, P. Lagos andinos dão banho de beleza. Folha de São Paulo, São Paulo, 28 jun. 1999. Folha Turismo, Caderno 8, p. 13. Disponível em: </a:t>
            </a:r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</a:t>
            </a:r>
            <a:r>
              <a:rPr lang="pt-BR" dirty="0"/>
              <a:t>....... Acesso em: 28 jun. 2009.</a:t>
            </a:r>
          </a:p>
        </p:txBody>
      </p:sp>
    </p:spTree>
    <p:extLst>
      <p:ext uri="{BB962C8B-B14F-4D97-AF65-F5344CB8AC3E}">
        <p14:creationId xmlns:p14="http://schemas.microsoft.com/office/powerpoint/2010/main" val="7142353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9D157D-6C7F-444C-9CDA-AD8365CE7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– Monografias, Dissertações ou Teses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07FB8E-5FDF-1040-BBB2-246A4C269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NASSIF, Vânia Maria Jorge. O docente e a gestão de recursos humanos: o desvelar e o desenvolvimento das competências como estratégia de competitividade. 2012. Tese (Administração de Empresas). Universidade Presbiteriana Mackenzie, São Paulo, 2000.</a:t>
            </a:r>
          </a:p>
        </p:txBody>
      </p:sp>
    </p:spTree>
    <p:extLst>
      <p:ext uri="{BB962C8B-B14F-4D97-AF65-F5344CB8AC3E}">
        <p14:creationId xmlns:p14="http://schemas.microsoft.com/office/powerpoint/2010/main" val="1453961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192308-3300-5E4B-96CF-5EE414C23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- MATERIAL COLETADO EM MEIO ELETRÔNICO - online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23773F-7EFF-CA48-8F7C-52184472E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pesquisador deve apresentar todas as informações referentes ao documento impresso, seguidas da expressão: </a:t>
            </a:r>
          </a:p>
          <a:p>
            <a:pPr lvl="1"/>
            <a:r>
              <a:rPr lang="pt-BR" dirty="0"/>
              <a:t>Disponível em: </a:t>
            </a:r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</a:t>
            </a:r>
            <a:r>
              <a:rPr lang="pt-BR" dirty="0"/>
              <a:t>. Colocar o endereço completo. Acesso em: 28 nov. 2018. (data do acesso).</a:t>
            </a:r>
          </a:p>
          <a:p>
            <a:pPr lvl="1"/>
            <a:endParaRPr lang="pt-BR" dirty="0"/>
          </a:p>
          <a:p>
            <a:r>
              <a:rPr lang="pt-BR" dirty="0"/>
              <a:t>Exemplo</a:t>
            </a:r>
          </a:p>
          <a:p>
            <a:pPr lvl="1"/>
            <a:r>
              <a:rPr lang="pt-BR" dirty="0"/>
              <a:t>ALVES, Castro. Navio negreiro. [S. l.]: Virtual Books, 2000. Disponível em: </a:t>
            </a:r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www.terra.com.br</a:t>
            </a:r>
            <a:r>
              <a:rPr lang="pt-BR" dirty="0"/>
              <a:t>/</a:t>
            </a:r>
            <a:r>
              <a:rPr lang="pt-BR" dirty="0" err="1"/>
              <a:t>virtualbooks</a:t>
            </a:r>
            <a:r>
              <a:rPr lang="pt-BR" dirty="0"/>
              <a:t>/</a:t>
            </a:r>
            <a:r>
              <a:rPr lang="pt-BR" dirty="0" err="1"/>
              <a:t>freebook</a:t>
            </a:r>
            <a:r>
              <a:rPr lang="pt-BR" dirty="0"/>
              <a:t>/</a:t>
            </a:r>
            <a:r>
              <a:rPr lang="pt-BR" dirty="0" err="1"/>
              <a:t>port</a:t>
            </a:r>
            <a:r>
              <a:rPr lang="pt-BR" dirty="0"/>
              <a:t>/Lport2/</a:t>
            </a:r>
            <a:r>
              <a:rPr lang="pt-BR" dirty="0" err="1"/>
              <a:t>navionegreiro.htm</a:t>
            </a:r>
            <a:r>
              <a:rPr lang="pt-BR" dirty="0"/>
              <a:t>. Acesso em: 10 jan. 2002, 16:30:30</a:t>
            </a:r>
          </a:p>
        </p:txBody>
      </p:sp>
    </p:spTree>
    <p:extLst>
      <p:ext uri="{BB962C8B-B14F-4D97-AF65-F5344CB8AC3E}">
        <p14:creationId xmlns:p14="http://schemas.microsoft.com/office/powerpoint/2010/main" val="4088129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92A0C-6787-D544-A1B8-ED3C3EF45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53A967-887F-4F44-81C5-08D22DCF6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Paráfrase</a:t>
            </a:r>
          </a:p>
          <a:p>
            <a:pPr lvl="1"/>
            <a:r>
              <a:rPr lang="pt-BR" dirty="0"/>
              <a:t>A satisfação do cliente é um ponto importante para o entendimento do marketing. (LOVELOCK; WIRTZ; HEMZO, 2011).</a:t>
            </a:r>
          </a:p>
          <a:p>
            <a:endParaRPr lang="pt-BR" dirty="0"/>
          </a:p>
          <a:p>
            <a:r>
              <a:rPr lang="pt-BR" dirty="0"/>
              <a:t>Transcrição</a:t>
            </a:r>
          </a:p>
          <a:p>
            <a:pPr lvl="1"/>
            <a:r>
              <a:rPr lang="pt-BR" dirty="0" err="1"/>
              <a:t>Lovelock</a:t>
            </a:r>
            <a:r>
              <a:rPr lang="pt-BR" dirty="0"/>
              <a:t>, </a:t>
            </a:r>
            <a:r>
              <a:rPr lang="pt-BR" dirty="0" err="1"/>
              <a:t>Wirtz</a:t>
            </a:r>
            <a:r>
              <a:rPr lang="pt-BR" dirty="0"/>
              <a:t>, </a:t>
            </a:r>
            <a:r>
              <a:rPr lang="pt-BR" dirty="0" err="1"/>
              <a:t>Hemzo</a:t>
            </a:r>
            <a:r>
              <a:rPr lang="pt-BR" dirty="0"/>
              <a:t> (2011, p. 69) afirmam que “a satisfação do cliente é crucial para o conceito de marketing”.</a:t>
            </a:r>
          </a:p>
        </p:txBody>
      </p:sp>
    </p:spTree>
    <p:extLst>
      <p:ext uri="{BB962C8B-B14F-4D97-AF65-F5344CB8AC3E}">
        <p14:creationId xmlns:p14="http://schemas.microsoft.com/office/powerpoint/2010/main" val="31693812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5D6A2B-83D5-774B-ADEB-F8B4902BC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3171BC-F457-C447-B0B4-B30261F69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Paráfrase</a:t>
            </a:r>
          </a:p>
          <a:p>
            <a:pPr lvl="1"/>
            <a:r>
              <a:rPr lang="pt-BR" dirty="0"/>
              <a:t>A satisfação do cliente é um ponto importante para o entendimento do marketing. (LOVELOCK et al.,  2011).</a:t>
            </a:r>
          </a:p>
          <a:p>
            <a:endParaRPr lang="pt-BR" dirty="0"/>
          </a:p>
          <a:p>
            <a:r>
              <a:rPr lang="pt-BR" dirty="0"/>
              <a:t>Transcrição</a:t>
            </a:r>
          </a:p>
          <a:p>
            <a:pPr lvl="1"/>
            <a:r>
              <a:rPr lang="pt-BR" dirty="0" err="1"/>
              <a:t>Lovelock</a:t>
            </a:r>
            <a:r>
              <a:rPr lang="pt-BR" dirty="0"/>
              <a:t> et al (2011, p. 69) afirmam que “a satisfação do cliente é crucial para o conceito de marketing”.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143032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E0638-C9A3-2242-B474-F496BC176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 para entregar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5FD460-4250-5841-B9B9-53071FBB3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pt-BR" dirty="0"/>
          </a:p>
          <a:p>
            <a:endParaRPr lang="pt-BR" dirty="0"/>
          </a:p>
          <a:p>
            <a:r>
              <a:rPr lang="pt-BR" dirty="0"/>
              <a:t>Considerando um tema do seu TCC, crie dois parágrafos</a:t>
            </a:r>
          </a:p>
          <a:p>
            <a:pPr lvl="1"/>
            <a:r>
              <a:rPr lang="pt-BR" dirty="0"/>
              <a:t>O primeiro deve ter um exemplo de citação do tipo “transcrição”</a:t>
            </a:r>
          </a:p>
          <a:p>
            <a:pPr lvl="2"/>
            <a:r>
              <a:rPr lang="pt-BR" dirty="0"/>
              <a:t>4 ou mais linhas</a:t>
            </a:r>
          </a:p>
          <a:p>
            <a:pPr lvl="1"/>
            <a:r>
              <a:rPr lang="pt-BR" dirty="0"/>
              <a:t>O segundo deve ter um exemplo de citação do tipo “paráfrase”</a:t>
            </a:r>
          </a:p>
          <a:p>
            <a:pPr lvl="2"/>
            <a:r>
              <a:rPr lang="pt-BR" dirty="0"/>
              <a:t>4 ou mais linhas</a:t>
            </a:r>
          </a:p>
          <a:p>
            <a:endParaRPr lang="pt-BR" dirty="0"/>
          </a:p>
          <a:p>
            <a:r>
              <a:rPr lang="pt-BR" dirty="0"/>
              <a:t>Finalmente, crie as referências bibliográficas das citações</a:t>
            </a:r>
          </a:p>
          <a:p>
            <a:pPr lvl="1"/>
            <a:r>
              <a:rPr lang="pt-BR" dirty="0"/>
              <a:t>Um livro</a:t>
            </a:r>
          </a:p>
          <a:p>
            <a:pPr lvl="1"/>
            <a:r>
              <a:rPr lang="pt-BR" dirty="0"/>
              <a:t>Um artigo / Internet</a:t>
            </a:r>
          </a:p>
        </p:txBody>
      </p:sp>
    </p:spTree>
    <p:extLst>
      <p:ext uri="{BB962C8B-B14F-4D97-AF65-F5344CB8AC3E}">
        <p14:creationId xmlns:p14="http://schemas.microsoft.com/office/powerpoint/2010/main" val="39396478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1725</Words>
  <Application>Microsoft Office PowerPoint</Application>
  <PresentationFormat>Widescreen</PresentationFormat>
  <Paragraphs>141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Tema do Office</vt:lpstr>
      <vt:lpstr>APRESENTAÇÃO DE CITAÇÕES E REFERÊNCIAS</vt:lpstr>
      <vt:lpstr>Contextualização</vt:lpstr>
      <vt:lpstr>Conteúdo</vt:lpstr>
      <vt:lpstr>CITAÇÃO - Conceito</vt:lpstr>
      <vt:lpstr>TRANSCRIÇÃO ou CÓPIA LITERAL</vt:lpstr>
      <vt:lpstr>TRANSCRIÇÃO ou CÓPIA LITERAL</vt:lpstr>
      <vt:lpstr>TRANSCRIÇÃO ou CÓPIA LITERAL</vt:lpstr>
      <vt:lpstr>TRANSCRIÇÃO ou CÓPIA LITERAL</vt:lpstr>
      <vt:lpstr>TRANSCRIÇÃO ou CÓPIA LITERAL</vt:lpstr>
      <vt:lpstr>TRANSCRIÇÃO ou CÓPIA LITERAL</vt:lpstr>
      <vt:lpstr>Paráfrase</vt:lpstr>
      <vt:lpstr>Forma de identificação das citações</vt:lpstr>
      <vt:lpstr>Forma de identificação das citações</vt:lpstr>
      <vt:lpstr>Forma de identificação das citações</vt:lpstr>
      <vt:lpstr>Referências</vt:lpstr>
      <vt:lpstr>Referências - Livro</vt:lpstr>
      <vt:lpstr>Referências – Capítulo de livro</vt:lpstr>
      <vt:lpstr>Referências – Artigos em revista</vt:lpstr>
      <vt:lpstr>Referências – Artigos em jornais</vt:lpstr>
      <vt:lpstr>Referências – Monografias, Dissertações ou Teses</vt:lpstr>
      <vt:lpstr>Referências - MATERIAL COLETADO EM MEIO ELETRÔNICO - online </vt:lpstr>
      <vt:lpstr>Apresentação do PowerPoint</vt:lpstr>
      <vt:lpstr>Apresentação do PowerPoint</vt:lpstr>
      <vt:lpstr>Atividade para entregar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DE CITAÇÕES</dc:title>
  <dc:creator>Microsoft Office User</dc:creator>
  <cp:lastModifiedBy>Daniel Facciolo Pires</cp:lastModifiedBy>
  <cp:revision>18</cp:revision>
  <dcterms:created xsi:type="dcterms:W3CDTF">2020-03-30T19:00:35Z</dcterms:created>
  <dcterms:modified xsi:type="dcterms:W3CDTF">2021-03-18T22:57:25Z</dcterms:modified>
</cp:coreProperties>
</file>